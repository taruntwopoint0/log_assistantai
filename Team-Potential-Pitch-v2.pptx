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verview" id="{32d78e0e-e164-cca9-2fae-2696aaf8e7f7}">
          <p14:sldIdLst>
            <p14:sldId id="256"/>
          </p14:sldIdLst>
        </p14:section>
        <p14:section name="Problem" id="{a2242b5d-e776-74dc-de3c-4c97ccf345c9}">
          <p14:sldIdLst>
            <p14:sldId id="257"/>
          </p14:sldIdLst>
        </p14:section>
        <p14:section name="Solution" id="{bc85738c-8732-81cd-ec96-dd7d98b9ea32}">
          <p14:sldIdLst>
            <p14:sldId id="258"/>
          </p14:sldIdLst>
        </p14:section>
        <p14:section name="Architecture" id="{e6499ba1-bd7f-80b3-fc3f-977f08f0ae06}">
          <p14:sldIdLst>
            <p14:sldId id="259"/>
          </p14:sldIdLst>
        </p14:section>
        <p14:section name="Ask" id="{391bc1e9-8a1c-c33d-8341-42cf51bc5426}">
          <p14:sldIdLst>
            <p14:sldId id="260"/>
          </p14:sldIdLst>
        </p14:section>
        <p14:section name="Differentiator" id="{048fec69-db5a-1185-9b98-23210d9602cd}">
          <p14:sldIdLst>
            <p14:sldId id="261"/>
          </p14:sldIdLst>
        </p14:section>
        <p14:section name="Close" id="{b6da4fa8-1a31-ec0e-e038-ad46c9f79449}">
          <p14:sldIdLst>
            <p14:sldId id="26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30s. We are Team Potential. Paste a failing log, get the root cause with the evidence, then ask it follow-up questions. The line at the bottom is our principle: the AI does the language, measured evidence does the judgement.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45s. Seven consoles, seven manual checks. The painful part is not the time — the checklist can complete and leave you with nothing. And whatever was learned walks out of the door with the person who learned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50s. Six outputs, not one. Numbers 4 and 5 are what change the response: what it is NOT, and whether we have seen it before. Number 6 includes what not to do, which is usually where the time is actually lost. And it is read-only — nothing to argue about with risk review.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65s. Walk left to right. Six stages establish the facts from the log — parse, extract, derive, decide, look up, score. Stage seven is the AI: it summarises the result, rephrases it, and answers questions about it. The key point: the verdict exists before the model is called, so the explanation always matches the evidence. Stack along the bottom — keep this quick.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75s. This is a feature judges will not have seen elsewhere. Two modes. Project mode answers only from verified project data — relationships from a knowledge graph, past incidents from vector search. The model chooses which lookup to run; the backend runs it. General mode is an ordinary technical assistant. The pitch line is the last one: a new joiner can ask the system instead of interrupting whoever knows the application chain.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90s — slow down, this is the slide the pitch turns on. Read the right-hand column aloud. Row four is the portability USP: all the domain knowledge lives in four JSON files — the topology, the rules, the runbooks and the incident history. Another team points it at their own system by editing those, with no code change. Finish on the closing 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65s, then stop and take questions. Three things beyond the fix: how to stop it recurring with a calculated batch size, an explicit do-not list, and a score on our own logging. That last one is the honest one — we score 5 out of 10, and the biggest gap explains why this was invisible for weeks. Then the numbers: 264 tests passing offline says this is real, two seconds against days is the business case. Close on the line and stop talking.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417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914400" y="676656"/>
            <a:ext cx="10362895" cy="74980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dirty="0">
                <a:solidFill>
                  <a:srgbClr val="1417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7255" y="6327648"/>
            <a:ext cx="32004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rgbClr val="C7CAC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7255" y="6327648"/>
            <a:ext cx="32004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rgbClr val="C7CAC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14400" y="1463040"/>
            <a:ext cx="103628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20" kern="0" dirty="0">
                <a:solidFill>
                  <a:srgbClr val="B44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POTENTIAL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1874520"/>
            <a:ext cx="103628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Investigation Assistant</a:t>
            </a:r>
            <a:endParaRPr lang="en-US" sz="52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2798064"/>
            <a:ext cx="10058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A8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a failing log. Get the root cause, the evidence behind it, and the fix — then ask it questions.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914400" y="3703320"/>
            <a:ext cx="2377440" cy="9144"/>
          </a:xfrm>
          <a:prstGeom prst="rect">
            <a:avLst/>
          </a:prstGeom>
          <a:solidFill>
            <a:srgbClr val="363B4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0" y="3950208"/>
            <a:ext cx="10058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where language is the job.</a:t>
            </a:r>
            <a:pPr indent="0" marL="0">
              <a:buNone/>
            </a:pPr>
            <a:r>
              <a:rPr lang="en-US" sz="1900" dirty="0">
                <a:solidFill>
                  <a:srgbClr val="B44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Measured evidence where the answer has to be right.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5760720"/>
            <a:ext cx="10362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71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LEAP Young Innovators 2026   ·   Theme 3, Log Analysis   ·   Société Générale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14400" y="384048"/>
            <a:ext cx="1036289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40" kern="0" dirty="0">
                <a:solidFill>
                  <a:srgbClr val="B44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0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914400" y="676656"/>
            <a:ext cx="1036289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dirty="0">
                <a:solidFill>
                  <a:srgbClr val="1417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Seven consoles, and often still no answer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1554480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77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supplier sync fails, an engineer checks seven systems by hand. Each one is a different tool.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2286000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DA3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523744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41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Service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2395728" y="2286000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DA3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2395728" y="2523744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41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Aldavar DB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3877056" y="2286000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DA3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3877056" y="2523744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41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views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5358384" y="2286000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DA3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5358384" y="2523744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41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Galileo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6839712" y="2286000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DA3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6839712" y="2523744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41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ALD SAT endpoints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8321040" y="2286000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DA3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8321040" y="2523744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41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9802368" y="2286000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DA3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9802368" y="2523744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41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logs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914400" y="3200400"/>
            <a:ext cx="10362895" cy="9144"/>
          </a:xfrm>
          <a:prstGeom prst="rect">
            <a:avLst/>
          </a:prstGeom>
          <a:solidFill>
            <a:srgbClr val="E2E4E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14400" y="3529584"/>
            <a:ext cx="6583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417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check passes. The sync is still broken.</a:t>
            </a:r>
            <a:endParaRPr lang="en-US" sz="2400" dirty="0"/>
          </a:p>
        </p:txBody>
      </p:sp>
      <p:sp>
        <p:nvSpPr>
          <p:cNvPr id="21" name="Text 19"/>
          <p:cNvSpPr txBox="1"/>
          <p:nvPr/>
        </p:nvSpPr>
        <p:spPr>
          <a:xfrm>
            <a:off x="914400" y="4005072"/>
            <a:ext cx="6583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077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“Galileo reachable. DB fine. Service running.” The checklist completes and has nothing left to say. The cause is often never found — only worked around.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8321040" y="3328416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dirty="0">
                <a:solidFill>
                  <a:srgbClr val="B44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DAYS</a:t>
            </a:r>
            <a:endParaRPr lang="en-US" sz="5400" dirty="0"/>
          </a:p>
        </p:txBody>
      </p:sp>
      <p:sp>
        <p:nvSpPr>
          <p:cNvPr id="23" name="Text 21"/>
          <p:cNvSpPr txBox="1"/>
          <p:nvPr/>
        </p:nvSpPr>
        <p:spPr>
          <a:xfrm>
            <a:off x="8321040" y="4261104"/>
            <a:ext cx="29535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077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engineer time per incident, across three teams — and the knowledge leaves with whoever solved it.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7255" y="6327648"/>
            <a:ext cx="32004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rgbClr val="C7CAC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14400" y="384048"/>
            <a:ext cx="1036289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40" kern="0" dirty="0">
                <a:solidFill>
                  <a:srgbClr val="B44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0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914400" y="676656"/>
            <a:ext cx="1036289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dirty="0">
                <a:solidFill>
                  <a:srgbClr val="1417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paste. Six answers, not one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1554480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77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consoles, no credentials, nothing installed on the systems being diagnosed.</a:t>
            </a:r>
            <a:endParaRPr lang="en-US" sz="1500" dirty="0"/>
          </a:p>
        </p:txBody>
      </p:sp>
      <p:sp>
        <p:nvSpPr>
          <p:cNvPr id="5" name="out0"/>
          <p:cNvSpPr/>
          <p:nvPr/>
        </p:nvSpPr>
        <p:spPr>
          <a:xfrm>
            <a:off x="914400" y="2139696"/>
            <a:ext cx="3273552" cy="1298448"/>
          </a:xfrm>
          <a:prstGeom prst="rect">
            <a:avLst/>
          </a:prstGeom>
          <a:solidFill>
            <a:srgbClr val="F5F5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188720" y="2340864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447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1188720" y="2578608"/>
            <a:ext cx="2724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188720" y="2862072"/>
            <a:ext cx="2724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077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failing layer, named — and the rule that decided it.</a:t>
            </a:r>
            <a:endParaRPr lang="en-US" sz="1150" dirty="0"/>
          </a:p>
        </p:txBody>
      </p:sp>
      <p:sp>
        <p:nvSpPr>
          <p:cNvPr id="9" name="out1"/>
          <p:cNvSpPr/>
          <p:nvPr/>
        </p:nvSpPr>
        <p:spPr>
          <a:xfrm>
            <a:off x="4453128" y="2139696"/>
            <a:ext cx="3273552" cy="1298448"/>
          </a:xfrm>
          <a:prstGeom prst="rect">
            <a:avLst/>
          </a:prstGeom>
          <a:solidFill>
            <a:srgbClr val="F5F5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727448" y="2340864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447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727448" y="2578608"/>
            <a:ext cx="2724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727448" y="2862072"/>
            <a:ext cx="2724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077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High, Medium or Inconclusive, with the reason for the limit.</a:t>
            </a:r>
            <a:endParaRPr lang="en-US" sz="1150" dirty="0"/>
          </a:p>
        </p:txBody>
      </p:sp>
      <p:sp>
        <p:nvSpPr>
          <p:cNvPr id="13" name="out2"/>
          <p:cNvSpPr/>
          <p:nvPr/>
        </p:nvSpPr>
        <p:spPr>
          <a:xfrm>
            <a:off x="7991856" y="2139696"/>
            <a:ext cx="3273552" cy="1298448"/>
          </a:xfrm>
          <a:prstGeom prst="rect">
            <a:avLst/>
          </a:prstGeom>
          <a:solidFill>
            <a:srgbClr val="F5F5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66176" y="2340864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447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8266176" y="2578608"/>
            <a:ext cx="2724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8266176" y="2862072"/>
            <a:ext cx="2724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077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observation, each tagged with the source it came from.</a:t>
            </a:r>
            <a:endParaRPr lang="en-US" sz="1150" dirty="0"/>
          </a:p>
        </p:txBody>
      </p:sp>
      <p:sp>
        <p:nvSpPr>
          <p:cNvPr id="17" name="out3"/>
          <p:cNvSpPr/>
          <p:nvPr/>
        </p:nvSpPr>
        <p:spPr>
          <a:xfrm>
            <a:off x="914400" y="3657600"/>
            <a:ext cx="3273552" cy="1298448"/>
          </a:xfrm>
          <a:prstGeom prst="rect">
            <a:avLst/>
          </a:prstGeom>
          <a:solidFill>
            <a:srgbClr val="F5F5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188720" y="3858768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447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1188720" y="4096512"/>
            <a:ext cx="2724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Ruled out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1188720" y="4379976"/>
            <a:ext cx="2724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077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other candidate causes it is not, and why each was excluded.</a:t>
            </a:r>
            <a:endParaRPr lang="en-US" sz="1150" dirty="0"/>
          </a:p>
        </p:txBody>
      </p:sp>
      <p:sp>
        <p:nvSpPr>
          <p:cNvPr id="21" name="out4"/>
          <p:cNvSpPr/>
          <p:nvPr/>
        </p:nvSpPr>
        <p:spPr>
          <a:xfrm>
            <a:off x="4453128" y="3657600"/>
            <a:ext cx="3273552" cy="1298448"/>
          </a:xfrm>
          <a:prstGeom prst="rect">
            <a:avLst/>
          </a:prstGeom>
          <a:solidFill>
            <a:srgbClr val="F5F5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727448" y="3858768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447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4727448" y="4096512"/>
            <a:ext cx="2724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Precedent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4727448" y="4379976"/>
            <a:ext cx="2724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077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incidents of the same shape, and whether the fix held.</a:t>
            </a:r>
            <a:endParaRPr lang="en-US" sz="1150" dirty="0"/>
          </a:p>
        </p:txBody>
      </p:sp>
      <p:sp>
        <p:nvSpPr>
          <p:cNvPr id="25" name="out5"/>
          <p:cNvSpPr/>
          <p:nvPr/>
        </p:nvSpPr>
        <p:spPr>
          <a:xfrm>
            <a:off x="7991856" y="3657600"/>
            <a:ext cx="3273552" cy="1298448"/>
          </a:xfrm>
          <a:prstGeom prst="rect">
            <a:avLst/>
          </a:prstGeom>
          <a:solidFill>
            <a:srgbClr val="F5F5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266176" y="3858768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447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8266176" y="4096512"/>
            <a:ext cx="2724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&amp; prevention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8266176" y="4379976"/>
            <a:ext cx="2724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077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runbook step, what not to do, and how to stop it recurring.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914400" y="5340096"/>
            <a:ext cx="10362895" cy="9144"/>
          </a:xfrm>
          <a:prstGeom prst="rect">
            <a:avLst/>
          </a:prstGeom>
          <a:solidFill>
            <a:srgbClr val="E2E4E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914400" y="5522976"/>
            <a:ext cx="10241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 by design. </a:t>
            </a:r>
            <a:pPr indent="0" marL="0">
              <a:buNone/>
            </a:pPr>
            <a:r>
              <a:rPr lang="en-US" sz="1400" dirty="0">
                <a:solidFill>
                  <a:srgbClr val="7077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never restarts anything and never writes to a system it is diagnosing — which is what clears risk review.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7255" y="6327648"/>
            <a:ext cx="32004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rgbClr val="C7CAC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14400" y="384048"/>
            <a:ext cx="1036289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40" kern="0" dirty="0">
                <a:solidFill>
                  <a:srgbClr val="B44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0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914400" y="676656"/>
            <a:ext cx="1036289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dirty="0">
                <a:solidFill>
                  <a:srgbClr val="1417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Evidence decides. The model explains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1536192"/>
            <a:ext cx="10241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77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stages. Six establish what happened from the log; the last one turns that into language a tired engineer can read.</a:t>
            </a:r>
            <a:endParaRPr lang="en-US" sz="1500" dirty="0"/>
          </a:p>
        </p:txBody>
      </p:sp>
      <p:sp>
        <p:nvSpPr>
          <p:cNvPr id="5" name="st0"/>
          <p:cNvSpPr/>
          <p:nvPr/>
        </p:nvSpPr>
        <p:spPr>
          <a:xfrm>
            <a:off x="914400" y="2139696"/>
            <a:ext cx="1347172" cy="1371600"/>
          </a:xfrm>
          <a:prstGeom prst="rect">
            <a:avLst/>
          </a:prstGeom>
          <a:solidFill>
            <a:srgbClr val="F5F5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60704" y="2304288"/>
            <a:ext cx="10545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DA3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1060704" y="2560320"/>
            <a:ext cx="10911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1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1060704" y="2852928"/>
            <a:ext cx="10911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077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Serilog → lines</a:t>
            </a:r>
            <a:endParaRPr lang="en-US" sz="1000" dirty="0"/>
          </a:p>
        </p:txBody>
      </p:sp>
      <p:sp>
        <p:nvSpPr>
          <p:cNvPr id="9" name="st1"/>
          <p:cNvSpPr/>
          <p:nvPr/>
        </p:nvSpPr>
        <p:spPr>
          <a:xfrm>
            <a:off x="2417020" y="2139696"/>
            <a:ext cx="1347172" cy="1371600"/>
          </a:xfrm>
          <a:prstGeom prst="rect">
            <a:avLst/>
          </a:prstGeom>
          <a:solidFill>
            <a:srgbClr val="F5F5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563324" y="2304288"/>
            <a:ext cx="10545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DA3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2563324" y="2560320"/>
            <a:ext cx="10911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1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2563324" y="2852928"/>
            <a:ext cx="10911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077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typed evidence</a:t>
            </a:r>
            <a:endParaRPr lang="en-US" sz="1000" dirty="0"/>
          </a:p>
        </p:txBody>
      </p:sp>
      <p:sp>
        <p:nvSpPr>
          <p:cNvPr id="13" name="st2"/>
          <p:cNvSpPr/>
          <p:nvPr/>
        </p:nvSpPr>
        <p:spPr>
          <a:xfrm>
            <a:off x="3919641" y="2139696"/>
            <a:ext cx="1347172" cy="1371600"/>
          </a:xfrm>
          <a:prstGeom prst="rect">
            <a:avLst/>
          </a:prstGeom>
          <a:solidFill>
            <a:srgbClr val="F5F5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065945" y="2304288"/>
            <a:ext cx="10545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DA3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4065945" y="2560320"/>
            <a:ext cx="10911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1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4065945" y="2852928"/>
            <a:ext cx="10911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077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elapsed, rate</a:t>
            </a:r>
            <a:endParaRPr lang="en-US" sz="1000" dirty="0"/>
          </a:p>
        </p:txBody>
      </p:sp>
      <p:sp>
        <p:nvSpPr>
          <p:cNvPr id="17" name="st3"/>
          <p:cNvSpPr/>
          <p:nvPr/>
        </p:nvSpPr>
        <p:spPr>
          <a:xfrm>
            <a:off x="5422261" y="2139696"/>
            <a:ext cx="1347172" cy="1371600"/>
          </a:xfrm>
          <a:prstGeom prst="rect">
            <a:avLst/>
          </a:prstGeom>
          <a:solidFill>
            <a:srgbClr val="F5F5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568565" y="2304288"/>
            <a:ext cx="10545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DA3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5568565" y="2560320"/>
            <a:ext cx="10911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1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5568565" y="2852928"/>
            <a:ext cx="10911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077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→ cause</a:t>
            </a:r>
            <a:endParaRPr lang="en-US" sz="1000" dirty="0"/>
          </a:p>
        </p:txBody>
      </p:sp>
      <p:sp>
        <p:nvSpPr>
          <p:cNvPr id="21" name="st4"/>
          <p:cNvSpPr/>
          <p:nvPr/>
        </p:nvSpPr>
        <p:spPr>
          <a:xfrm>
            <a:off x="6924882" y="2139696"/>
            <a:ext cx="1347172" cy="1371600"/>
          </a:xfrm>
          <a:prstGeom prst="rect">
            <a:avLst/>
          </a:prstGeom>
          <a:solidFill>
            <a:srgbClr val="F5F5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071186" y="2304288"/>
            <a:ext cx="10545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DA3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7071186" y="2560320"/>
            <a:ext cx="10911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1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up</a:t>
            </a:r>
            <a:endParaRPr lang="en-US" sz="1350" dirty="0"/>
          </a:p>
        </p:txBody>
      </p:sp>
      <p:sp>
        <p:nvSpPr>
          <p:cNvPr id="24" name="Text 22"/>
          <p:cNvSpPr txBox="1"/>
          <p:nvPr/>
        </p:nvSpPr>
        <p:spPr>
          <a:xfrm>
            <a:off x="7071186" y="2852928"/>
            <a:ext cx="10911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077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owner, runbook</a:t>
            </a:r>
            <a:endParaRPr lang="en-US" sz="1000" dirty="0"/>
          </a:p>
        </p:txBody>
      </p:sp>
      <p:sp>
        <p:nvSpPr>
          <p:cNvPr id="25" name="st5"/>
          <p:cNvSpPr/>
          <p:nvPr/>
        </p:nvSpPr>
        <p:spPr>
          <a:xfrm>
            <a:off x="8427502" y="2139696"/>
            <a:ext cx="1347172" cy="1371600"/>
          </a:xfrm>
          <a:prstGeom prst="rect">
            <a:avLst/>
          </a:prstGeom>
          <a:solidFill>
            <a:srgbClr val="F5F5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573806" y="2304288"/>
            <a:ext cx="10545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DA3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8573806" y="2560320"/>
            <a:ext cx="10911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1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1350" dirty="0"/>
          </a:p>
        </p:txBody>
      </p:sp>
      <p:sp>
        <p:nvSpPr>
          <p:cNvPr id="28" name="Text 26"/>
          <p:cNvSpPr txBox="1"/>
          <p:nvPr/>
        </p:nvSpPr>
        <p:spPr>
          <a:xfrm>
            <a:off x="8573806" y="2852928"/>
            <a:ext cx="10911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077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</a:t>
            </a:r>
            <a:endParaRPr lang="en-US" sz="1000" dirty="0"/>
          </a:p>
        </p:txBody>
      </p:sp>
      <p:sp>
        <p:nvSpPr>
          <p:cNvPr id="29" name="st6"/>
          <p:cNvSpPr/>
          <p:nvPr/>
        </p:nvSpPr>
        <p:spPr>
          <a:xfrm>
            <a:off x="9930123" y="2139696"/>
            <a:ext cx="1347172" cy="1371600"/>
          </a:xfrm>
          <a:prstGeom prst="rect">
            <a:avLst/>
          </a:prstGeom>
          <a:solidFill>
            <a:srgbClr val="14171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10076427" y="2304288"/>
            <a:ext cx="10545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447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10076427" y="2560320"/>
            <a:ext cx="10911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</a:t>
            </a:r>
            <a:endParaRPr lang="en-US" sz="1350" dirty="0"/>
          </a:p>
        </p:txBody>
      </p:sp>
      <p:sp>
        <p:nvSpPr>
          <p:cNvPr id="32" name="Text 30"/>
          <p:cNvSpPr txBox="1"/>
          <p:nvPr/>
        </p:nvSpPr>
        <p:spPr>
          <a:xfrm>
            <a:off x="10076427" y="2852928"/>
            <a:ext cx="10911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summarise &amp; answer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914400" y="3730752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41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summarises the finished result, rephrases it for the reader, and answers follow-up questions about it. Because the verdict is already established, the explanation can never drift away from the facts.</a:t>
            </a:r>
            <a:endParaRPr lang="en-US" sz="1450" dirty="0"/>
          </a:p>
        </p:txBody>
      </p:sp>
      <p:sp>
        <p:nvSpPr>
          <p:cNvPr id="34" name="Shape 32"/>
          <p:cNvSpPr/>
          <p:nvPr/>
        </p:nvSpPr>
        <p:spPr>
          <a:xfrm>
            <a:off x="914400" y="4498848"/>
            <a:ext cx="10362895" cy="9144"/>
          </a:xfrm>
          <a:prstGeom prst="rect">
            <a:avLst/>
          </a:prstGeom>
          <a:solidFill>
            <a:srgbClr val="E2E4E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914400" y="4700016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60" kern="0" dirty="0">
                <a:solidFill>
                  <a:srgbClr val="9DA3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</a:t>
            </a:r>
            <a:endParaRPr lang="en-US" sz="950" dirty="0"/>
          </a:p>
        </p:txBody>
      </p:sp>
      <p:sp>
        <p:nvSpPr>
          <p:cNvPr id="36" name="Text 34"/>
          <p:cNvSpPr txBox="1"/>
          <p:nvPr/>
        </p:nvSpPr>
        <p:spPr>
          <a:xfrm>
            <a:off x="914400" y="5010912"/>
            <a:ext cx="1664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3.12</a:t>
            </a:r>
            <a:endParaRPr lang="en-US" sz="1300" dirty="0"/>
          </a:p>
        </p:txBody>
      </p:sp>
      <p:sp>
        <p:nvSpPr>
          <p:cNvPr id="37" name="Text 35"/>
          <p:cNvSpPr txBox="1"/>
          <p:nvPr/>
        </p:nvSpPr>
        <p:spPr>
          <a:xfrm>
            <a:off x="914400" y="5266944"/>
            <a:ext cx="16642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077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</a:t>
            </a:r>
            <a:endParaRPr lang="en-US" sz="1050" dirty="0"/>
          </a:p>
        </p:txBody>
      </p:sp>
      <p:sp>
        <p:nvSpPr>
          <p:cNvPr id="38" name="Text 36"/>
          <p:cNvSpPr txBox="1"/>
          <p:nvPr/>
        </p:nvSpPr>
        <p:spPr>
          <a:xfrm>
            <a:off x="2651760" y="5010912"/>
            <a:ext cx="1664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300" dirty="0"/>
          </a:p>
        </p:txBody>
      </p:sp>
      <p:sp>
        <p:nvSpPr>
          <p:cNvPr id="39" name="Text 37"/>
          <p:cNvSpPr txBox="1"/>
          <p:nvPr/>
        </p:nvSpPr>
        <p:spPr>
          <a:xfrm>
            <a:off x="2651760" y="5266944"/>
            <a:ext cx="16642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077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endpoints</a:t>
            </a:r>
            <a:endParaRPr lang="en-US" sz="1050" dirty="0"/>
          </a:p>
        </p:txBody>
      </p:sp>
      <p:sp>
        <p:nvSpPr>
          <p:cNvPr id="40" name="Text 38"/>
          <p:cNvSpPr txBox="1"/>
          <p:nvPr/>
        </p:nvSpPr>
        <p:spPr>
          <a:xfrm>
            <a:off x="4389120" y="5010912"/>
            <a:ext cx="1664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</a:t>
            </a:r>
            <a:endParaRPr lang="en-US" sz="1300" dirty="0"/>
          </a:p>
        </p:txBody>
      </p:sp>
      <p:sp>
        <p:nvSpPr>
          <p:cNvPr id="41" name="Text 39"/>
          <p:cNvSpPr txBox="1"/>
          <p:nvPr/>
        </p:nvSpPr>
        <p:spPr>
          <a:xfrm>
            <a:off x="4389120" y="5266944"/>
            <a:ext cx="16642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077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file, no build</a:t>
            </a:r>
            <a:endParaRPr lang="en-US" sz="1050" dirty="0"/>
          </a:p>
        </p:txBody>
      </p:sp>
      <p:sp>
        <p:nvSpPr>
          <p:cNvPr id="42" name="Text 40"/>
          <p:cNvSpPr txBox="1"/>
          <p:nvPr/>
        </p:nvSpPr>
        <p:spPr>
          <a:xfrm>
            <a:off x="6126480" y="5010912"/>
            <a:ext cx="1664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3.5</a:t>
            </a:r>
            <a:endParaRPr lang="en-US" sz="1300" dirty="0"/>
          </a:p>
        </p:txBody>
      </p:sp>
      <p:sp>
        <p:nvSpPr>
          <p:cNvPr id="43" name="Text 41"/>
          <p:cNvSpPr txBox="1"/>
          <p:nvPr/>
        </p:nvSpPr>
        <p:spPr>
          <a:xfrm>
            <a:off x="6126480" y="5266944"/>
            <a:ext cx="16642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077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07</a:t>
            </a:r>
            <a:endParaRPr lang="en-US" sz="1050" dirty="0"/>
          </a:p>
        </p:txBody>
      </p:sp>
      <p:sp>
        <p:nvSpPr>
          <p:cNvPr id="44" name="Text 42"/>
          <p:cNvSpPr txBox="1"/>
          <p:nvPr/>
        </p:nvSpPr>
        <p:spPr>
          <a:xfrm>
            <a:off x="7863840" y="5010912"/>
            <a:ext cx="1664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graph</a:t>
            </a:r>
            <a:endParaRPr lang="en-US" sz="1300" dirty="0"/>
          </a:p>
        </p:txBody>
      </p:sp>
      <p:sp>
        <p:nvSpPr>
          <p:cNvPr id="45" name="Text 43"/>
          <p:cNvSpPr txBox="1"/>
          <p:nvPr/>
        </p:nvSpPr>
        <p:spPr>
          <a:xfrm>
            <a:off x="7863840" y="5266944"/>
            <a:ext cx="16642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077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 nodes</a:t>
            </a:r>
            <a:endParaRPr lang="en-US" sz="1050" dirty="0"/>
          </a:p>
        </p:txBody>
      </p:sp>
      <p:sp>
        <p:nvSpPr>
          <p:cNvPr id="46" name="Text 44"/>
          <p:cNvSpPr txBox="1"/>
          <p:nvPr/>
        </p:nvSpPr>
        <p:spPr>
          <a:xfrm>
            <a:off x="9601200" y="5010912"/>
            <a:ext cx="1664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search</a:t>
            </a:r>
            <a:endParaRPr lang="en-US" sz="1300" dirty="0"/>
          </a:p>
        </p:txBody>
      </p:sp>
      <p:sp>
        <p:nvSpPr>
          <p:cNvPr id="47" name="Text 45"/>
          <p:cNvSpPr txBox="1"/>
          <p:nvPr/>
        </p:nvSpPr>
        <p:spPr>
          <a:xfrm>
            <a:off x="9601200" y="5266944"/>
            <a:ext cx="16642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077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incidents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7255" y="6327648"/>
            <a:ext cx="32004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rgbClr val="C7CAC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14400" y="384048"/>
            <a:ext cx="1036289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40" kern="0" dirty="0">
                <a:solidFill>
                  <a:srgbClr val="B44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THE DIAGNOSIS</a:t>
            </a:r>
            <a:endParaRPr lang="en-US" sz="10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914400" y="676656"/>
            <a:ext cx="1036289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dirty="0">
                <a:solidFill>
                  <a:srgbClr val="1417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modes, so nobody has to know the system first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15544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77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Anyone can interrogate the result — including an engineer who has never seen this application before.</a:t>
            </a:r>
            <a:endParaRPr lang="en-US" sz="1500" dirty="0"/>
          </a:p>
        </p:txBody>
      </p:sp>
      <p:sp>
        <p:nvSpPr>
          <p:cNvPr id="5" name="projCard"/>
          <p:cNvSpPr/>
          <p:nvPr/>
        </p:nvSpPr>
        <p:spPr>
          <a:xfrm>
            <a:off x="914400" y="2103120"/>
            <a:ext cx="5029200" cy="2926080"/>
          </a:xfrm>
          <a:prstGeom prst="rect">
            <a:avLst/>
          </a:prstGeom>
          <a:solidFill>
            <a:srgbClr val="F5F5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243584" y="2340864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80" kern="0" dirty="0">
                <a:solidFill>
                  <a:srgbClr val="B44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 ·  GROUNDED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1243584" y="2615184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1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only from this investigation, the topology graph and past incidents.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243584" y="312724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7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“Which team owns this?”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243584" y="3419856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7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 does this application depend on?”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243584" y="3712464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7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“Have we seen this before, and did the fix hold?”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243584" y="4078224"/>
            <a:ext cx="4389120" cy="9144"/>
          </a:xfrm>
          <a:prstGeom prst="rect">
            <a:avLst/>
          </a:prstGeom>
          <a:solidFill>
            <a:srgbClr val="DEE0E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243584" y="4206240"/>
            <a:ext cx="4389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077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Relationships come from a knowledge graph; similar incidents from vector search over past write-ups. The model picks which lookup to run — the backend runs it, and every answer shows its source.</a:t>
            </a:r>
            <a:endParaRPr lang="en-US" sz="1150" dirty="0"/>
          </a:p>
        </p:txBody>
      </p:sp>
      <p:sp>
        <p:nvSpPr>
          <p:cNvPr id="13" name="genCard"/>
          <p:cNvSpPr/>
          <p:nvPr/>
        </p:nvSpPr>
        <p:spPr>
          <a:xfrm>
            <a:off x="6245352" y="2103120"/>
            <a:ext cx="5029200" cy="2926080"/>
          </a:xfrm>
          <a:prstGeom prst="rect">
            <a:avLst/>
          </a:prstGeom>
          <a:solidFill>
            <a:srgbClr val="F5F5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574536" y="2340864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80" kern="0" dirty="0">
                <a:solidFill>
                  <a:srgbClr val="7077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 ·  OPEN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6574536" y="2615184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1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 technical assistant for everything that is not about this incident.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6574536" y="312724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7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 is an HTTP 504?”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574536" y="3419856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7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“How do nginx proxy timeouts work?”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574536" y="3712464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7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“Show me the config to change it.”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574536" y="4078224"/>
            <a:ext cx="4389120" cy="9144"/>
          </a:xfrm>
          <a:prstGeom prst="rect">
            <a:avLst/>
          </a:prstGeom>
          <a:solidFill>
            <a:srgbClr val="DEE0E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574536" y="4206240"/>
            <a:ext cx="4389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077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answers with tables and code. It will not claim anything about the current incident — if you ask, it says so and points you back to Project mode.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914400" y="5285232"/>
            <a:ext cx="10362895" cy="9144"/>
          </a:xfrm>
          <a:prstGeom prst="rect">
            <a:avLst/>
          </a:prstGeom>
          <a:solidFill>
            <a:srgbClr val="E2E4E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14400" y="54864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 joiner can ask the system instead of asking a colleague. </a:t>
            </a:r>
            <a:pPr indent="0" marL="0">
              <a:buNone/>
            </a:pPr>
            <a:r>
              <a:rPr lang="en-US" sz="1400" dirty="0">
                <a:solidFill>
                  <a:srgbClr val="7077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dependency chain comes out of the topology graph, so the answer is the real one — not a model's recollection of it.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7255" y="6327648"/>
            <a:ext cx="32004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rgbClr val="C7CAC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14400" y="384048"/>
            <a:ext cx="1036289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40" kern="0" dirty="0">
                <a:solidFill>
                  <a:srgbClr val="B44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IS DIFFERENT</a:t>
            </a:r>
            <a:endParaRPr lang="en-US" sz="10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914400" y="676656"/>
            <a:ext cx="1036289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dirty="0">
                <a:solidFill>
                  <a:srgbClr val="1417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Everyone can call an LLM. That isn’t the hard part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1609344"/>
            <a:ext cx="4480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60" kern="0" dirty="0">
                <a:solidFill>
                  <a:srgbClr val="9DA3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LOG-ANALYSIS TOOL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5943600" y="1609344"/>
            <a:ext cx="5303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60" kern="0" dirty="0">
                <a:solidFill>
                  <a:srgbClr val="B44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914400" y="1865376"/>
            <a:ext cx="4480560" cy="9144"/>
          </a:xfrm>
          <a:prstGeom prst="rect">
            <a:avLst/>
          </a:prstGeom>
          <a:solidFill>
            <a:srgbClr val="E8EAE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0" y="1865376"/>
            <a:ext cx="5330952" cy="12802"/>
          </a:xfrm>
          <a:prstGeom prst="rect">
            <a:avLst/>
          </a:prstGeom>
          <a:solidFill>
            <a:srgbClr val="B447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210312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DA3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Asks the model what broke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5943600" y="2066544"/>
            <a:ext cx="5330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1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decides; the model is never asked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5943600" y="2377440"/>
            <a:ext cx="5330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44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Hallucination cannot reach the diagnosis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914400" y="2871216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DA3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answers, even when wrong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943600" y="2834640"/>
            <a:ext cx="5330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1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“Inconclusive” and shows its working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5943600" y="3145536"/>
            <a:ext cx="5330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44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Silence beats a confident wrong answer at 2am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914400" y="3639312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DA3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is a number the model invented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5943600" y="3602736"/>
            <a:ext cx="5330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1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is capped by what we can actually see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5943600" y="3913632"/>
            <a:ext cx="5330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44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of 7 sources connected means it cannot claim High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914400" y="4407408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DA3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Hardcoded to one system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5943600" y="4370832"/>
            <a:ext cx="5330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1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JSON files: topology, rules, runbooks, incident history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5943600" y="4681728"/>
            <a:ext cx="5330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44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Another team adopts it without writing any code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914400" y="5175504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DA3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Breaks when the API is down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5943600" y="5138928"/>
            <a:ext cx="5330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1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with the AI switched off entirely</a:t>
            </a:r>
            <a:endParaRPr lang="en-US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5943600" y="5449824"/>
            <a:ext cx="5330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44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264 tests pass with no key and no network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914400" y="6016752"/>
            <a:ext cx="10362895" cy="9144"/>
          </a:xfrm>
          <a:prstGeom prst="rect">
            <a:avLst/>
          </a:prstGeom>
          <a:solidFill>
            <a:srgbClr val="E2E4E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14400" y="6199632"/>
            <a:ext cx="10058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1417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reliability is structural, not a prompt we tuned — and the portability is config, not a rewrite.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7255" y="6327648"/>
            <a:ext cx="32004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rgbClr val="C7CAC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14400" y="731520"/>
            <a:ext cx="103628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80" kern="0" dirty="0">
                <a:solidFill>
                  <a:srgbClr val="B44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THE FIX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1097280"/>
            <a:ext cx="10058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incident makes the next one cheaper</a:t>
            </a:r>
            <a:endParaRPr lang="en-US" sz="33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2011680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60" kern="0" dirty="0">
                <a:solidFill>
                  <a:srgbClr val="B44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IT RECURRING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914400" y="2322576"/>
            <a:ext cx="3200400" cy="9144"/>
          </a:xfrm>
          <a:prstGeom prst="rect">
            <a:avLst/>
          </a:prstGeom>
          <a:solidFill>
            <a:srgbClr val="34393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0" y="2450592"/>
            <a:ext cx="3200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8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 across code, config, monitoring and process — plus the safe batch size, calculated from the throughput measured in the log, not typed in by hand.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4453128" y="2011680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60" kern="0" dirty="0">
                <a:solidFill>
                  <a:srgbClr val="B44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NOT TO DO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453128" y="2322576"/>
            <a:ext cx="3200400" cy="9144"/>
          </a:xfrm>
          <a:prstGeom prst="rect">
            <a:avLst/>
          </a:prstGeom>
          <a:solidFill>
            <a:srgbClr val="34393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453128" y="2450592"/>
            <a:ext cx="3200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8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explicit do-not list. “Do not raise the client timeout” — because the client was never what cut the connection. This is where hours normally go.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7991856" y="2011680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60" kern="0" dirty="0">
                <a:solidFill>
                  <a:srgbClr val="B44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WAS HARD TO FIND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7991856" y="2322576"/>
            <a:ext cx="3200400" cy="9144"/>
          </a:xfrm>
          <a:prstGeom prst="rect">
            <a:avLst/>
          </a:prstGeom>
          <a:solidFill>
            <a:srgbClr val="34393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991856" y="2450592"/>
            <a:ext cx="3200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8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scores our own logging: 5 of 10 practices. We never record how long a job takes, which is why a sync degrading for weeks stayed invisible.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14400" y="4078224"/>
            <a:ext cx="10362895" cy="9144"/>
          </a:xfrm>
          <a:prstGeom prst="rect">
            <a:avLst/>
          </a:prstGeom>
          <a:solidFill>
            <a:srgbClr val="34393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14400" y="4315968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264</a:t>
            </a:r>
            <a:endParaRPr lang="en-US" sz="4200" dirty="0"/>
          </a:p>
        </p:txBody>
      </p:sp>
      <p:sp>
        <p:nvSpPr>
          <p:cNvPr id="15" name="Text 13"/>
          <p:cNvSpPr txBox="1"/>
          <p:nvPr/>
        </p:nvSpPr>
        <p:spPr>
          <a:xfrm>
            <a:off x="914400" y="5065776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87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passing, offline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3538728" y="4315968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4200" dirty="0"/>
          </a:p>
        </p:txBody>
      </p:sp>
      <p:sp>
        <p:nvSpPr>
          <p:cNvPr id="17" name="Text 15"/>
          <p:cNvSpPr txBox="1"/>
          <p:nvPr/>
        </p:nvSpPr>
        <p:spPr>
          <a:xfrm>
            <a:off x="3538728" y="5065776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87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classes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163056" y="4315968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4200" dirty="0"/>
          </a:p>
        </p:txBody>
      </p:sp>
      <p:sp>
        <p:nvSpPr>
          <p:cNvPr id="19" name="Text 17"/>
          <p:cNvSpPr txBox="1"/>
          <p:nvPr/>
        </p:nvSpPr>
        <p:spPr>
          <a:xfrm>
            <a:off x="6163056" y="5065776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87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 files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8787384" y="4315968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s</a:t>
            </a:r>
            <a:endParaRPr lang="en-US" sz="4200" dirty="0"/>
          </a:p>
        </p:txBody>
      </p:sp>
      <p:sp>
        <p:nvSpPr>
          <p:cNvPr id="21" name="Text 19"/>
          <p:cNvSpPr txBox="1"/>
          <p:nvPr/>
        </p:nvSpPr>
        <p:spPr>
          <a:xfrm>
            <a:off x="8787384" y="5065776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87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an answer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914400" y="5541264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71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swap Gemini for the bank’s approved Azure OpenAI endpoint — one file changes.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914400" y="5907024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Evidence decides what happened. The model explains it.</a:t>
            </a:r>
            <a:endParaRPr lang="en-US" sz="1900" dirty="0"/>
          </a:p>
        </p:txBody>
      </p:sp>
      <p:sp>
        <p:nvSpPr>
          <p:cNvPr id="24" name="Text 22"/>
          <p:cNvSpPr txBox="1"/>
          <p:nvPr/>
        </p:nvSpPr>
        <p:spPr>
          <a:xfrm>
            <a:off x="8534095" y="599846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spc="260" kern="0" dirty="0">
                <a:solidFill>
                  <a:srgbClr val="B44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POTENTIAL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otential">
  <a:themeElements>
    <a:clrScheme name="Potential">
      <a:dk1>
        <a:srgbClr val="14171B"/>
      </a:dk1>
      <a:lt1>
        <a:srgbClr val="FFFFFF"/>
      </a:lt1>
      <a:dk2>
        <a:srgbClr val="70777F"/>
      </a:dk2>
      <a:lt2>
        <a:srgbClr val="F5F5F3"/>
      </a:lt2>
      <a:accent1>
        <a:srgbClr val="B4472E"/>
      </a:accent1>
      <a:accent2>
        <a:srgbClr val="2E6A4F"/>
      </a:accent2>
      <a:accent3>
        <a:srgbClr val="14171B"/>
      </a:accent3>
      <a:accent4>
        <a:srgbClr val="70777F"/>
      </a:accent4>
      <a:accent5>
        <a:srgbClr val="D7D9DD"/>
      </a:accent5>
      <a:accent6>
        <a:srgbClr val="F5F5F3"/>
      </a:accent6>
      <a:hlink>
        <a:srgbClr val="B4472E"/>
      </a:hlink>
      <a:folHlink>
        <a:srgbClr val="70777F"/>
      </a:folHlink>
    </a:clrScheme>
    <a:fontScheme name="Potential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Team Potential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Investigation Assistant</dc:title>
  <dc:subject>PptxGenJS Presentation</dc:subject>
  <dc:creator>Team Potential</dc:creator>
  <cp:lastModifiedBy>Team Potential</cp:lastModifiedBy>
  <cp:revision>1</cp:revision>
  <dcterms:created xsi:type="dcterms:W3CDTF">2026-10-13T19:12:46Z</dcterms:created>
  <dcterms:modified xsi:type="dcterms:W3CDTF">2026-10-13T19:12:46Z</dcterms:modified>
</cp:coreProperties>
</file>