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8a1a181-df53-634c-8c6a-66abfa959660}">
          <p14:sldIdLst>
            <p14:sldId id="256"/>
          </p14:sldIdLst>
        </p14:section>
        <p14:section name="Problem" id="{91434f19-f65b-2e41-7c2e-2a6b7037450a}">
          <p14:sldIdLst>
            <p14:sldId id="257"/>
          </p14:sldIdLst>
        </p14:section>
        <p14:section name="Evidence" id="{3ea40ec6-f3d4-c49f-7f80-44c0de5c7304}">
          <p14:sldIdLst>
            <p14:sldId id="258"/>
          </p14:sldIdLst>
        </p14:section>
        <p14:section name="Solution" id="{84caa126-b38b-2a43-ca2b-e58b285c9e18}">
          <p14:sldIdLst>
            <p14:sldId id="259"/>
          </p14:sldIdLst>
        </p14:section>
        <p14:section name="Difference" id="{c17978af-5392-205b-c9c9-04bc10f78b4d}">
          <p14:sldIdLst>
            <p14:sldId id="260"/>
          </p14:sldIdLst>
        </p14:section>
        <p14:section name="Beyond the fix" id="{0b9aba08-93d5-8686-584d-724c9e19fa0d}">
          <p14:sldIdLst>
            <p14:sldId id="261"/>
          </p14:sldIdLst>
        </p14:section>
        <p14:section name="Close" id="{a7efd507-578d-f9ad-b515-4cd81bcafccf}">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Potential. The tool is an AI Investigation Assistant for log triage. The one line that matters: code decides the root cause, the model only writes it up. Everything in this deck follows from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this is seven manual checks across seven consoles. The painful part is not the time — it is that the checklist can complete and still leave you with nothing. Every source reports healthy and the sync is still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failure the tool was built around. Note the pattern: size, not time of day. 39 records took 7 seconds, so 539 records needs about 97. The call was cut at 60. A round 60-second ceiling below the work's actual duration is a configured timeout on something in between — a gateway or proxy. No one console shows this, which is why the manual process never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paste the error block and get six things back, not one. The last two are what change the response: precedent tells you whether this has happened before and whether the fix held; the runbook tells you what not to do, which is usually where time is lost. And it is read-only — nothing to clear with risk review about write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Everyone in this competition has an LLM reading logs. The difference is where the decision is made. Ours is made by rules over measured facts, which means it is reproducible, testable and auditable. The model only phrases it. Switch the AI off and every answer is identical — just plainer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turns firefighting into something that compounds. The 200 is calculated, not typed — change the measured throughput and it changes. And the logging score is feedback to our own developers: we score 5 out of 10, and the biggest gap is that we never log duration, which is exactly why this failure was invisible for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deployability. 264 tests that run with no network and no API key. Zero AI in the decision path. Four config files mean another team adopts this by editing JSON. And the whole thing is read-only. Happy to demo it live — paste a log and it answers in about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5181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66928"/>
            <a:ext cx="10545775" cy="822960"/>
          </a:xfrm>
          <a:prstGeom prst="rect">
            <a:avLst/>
          </a:prstGeom>
          <a:noFill/>
          <a:ln/>
        </p:spPr>
        <p:txBody>
          <a:bodyPr wrap="square" rtlCol="0"/>
          <a:lstStyle>
            <a:lvl1pPr algn="l" indent="0" marL="0">
              <a:buNone/>
              <a:defRPr lang="en-US" sz="3800" dirty="0">
                <a:solidFill>
                  <a:srgbClr val="15181C"/>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600200"/>
            <a:ext cx="10545775" cy="274320"/>
          </a:xfrm>
          <a:prstGeom prst="rect">
            <a:avLst/>
          </a:prstGeom>
          <a:noFill/>
          <a:ln/>
        </p:spPr>
        <p:txBody>
          <a:bodyPr wrap="square" lIns="0" tIns="0" rIns="0" bIns="0" rtlCol="0" anchor="ctr"/>
          <a:lstStyle/>
          <a:p>
            <a:pPr indent="0" marL="0">
              <a:buNone/>
            </a:pPr>
            <a:r>
              <a:rPr lang="en-US" sz="1200" b="1" spc="340" kern="0" dirty="0">
                <a:solidFill>
                  <a:srgbClr val="B4472E"/>
                </a:solidFill>
                <a:latin typeface="Calibri" pitchFamily="34" charset="0"/>
                <a:ea typeface="Calibri" pitchFamily="34" charset="-122"/>
                <a:cs typeface="Calibri" pitchFamily="34" charset="-120"/>
              </a:rPr>
              <a:t>TEAM POTENTIAL</a:t>
            </a:r>
            <a:endParaRPr lang="en-US" sz="1200" dirty="0"/>
          </a:p>
        </p:txBody>
      </p:sp>
      <p:sp>
        <p:nvSpPr>
          <p:cNvPr id="3" name="Text 1"/>
          <p:cNvSpPr txBox="1"/>
          <p:nvPr/>
        </p:nvSpPr>
        <p:spPr>
          <a:xfrm>
            <a:off x="822960" y="2057400"/>
            <a:ext cx="10545775" cy="914400"/>
          </a:xfrm>
          <a:prstGeom prst="rect">
            <a:avLst/>
          </a:prstGeom>
          <a:noFill/>
          <a:ln/>
        </p:spPr>
        <p:txBody>
          <a:bodyPr wrap="square" lIns="0" tIns="0" rIns="0" bIns="0" rtlCol="0" anchor="ctr"/>
          <a:lstStyle/>
          <a:p>
            <a:pPr indent="0" marL="0">
              <a:buNone/>
            </a:pPr>
            <a:r>
              <a:rPr lang="en-US" sz="5400" dirty="0">
                <a:solidFill>
                  <a:srgbClr val="FFFFFF"/>
                </a:solidFill>
                <a:latin typeface="Cambria" pitchFamily="34" charset="0"/>
                <a:ea typeface="Cambria" pitchFamily="34" charset="-122"/>
                <a:cs typeface="Cambria" pitchFamily="34" charset="-120"/>
              </a:rPr>
              <a:t>AI Investigation Assistant</a:t>
            </a:r>
            <a:endParaRPr lang="en-US" sz="5400" dirty="0"/>
          </a:p>
        </p:txBody>
      </p:sp>
      <p:sp>
        <p:nvSpPr>
          <p:cNvPr id="4" name="Text 2"/>
          <p:cNvSpPr txBox="1"/>
          <p:nvPr/>
        </p:nvSpPr>
        <p:spPr>
          <a:xfrm>
            <a:off x="822960" y="3063240"/>
            <a:ext cx="7863840" cy="457200"/>
          </a:xfrm>
          <a:prstGeom prst="rect">
            <a:avLst/>
          </a:prstGeom>
          <a:noFill/>
          <a:ln/>
        </p:spPr>
        <p:txBody>
          <a:bodyPr wrap="square" lIns="0" tIns="0" rIns="0" bIns="0" rtlCol="0" anchor="ctr"/>
          <a:lstStyle/>
          <a:p>
            <a:pPr indent="0" marL="0">
              <a:buNone/>
            </a:pPr>
            <a:r>
              <a:rPr lang="en-US" sz="1700" dirty="0">
                <a:solidFill>
                  <a:srgbClr val="A9AEB6"/>
                </a:solidFill>
                <a:latin typeface="Calibri" pitchFamily="34" charset="0"/>
                <a:ea typeface="Calibri" pitchFamily="34" charset="-122"/>
                <a:cs typeface="Calibri" pitchFamily="34" charset="-120"/>
              </a:rPr>
              <a:t>Root cause from a pasted log, decided by code — not guessed by a model.</a:t>
            </a:r>
            <a:endParaRPr lang="en-US" sz="1700" dirty="0"/>
          </a:p>
        </p:txBody>
      </p:sp>
      <p:sp>
        <p:nvSpPr>
          <p:cNvPr id="5" name="Shape 3"/>
          <p:cNvSpPr/>
          <p:nvPr/>
        </p:nvSpPr>
        <p:spPr>
          <a:xfrm>
            <a:off x="822960" y="3977640"/>
            <a:ext cx="2743200" cy="10973"/>
          </a:xfrm>
          <a:prstGeom prst="rect">
            <a:avLst/>
          </a:prstGeom>
          <a:solidFill>
            <a:srgbClr val="3A3F46"/>
          </a:solidFill>
          <a:ln w="12700">
            <a:solidFill>
              <a:srgbClr val="333333"/>
            </a:solidFill>
            <a:prstDash val="solid"/>
          </a:ln>
        </p:spPr>
      </p:sp>
      <p:sp>
        <p:nvSpPr>
          <p:cNvPr id="6" name="Text 4"/>
          <p:cNvSpPr txBox="1"/>
          <p:nvPr/>
        </p:nvSpPr>
        <p:spPr>
          <a:xfrm>
            <a:off x="822960" y="4224528"/>
            <a:ext cx="10545775" cy="274320"/>
          </a:xfrm>
          <a:prstGeom prst="rect">
            <a:avLst/>
          </a:prstGeom>
          <a:noFill/>
          <a:ln/>
        </p:spPr>
        <p:txBody>
          <a:bodyPr wrap="square" lIns="0" tIns="0" rIns="0" bIns="0" rtlCol="0" anchor="ctr"/>
          <a:lstStyle/>
          <a:p>
            <a:pPr indent="0" marL="0">
              <a:buNone/>
            </a:pPr>
            <a:r>
              <a:rPr lang="en-US" sz="1250" b="1" dirty="0">
                <a:solidFill>
                  <a:srgbClr val="C9CCD1"/>
                </a:solidFill>
                <a:latin typeface="Calibri" pitchFamily="34" charset="0"/>
                <a:ea typeface="Calibri" pitchFamily="34" charset="-122"/>
                <a:cs typeface="Calibri" pitchFamily="34" charset="-120"/>
              </a:rPr>
              <a:t>LEAP Young Innovators 2026</a:t>
            </a:r>
            <a:pPr indent="0" marL="0">
              <a:buNone/>
            </a:pPr>
            <a:r>
              <a:rPr lang="en-US" sz="1250" dirty="0">
                <a:solidFill>
                  <a:srgbClr val="6E7680"/>
                </a:solidFill>
                <a:latin typeface="Calibri" pitchFamily="34" charset="0"/>
                <a:ea typeface="Calibri" pitchFamily="34" charset="-122"/>
                <a:cs typeface="Calibri" pitchFamily="34" charset="-120"/>
              </a:rPr>
              <a:t>   ·   Theme 3, Log Analysis</a:t>
            </a:r>
            <a:endParaRPr lang="en-US" sz="1250" dirty="0"/>
          </a:p>
        </p:txBody>
      </p:sp>
      <p:sp>
        <p:nvSpPr>
          <p:cNvPr id="7" name="Text 5"/>
          <p:cNvSpPr txBox="1"/>
          <p:nvPr/>
        </p:nvSpPr>
        <p:spPr>
          <a:xfrm>
            <a:off x="822960" y="4526280"/>
            <a:ext cx="10545775" cy="274320"/>
          </a:xfrm>
          <a:prstGeom prst="rect">
            <a:avLst/>
          </a:prstGeom>
          <a:noFill/>
          <a:ln/>
        </p:spPr>
        <p:txBody>
          <a:bodyPr wrap="square" lIns="0" tIns="0" rIns="0" bIns="0" rtlCol="0" anchor="ctr"/>
          <a:lstStyle/>
          <a:p>
            <a:pPr indent="0" marL="0">
              <a:buNone/>
            </a:pPr>
            <a:r>
              <a:rPr lang="en-US" sz="1250" dirty="0">
                <a:solidFill>
                  <a:srgbClr val="6E7680"/>
                </a:solidFill>
                <a:latin typeface="Calibri" pitchFamily="34" charset="0"/>
                <a:ea typeface="Calibri" pitchFamily="34" charset="-122"/>
                <a:cs typeface="Calibri" pitchFamily="34" charset="-120"/>
              </a:rPr>
              <a:t>BulkSuppliers supplier sync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22960" y="274320"/>
            <a:ext cx="10545775" cy="237744"/>
          </a:xfrm>
          <a:prstGeom prst="rect">
            <a:avLst/>
          </a:prstGeom>
          <a:noFill/>
          <a:ln/>
        </p:spPr>
        <p:txBody>
          <a:bodyPr wrap="square" lIns="0" tIns="0" rIns="0" bIns="0" rtlCol="0" anchor="ctr"/>
          <a:lstStyle/>
          <a:p>
            <a:pPr indent="0" marL="0">
              <a:buNone/>
            </a:pPr>
            <a:r>
              <a:rPr lang="en-US" sz="1050" b="1" spc="220" kern="0" dirty="0">
                <a:solidFill>
                  <a:srgbClr val="6E7680"/>
                </a:solidFill>
                <a:latin typeface="Calibri" pitchFamily="34" charset="0"/>
                <a:ea typeface="Calibri" pitchFamily="34" charset="-122"/>
                <a:cs typeface="Calibri" pitchFamily="34" charset="-120"/>
              </a:rPr>
              <a:t>THE PROBLEM</a:t>
            </a:r>
            <a:endParaRPr lang="en-US" sz="1050" dirty="0"/>
          </a:p>
        </p:txBody>
      </p:sp>
      <p:sp>
        <p:nvSpPr>
          <p:cNvPr id="3" name="Text 0"/>
          <p:cNvSpPr/>
          <p:nvPr>
            <p:ph idx="100" type="title" hasCustomPrompt="1"/>
          </p:nvPr>
        </p:nvSpPr>
        <p:spPr>
          <a:xfrm>
            <a:off x="822960" y="566928"/>
            <a:ext cx="10545775" cy="822960"/>
          </a:xfrm>
          <a:prstGeom prst="rect">
            <a:avLst/>
          </a:prstGeom>
          <a:noFill/>
          <a:ln/>
        </p:spPr>
        <p:txBody>
          <a:bodyPr wrap="square" lIns="0" tIns="0" rIns="0" bIns="0" rtlCol="0" anchor="ctr"/>
          <a:lstStyle/>
          <a:p>
            <a:pPr algn="l" indent="0" marL="0">
              <a:buNone/>
            </a:pPr>
            <a:r>
              <a:rPr lang="en-US" sz="3800" dirty="0">
                <a:solidFill>
                  <a:srgbClr val="15181C"/>
                </a:solidFill>
                <a:latin typeface="Cambria" pitchFamily="34" charset="0"/>
                <a:ea typeface="Cambria" pitchFamily="34" charset="-122"/>
                <a:cs typeface="Cambria" pitchFamily="34" charset="-120"/>
              </a:rPr>
              <a:t>Seven consoles, and still no answer</a:t>
            </a:r>
            <a:endParaRPr lang="en-US" sz="3800" dirty="0"/>
          </a:p>
        </p:txBody>
      </p:sp>
      <p:sp>
        <p:nvSpPr>
          <p:cNvPr id="4" name="Text 2"/>
          <p:cNvSpPr txBox="1"/>
          <p:nvPr/>
        </p:nvSpPr>
        <p:spPr>
          <a:xfrm>
            <a:off x="822960" y="1481328"/>
            <a:ext cx="9052560" cy="402336"/>
          </a:xfrm>
          <a:prstGeom prst="rect">
            <a:avLst/>
          </a:prstGeom>
          <a:noFill/>
          <a:ln/>
        </p:spPr>
        <p:txBody>
          <a:bodyPr wrap="square" lIns="0" tIns="0" rIns="0" bIns="0" rtlCol="0" anchor="ctr"/>
          <a:lstStyle/>
          <a:p>
            <a:pPr indent="0" marL="0">
              <a:buNone/>
            </a:pPr>
            <a:r>
              <a:rPr lang="en-US" sz="1500" dirty="0">
                <a:solidFill>
                  <a:srgbClr val="6E7680"/>
                </a:solidFill>
                <a:latin typeface="Calibri" pitchFamily="34" charset="0"/>
                <a:ea typeface="Calibri" pitchFamily="34" charset="-122"/>
                <a:cs typeface="Calibri" pitchFamily="34" charset="-120"/>
              </a:rPr>
              <a:t>An alert fires on the sync. Someone opens seven different tools and checks each by hand.</a:t>
            </a:r>
            <a:endParaRPr lang="en-US" sz="1500" dirty="0"/>
          </a:p>
        </p:txBody>
      </p:sp>
      <p:sp>
        <p:nvSpPr>
          <p:cNvPr id="5" name="dot0"/>
          <p:cNvSpPr/>
          <p:nvPr/>
        </p:nvSpPr>
        <p:spPr>
          <a:xfrm>
            <a:off x="822960" y="2226564"/>
            <a:ext cx="118872" cy="118872"/>
          </a:xfrm>
          <a:prstGeom prst="ellipse">
            <a:avLst/>
          </a:prstGeom>
          <a:solidFill>
            <a:srgbClr val="D8DBDF"/>
          </a:solidFill>
          <a:ln w="12700">
            <a:solidFill>
              <a:srgbClr val="333333"/>
            </a:solidFill>
            <a:prstDash val="solid"/>
          </a:ln>
        </p:spPr>
      </p:sp>
      <p:sp>
        <p:nvSpPr>
          <p:cNvPr id="6" name="Text 4"/>
          <p:cNvSpPr txBox="1"/>
          <p:nvPr/>
        </p:nvSpPr>
        <p:spPr>
          <a:xfrm>
            <a:off x="1097280" y="2148840"/>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Windows Service health</a:t>
            </a:r>
            <a:endParaRPr lang="en-US" sz="1400" dirty="0"/>
          </a:p>
        </p:txBody>
      </p:sp>
      <p:sp>
        <p:nvSpPr>
          <p:cNvPr id="7" name="dot1"/>
          <p:cNvSpPr/>
          <p:nvPr/>
        </p:nvSpPr>
        <p:spPr>
          <a:xfrm>
            <a:off x="822960" y="2702052"/>
            <a:ext cx="118872" cy="118872"/>
          </a:xfrm>
          <a:prstGeom prst="ellipse">
            <a:avLst/>
          </a:prstGeom>
          <a:solidFill>
            <a:srgbClr val="D8DBDF"/>
          </a:solidFill>
          <a:ln w="12700">
            <a:solidFill>
              <a:srgbClr val="333333"/>
            </a:solidFill>
            <a:prstDash val="solid"/>
          </a:ln>
        </p:spPr>
      </p:sp>
      <p:sp>
        <p:nvSpPr>
          <p:cNvPr id="8" name="Text 6"/>
          <p:cNvSpPr txBox="1"/>
          <p:nvPr/>
        </p:nvSpPr>
        <p:spPr>
          <a:xfrm>
            <a:off x="1097280" y="2624328"/>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Aldavar DB connectivity</a:t>
            </a:r>
            <a:endParaRPr lang="en-US" sz="1400" dirty="0"/>
          </a:p>
        </p:txBody>
      </p:sp>
      <p:sp>
        <p:nvSpPr>
          <p:cNvPr id="9" name="dot2"/>
          <p:cNvSpPr/>
          <p:nvPr/>
        </p:nvSpPr>
        <p:spPr>
          <a:xfrm>
            <a:off x="822960" y="3177540"/>
            <a:ext cx="118872" cy="118872"/>
          </a:xfrm>
          <a:prstGeom prst="ellipse">
            <a:avLst/>
          </a:prstGeom>
          <a:solidFill>
            <a:srgbClr val="D8DBDF"/>
          </a:solidFill>
          <a:ln w="12700">
            <a:solidFill>
              <a:srgbClr val="333333"/>
            </a:solidFill>
            <a:prstDash val="solid"/>
          </a:ln>
        </p:spPr>
      </p:sp>
      <p:sp>
        <p:nvSpPr>
          <p:cNvPr id="10" name="Text 8"/>
          <p:cNvSpPr txBox="1"/>
          <p:nvPr/>
        </p:nvSpPr>
        <p:spPr>
          <a:xfrm>
            <a:off x="1097280" y="3099816"/>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Database views</a:t>
            </a:r>
            <a:endParaRPr lang="en-US" sz="1400" dirty="0"/>
          </a:p>
        </p:txBody>
      </p:sp>
      <p:sp>
        <p:nvSpPr>
          <p:cNvPr id="11" name="dot3"/>
          <p:cNvSpPr/>
          <p:nvPr/>
        </p:nvSpPr>
        <p:spPr>
          <a:xfrm>
            <a:off x="822960" y="3653028"/>
            <a:ext cx="118872" cy="118872"/>
          </a:xfrm>
          <a:prstGeom prst="ellipse">
            <a:avLst/>
          </a:prstGeom>
          <a:solidFill>
            <a:srgbClr val="D8DBDF"/>
          </a:solidFill>
          <a:ln w="12700">
            <a:solidFill>
              <a:srgbClr val="333333"/>
            </a:solidFill>
            <a:prstDash val="solid"/>
          </a:ln>
        </p:spPr>
      </p:sp>
      <p:sp>
        <p:nvSpPr>
          <p:cNvPr id="12" name="Text 10"/>
          <p:cNvSpPr txBox="1"/>
          <p:nvPr/>
        </p:nvSpPr>
        <p:spPr>
          <a:xfrm>
            <a:off x="1097280" y="3575304"/>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Galileo availability</a:t>
            </a:r>
            <a:endParaRPr lang="en-US" sz="1400" dirty="0"/>
          </a:p>
        </p:txBody>
      </p:sp>
      <p:sp>
        <p:nvSpPr>
          <p:cNvPr id="13" name="dot4"/>
          <p:cNvSpPr/>
          <p:nvPr/>
        </p:nvSpPr>
        <p:spPr>
          <a:xfrm>
            <a:off x="4069080" y="2226564"/>
            <a:ext cx="118872" cy="118872"/>
          </a:xfrm>
          <a:prstGeom prst="ellipse">
            <a:avLst/>
          </a:prstGeom>
          <a:solidFill>
            <a:srgbClr val="D8DBDF"/>
          </a:solidFill>
          <a:ln w="12700">
            <a:solidFill>
              <a:srgbClr val="333333"/>
            </a:solidFill>
            <a:prstDash val="solid"/>
          </a:ln>
        </p:spPr>
      </p:sp>
      <p:sp>
        <p:nvSpPr>
          <p:cNvPr id="14" name="Text 12"/>
          <p:cNvSpPr txBox="1"/>
          <p:nvPr/>
        </p:nvSpPr>
        <p:spPr>
          <a:xfrm>
            <a:off x="4343400" y="2148840"/>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ALD SAT endpoints</a:t>
            </a:r>
            <a:endParaRPr lang="en-US" sz="1400" dirty="0"/>
          </a:p>
        </p:txBody>
      </p:sp>
      <p:sp>
        <p:nvSpPr>
          <p:cNvPr id="15" name="dot5"/>
          <p:cNvSpPr/>
          <p:nvPr/>
        </p:nvSpPr>
        <p:spPr>
          <a:xfrm>
            <a:off x="4069080" y="2702052"/>
            <a:ext cx="118872" cy="118872"/>
          </a:xfrm>
          <a:prstGeom prst="ellipse">
            <a:avLst/>
          </a:prstGeom>
          <a:solidFill>
            <a:srgbClr val="D8DBDF"/>
          </a:solidFill>
          <a:ln w="12700">
            <a:solidFill>
              <a:srgbClr val="333333"/>
            </a:solidFill>
            <a:prstDash val="solid"/>
          </a:ln>
        </p:spPr>
      </p:sp>
      <p:sp>
        <p:nvSpPr>
          <p:cNvPr id="16" name="Text 14"/>
          <p:cNvSpPr txBox="1"/>
          <p:nvPr/>
        </p:nvSpPr>
        <p:spPr>
          <a:xfrm>
            <a:off x="4343400" y="2624328"/>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Network connectivity</a:t>
            </a:r>
            <a:endParaRPr lang="en-US" sz="1400" dirty="0"/>
          </a:p>
        </p:txBody>
      </p:sp>
      <p:sp>
        <p:nvSpPr>
          <p:cNvPr id="17" name="dot6"/>
          <p:cNvSpPr/>
          <p:nvPr/>
        </p:nvSpPr>
        <p:spPr>
          <a:xfrm>
            <a:off x="4069080" y="3177540"/>
            <a:ext cx="118872" cy="118872"/>
          </a:xfrm>
          <a:prstGeom prst="ellipse">
            <a:avLst/>
          </a:prstGeom>
          <a:solidFill>
            <a:srgbClr val="D8DBDF"/>
          </a:solidFill>
          <a:ln w="12700">
            <a:solidFill>
              <a:srgbClr val="333333"/>
            </a:solidFill>
            <a:prstDash val="solid"/>
          </a:ln>
        </p:spPr>
      </p:sp>
      <p:sp>
        <p:nvSpPr>
          <p:cNvPr id="18" name="Text 16"/>
          <p:cNvSpPr txBox="1"/>
          <p:nvPr/>
        </p:nvSpPr>
        <p:spPr>
          <a:xfrm>
            <a:off x="4343400" y="3099816"/>
            <a:ext cx="2834640" cy="310896"/>
          </a:xfrm>
          <a:prstGeom prst="rect">
            <a:avLst/>
          </a:prstGeom>
          <a:noFill/>
          <a:ln/>
        </p:spPr>
        <p:txBody>
          <a:bodyPr wrap="square" lIns="0" tIns="0" rIns="0" bIns="0" rtlCol="0" anchor="ctr"/>
          <a:lstStyle/>
          <a:p>
            <a:pPr indent="0" marL="0">
              <a:buNone/>
            </a:pPr>
            <a:r>
              <a:rPr lang="en-US" sz="1400" dirty="0">
                <a:solidFill>
                  <a:srgbClr val="15181C"/>
                </a:solidFill>
                <a:latin typeface="Calibri" pitchFamily="34" charset="0"/>
                <a:ea typeface="Calibri" pitchFamily="34" charset="-122"/>
                <a:cs typeface="Calibri" pitchFamily="34" charset="-120"/>
              </a:rPr>
              <a:t>Application logs</a:t>
            </a:r>
            <a:endParaRPr lang="en-US" sz="1400" dirty="0"/>
          </a:p>
        </p:txBody>
      </p:sp>
      <p:sp>
        <p:nvSpPr>
          <p:cNvPr id="19" name="deadEndCard"/>
          <p:cNvSpPr/>
          <p:nvPr/>
        </p:nvSpPr>
        <p:spPr>
          <a:xfrm>
            <a:off x="7315200" y="2011680"/>
            <a:ext cx="4053535" cy="2286000"/>
          </a:xfrm>
          <a:prstGeom prst="rect">
            <a:avLst/>
          </a:prstGeom>
          <a:solidFill>
            <a:srgbClr val="F3F3F1"/>
          </a:solidFill>
          <a:ln w="12700">
            <a:solidFill>
              <a:srgbClr val="333333"/>
            </a:solidFill>
            <a:prstDash val="solid"/>
          </a:ln>
        </p:spPr>
      </p:sp>
      <p:sp>
        <p:nvSpPr>
          <p:cNvPr id="20" name="Text 18"/>
          <p:cNvSpPr txBox="1"/>
          <p:nvPr/>
        </p:nvSpPr>
        <p:spPr>
          <a:xfrm>
            <a:off x="7699248" y="2304288"/>
            <a:ext cx="3383280" cy="219456"/>
          </a:xfrm>
          <a:prstGeom prst="rect">
            <a:avLst/>
          </a:prstGeom>
          <a:noFill/>
          <a:ln/>
        </p:spPr>
        <p:txBody>
          <a:bodyPr wrap="square" lIns="0" tIns="0" rIns="0" bIns="0" rtlCol="0" anchor="ctr"/>
          <a:lstStyle/>
          <a:p>
            <a:pPr indent="0" marL="0">
              <a:buNone/>
            </a:pPr>
            <a:r>
              <a:rPr lang="en-US" sz="1000" b="1" spc="200" kern="0" dirty="0">
                <a:solidFill>
                  <a:srgbClr val="B4472E"/>
                </a:solidFill>
                <a:latin typeface="Calibri" pitchFamily="34" charset="0"/>
                <a:ea typeface="Calibri" pitchFamily="34" charset="-122"/>
                <a:cs typeface="Calibri" pitchFamily="34" charset="-120"/>
              </a:rPr>
              <a:t>WHERE IT ENDS</a:t>
            </a:r>
            <a:endParaRPr lang="en-US" sz="1000" dirty="0"/>
          </a:p>
        </p:txBody>
      </p:sp>
      <p:sp>
        <p:nvSpPr>
          <p:cNvPr id="21" name="Text 19"/>
          <p:cNvSpPr txBox="1"/>
          <p:nvPr/>
        </p:nvSpPr>
        <p:spPr>
          <a:xfrm>
            <a:off x="7699248" y="2633472"/>
            <a:ext cx="3383280" cy="658368"/>
          </a:xfrm>
          <a:prstGeom prst="rect">
            <a:avLst/>
          </a:prstGeom>
          <a:noFill/>
          <a:ln/>
        </p:spPr>
        <p:txBody>
          <a:bodyPr wrap="square" lIns="0" tIns="0" rIns="0" bIns="0" rtlCol="0" anchor="ctr"/>
          <a:lstStyle/>
          <a:p>
            <a:pPr indent="0" marL="0">
              <a:buNone/>
            </a:pPr>
            <a:r>
              <a:rPr lang="en-US" sz="1700" i="1" dirty="0">
                <a:solidFill>
                  <a:srgbClr val="15181C"/>
                </a:solidFill>
                <a:latin typeface="Cambria" pitchFamily="34" charset="0"/>
                <a:ea typeface="Cambria" pitchFamily="34" charset="-122"/>
                <a:cs typeface="Cambria" pitchFamily="34" charset="-120"/>
              </a:rPr>
              <a:t>“Galileo reachable. DB fine. Service running.”</a:t>
            </a:r>
            <a:endParaRPr lang="en-US" sz="1700" dirty="0"/>
          </a:p>
        </p:txBody>
      </p:sp>
      <p:sp>
        <p:nvSpPr>
          <p:cNvPr id="22" name="Text 20"/>
          <p:cNvSpPr txBox="1"/>
          <p:nvPr/>
        </p:nvSpPr>
        <p:spPr>
          <a:xfrm>
            <a:off x="7699248" y="3364992"/>
            <a:ext cx="3383280" cy="777240"/>
          </a:xfrm>
          <a:prstGeom prst="rect">
            <a:avLst/>
          </a:prstGeom>
          <a:noFill/>
          <a:ln/>
        </p:spPr>
        <p:txBody>
          <a:bodyPr wrap="square" lIns="0" tIns="0" rIns="0" bIns="0" rtlCol="0" anchor="ctr"/>
          <a:lstStyle/>
          <a:p>
            <a:pPr indent="0" marL="0">
              <a:buNone/>
            </a:pPr>
            <a:r>
              <a:rPr lang="en-US" sz="1300" dirty="0">
                <a:solidFill>
                  <a:srgbClr val="6E7680"/>
                </a:solidFill>
                <a:latin typeface="Calibri" pitchFamily="34" charset="0"/>
                <a:ea typeface="Calibri" pitchFamily="34" charset="-122"/>
                <a:cs typeface="Calibri" pitchFamily="34" charset="-120"/>
              </a:rPr>
              <a:t>Every check passes. The sync is still broken. The checklist has nothing left to say.</a:t>
            </a:r>
            <a:endParaRPr lang="en-US" sz="1300" dirty="0"/>
          </a:p>
        </p:txBody>
      </p:sp>
      <p:sp>
        <p:nvSpPr>
          <p:cNvPr id="23" name="Shape 21"/>
          <p:cNvSpPr/>
          <p:nvPr/>
        </p:nvSpPr>
        <p:spPr>
          <a:xfrm>
            <a:off x="822960" y="4828032"/>
            <a:ext cx="10545775" cy="10973"/>
          </a:xfrm>
          <a:prstGeom prst="rect">
            <a:avLst/>
          </a:prstGeom>
          <a:solidFill>
            <a:srgbClr val="DCDEE2"/>
          </a:solidFill>
          <a:ln w="12700">
            <a:solidFill>
              <a:srgbClr val="DCDEE2"/>
            </a:solidFill>
            <a:prstDash val="solid"/>
          </a:ln>
        </p:spPr>
      </p:sp>
      <p:sp>
        <p:nvSpPr>
          <p:cNvPr id="24" name="Text 22"/>
          <p:cNvSpPr txBox="1"/>
          <p:nvPr/>
        </p:nvSpPr>
        <p:spPr>
          <a:xfrm>
            <a:off x="822960" y="5029200"/>
            <a:ext cx="10545775" cy="365760"/>
          </a:xfrm>
          <a:prstGeom prst="rect">
            <a:avLst/>
          </a:prstGeom>
          <a:noFill/>
          <a:ln/>
        </p:spPr>
        <p:txBody>
          <a:bodyPr wrap="square" lIns="0" tIns="0" rIns="0" bIns="0" rtlCol="0" anchor="ctr"/>
          <a:lstStyle/>
          <a:p>
            <a:pPr indent="0" marL="0">
              <a:buNone/>
            </a:pPr>
            <a:r>
              <a:rPr lang="en-US" sz="1400" b="1" dirty="0">
                <a:solidFill>
                  <a:srgbClr val="15181C"/>
                </a:solidFill>
                <a:latin typeface="Calibri" pitchFamily="34" charset="0"/>
                <a:ea typeface="Calibri" pitchFamily="34" charset="-122"/>
                <a:cs typeface="Calibri" pitchFamily="34" charset="-120"/>
              </a:rPr>
              <a:t>Days of engineer time per incident</a:t>
            </a:r>
            <a:pPr indent="0" marL="0">
              <a:buNone/>
            </a:pPr>
            <a:r>
              <a:rPr lang="en-US" sz="1400" dirty="0">
                <a:solidFill>
                  <a:srgbClr val="6E7680"/>
                </a:solidFill>
                <a:latin typeface="Calibri" pitchFamily="34" charset="0"/>
                <a:ea typeface="Calibri" pitchFamily="34" charset="-122"/>
                <a:cs typeface="Calibri" pitchFamily="34" charset="-120"/>
              </a:rPr>
              <a:t>   —   and the cause is often never found, only worked around.</a:t>
            </a:r>
            <a:endParaRPr lang="en-US" sz="14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274320"/>
            <a:ext cx="10545775" cy="237744"/>
          </a:xfrm>
          <a:prstGeom prst="rect">
            <a:avLst/>
          </a:prstGeom>
          <a:noFill/>
          <a:ln/>
        </p:spPr>
        <p:txBody>
          <a:bodyPr wrap="square" lIns="0" tIns="0" rIns="0" bIns="0" rtlCol="0" anchor="ctr"/>
          <a:lstStyle/>
          <a:p>
            <a:pPr indent="0" marL="0">
              <a:buNone/>
            </a:pPr>
            <a:r>
              <a:rPr lang="en-US" sz="1050" b="1" spc="220" kern="0" dirty="0">
                <a:solidFill>
                  <a:srgbClr val="6E7680"/>
                </a:solidFill>
                <a:latin typeface="Calibri" pitchFamily="34" charset="0"/>
                <a:ea typeface="Calibri" pitchFamily="34" charset="-122"/>
                <a:cs typeface="Calibri" pitchFamily="34" charset="-120"/>
              </a:rPr>
              <a:t>THE CASE WE BUILT IT ON</a:t>
            </a:r>
            <a:endParaRPr lang="en-US" sz="1050" dirty="0"/>
          </a:p>
        </p:txBody>
      </p:sp>
      <p:sp>
        <p:nvSpPr>
          <p:cNvPr id="3" name="Text 0"/>
          <p:cNvSpPr/>
          <p:nvPr>
            <p:ph idx="100" type="title" hasCustomPrompt="1"/>
          </p:nvPr>
        </p:nvSpPr>
        <p:spPr>
          <a:xfrm>
            <a:off x="822960" y="566928"/>
            <a:ext cx="10545775" cy="822960"/>
          </a:xfrm>
          <a:prstGeom prst="rect">
            <a:avLst/>
          </a:prstGeom>
          <a:noFill/>
          <a:ln/>
        </p:spPr>
        <p:txBody>
          <a:bodyPr wrap="square" lIns="0" tIns="0" rIns="0" bIns="0" rtlCol="0" anchor="ctr"/>
          <a:lstStyle/>
          <a:p>
            <a:pPr algn="l" indent="0" marL="0">
              <a:buNone/>
            </a:pPr>
            <a:r>
              <a:rPr lang="en-US" sz="3800" dirty="0">
                <a:solidFill>
                  <a:srgbClr val="15181C"/>
                </a:solidFill>
                <a:latin typeface="Cambria" pitchFamily="34" charset="0"/>
                <a:ea typeface="Cambria" pitchFamily="34" charset="-122"/>
                <a:cs typeface="Cambria" pitchFamily="34" charset="-120"/>
              </a:rPr>
              <a:t>18 August 2026</a:t>
            </a:r>
            <a:endParaRPr lang="en-US" sz="3800" dirty="0"/>
          </a:p>
        </p:txBody>
      </p:sp>
      <p:sp>
        <p:nvSpPr>
          <p:cNvPr id="4" name="Text 2"/>
          <p:cNvSpPr txBox="1"/>
          <p:nvPr/>
        </p:nvSpPr>
        <p:spPr>
          <a:xfrm>
            <a:off x="822960" y="1481328"/>
            <a:ext cx="9052560" cy="402336"/>
          </a:xfrm>
          <a:prstGeom prst="rect">
            <a:avLst/>
          </a:prstGeom>
          <a:noFill/>
          <a:ln/>
        </p:spPr>
        <p:txBody>
          <a:bodyPr wrap="square" lIns="0" tIns="0" rIns="0" bIns="0" rtlCol="0" anchor="ctr"/>
          <a:lstStyle/>
          <a:p>
            <a:pPr indent="0" marL="0">
              <a:buNone/>
            </a:pPr>
            <a:r>
              <a:rPr lang="en-US" sz="1500" dirty="0">
                <a:solidFill>
                  <a:srgbClr val="6E7680"/>
                </a:solidFill>
                <a:latin typeface="Calibri" pitchFamily="34" charset="0"/>
                <a:ea typeface="Calibri" pitchFamily="34" charset="-122"/>
                <a:cs typeface="Calibri" pitchFamily="34" charset="-120"/>
              </a:rPr>
              <a:t>Small batches succeeded all day. Every large batch died at the same moment.</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57400"/>
          <a:ext cx="5029200" cy="914400"/>
        </p:xfrm>
        <a:graphic>
          <a:graphicData uri="http://schemas.openxmlformats.org/drawingml/2006/table">
            <a:tbl>
              <a:tblPr/>
              <a:tblGrid>
                <a:gridCol w="1097280"/>
                <a:gridCol w="1280160"/>
                <a:gridCol w="1371600"/>
                <a:gridCol w="1280160"/>
              </a:tblGrid>
              <a:tr h="310896">
                <a:tc>
                  <a:txBody>
                    <a:bodyPr/>
                    <a:lstStyle/>
                    <a:p>
                      <a:pPr indent="0" marL="0">
                        <a:buNone/>
                      </a:pPr>
                      <a:r>
                        <a:rPr lang="en-US" sz="1000" b="1" spc="140" kern="0" dirty="0">
                          <a:solidFill>
                            <a:srgbClr val="6E7680"/>
                          </a:solidFill>
                        </a:rPr>
                        <a:t>TIME</a:t>
                      </a:r>
                      <a:endParaRPr lang="en-US" sz="1000" dirty="0"/>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000" b="1" spc="140" kern="0" dirty="0">
                          <a:solidFill>
                            <a:srgbClr val="6E7680"/>
                          </a:solidFill>
                        </a:rPr>
                        <a:t>RECORDS</a:t>
                      </a:r>
                      <a:endParaRPr lang="en-US" sz="1000" dirty="0"/>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000" b="1" spc="140" kern="0" dirty="0">
                          <a:solidFill>
                            <a:srgbClr val="6E7680"/>
                          </a:solidFill>
                        </a:rPr>
                        <a:t>OUTCOME</a:t>
                      </a:r>
                      <a:endParaRPr lang="en-US" sz="1000" dirty="0"/>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000" b="1" spc="140" kern="0" dirty="0">
                          <a:solidFill>
                            <a:srgbClr val="6E7680"/>
                          </a:solidFill>
                        </a:rPr>
                        <a:t>ELAPSED</a:t>
                      </a:r>
                      <a:endParaRPr lang="en-US" sz="1000" dirty="0"/>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r h="310896">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08:46</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2</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200 OK</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1 s</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r h="310896">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11:03</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39</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200 OK</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6E7680"/>
                          </a:solidFill>
                          <a:latin typeface="Courier New" pitchFamily="34" charset="0"/>
                          <a:ea typeface="Courier New" pitchFamily="34" charset="-122"/>
                          <a:cs typeface="Courier New" pitchFamily="34" charset="-120"/>
                        </a:rPr>
                        <a:t>7 s</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r h="310896">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11:20</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539</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B4472E"/>
                          </a:solidFill>
                          <a:latin typeface="Courier New" pitchFamily="34" charset="0"/>
                          <a:ea typeface="Courier New" pitchFamily="34" charset="-122"/>
                          <a:cs typeface="Courier New" pitchFamily="34" charset="-120"/>
                        </a:rPr>
                        <a:t>FAILED</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b="1" dirty="0">
                          <a:solidFill>
                            <a:srgbClr val="B4472E"/>
                          </a:solidFill>
                          <a:latin typeface="Courier New" pitchFamily="34" charset="0"/>
                          <a:ea typeface="Courier New" pitchFamily="34" charset="-122"/>
                          <a:cs typeface="Courier New" pitchFamily="34" charset="-120"/>
                        </a:rPr>
                        <a:t>62 s</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r h="310896">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11:21</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545</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B4472E"/>
                          </a:solidFill>
                          <a:latin typeface="Courier New" pitchFamily="34" charset="0"/>
                          <a:ea typeface="Courier New" pitchFamily="34" charset="-122"/>
                          <a:cs typeface="Courier New" pitchFamily="34" charset="-120"/>
                        </a:rPr>
                        <a:t>FAILED</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b="1" dirty="0">
                          <a:solidFill>
                            <a:srgbClr val="B4472E"/>
                          </a:solidFill>
                          <a:latin typeface="Courier New" pitchFamily="34" charset="0"/>
                          <a:ea typeface="Courier New" pitchFamily="34" charset="-122"/>
                          <a:cs typeface="Courier New" pitchFamily="34" charset="-120"/>
                        </a:rPr>
                        <a:t>61 s</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r h="310896">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11:23</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15181C"/>
                          </a:solidFill>
                          <a:latin typeface="Courier New" pitchFamily="34" charset="0"/>
                          <a:ea typeface="Courier New" pitchFamily="34" charset="-122"/>
                          <a:cs typeface="Courier New" pitchFamily="34" charset="-120"/>
                        </a:rPr>
                        <a:t>537</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dirty="0">
                          <a:solidFill>
                            <a:srgbClr val="B4472E"/>
                          </a:solidFill>
                          <a:latin typeface="Courier New" pitchFamily="34" charset="0"/>
                          <a:ea typeface="Courier New" pitchFamily="34" charset="-122"/>
                          <a:cs typeface="Courier New" pitchFamily="34" charset="-120"/>
                        </a:rPr>
                        <a:t>FAILED</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c>
                  <a:txBody>
                    <a:bodyPr/>
                    <a:lstStyle/>
                    <a:p>
                      <a:pPr indent="0" marL="0">
                        <a:buNone/>
                      </a:pPr>
                      <a:r>
                        <a:rPr lang="en-US" sz="1250" b="1" dirty="0">
                          <a:solidFill>
                            <a:srgbClr val="B4472E"/>
                          </a:solidFill>
                          <a:latin typeface="Courier New" pitchFamily="34" charset="0"/>
                          <a:ea typeface="Courier New" pitchFamily="34" charset="-122"/>
                          <a:cs typeface="Courier New" pitchFamily="34" charset="-120"/>
                        </a:rPr>
                        <a:t>60 s</a:t>
                      </a:r>
                      <a:endParaRPr lang="en-US" sz="1250" dirty="0">
                        <a:latin typeface="Courier New" charset="0"/>
                        <a:ea typeface="Courier New" charset="0"/>
                        <a:cs typeface="Courier New" charset="0"/>
                      </a:endParaRPr>
                    </a:p>
                  </a:txBody>
                  <a:tcPr marL="0" marR="76200" marT="25400" marB="25400" anchor="ctr">
                    <a:lnL w="0" cap="flat" cmpd="sng" algn="ctr">
                      <a:noFill/>
                    </a:lnL>
                    <a:lnR w="0" cap="flat" cmpd="sng" algn="ctr">
                      <a:noFill/>
                    </a:lnR>
                    <a:lnT w="0" cap="flat" cmpd="sng" algn="ctr">
                      <a:noFill/>
                    </a:lnT>
                    <a:lnB w="12700" cap="flat" cmpd="sng" algn="ctr">
                      <a:solidFill>
                        <a:srgbClr val="ECEDEF"/>
                      </a:solidFill>
                      <a:prstDash val="solid"/>
                      <a:round/>
                      <a:headEnd type="none" w="med" len="med"/>
                      <a:tailEnd type="none" w="med" len="med"/>
                    </a:lnB>
                  </a:tcPr>
                </a:tc>
              </a:tr>
            </a:tbl>
          </a:graphicData>
        </a:graphic>
      </p:graphicFrame>
      <p:sp>
        <p:nvSpPr>
          <p:cNvPr id="6" name="mathCard"/>
          <p:cNvSpPr/>
          <p:nvPr/>
        </p:nvSpPr>
        <p:spPr>
          <a:xfrm>
            <a:off x="6446520" y="1920240"/>
            <a:ext cx="4922215" cy="2697480"/>
          </a:xfrm>
          <a:prstGeom prst="rect">
            <a:avLst/>
          </a:prstGeom>
          <a:solidFill>
            <a:srgbClr val="F3F3F1"/>
          </a:solidFill>
          <a:ln w="12700">
            <a:solidFill>
              <a:srgbClr val="333333"/>
            </a:solidFill>
            <a:prstDash val="solid"/>
          </a:ln>
        </p:spPr>
      </p:sp>
      <p:sp>
        <p:nvSpPr>
          <p:cNvPr id="7" name="Text 4"/>
          <p:cNvSpPr txBox="1"/>
          <p:nvPr/>
        </p:nvSpPr>
        <p:spPr>
          <a:xfrm>
            <a:off x="6830568" y="2212848"/>
            <a:ext cx="4206240" cy="219456"/>
          </a:xfrm>
          <a:prstGeom prst="rect">
            <a:avLst/>
          </a:prstGeom>
          <a:noFill/>
          <a:ln/>
        </p:spPr>
        <p:txBody>
          <a:bodyPr wrap="square" lIns="0" tIns="0" rIns="0" bIns="0" rtlCol="0" anchor="ctr"/>
          <a:lstStyle/>
          <a:p>
            <a:pPr indent="0" marL="0">
              <a:buNone/>
            </a:pPr>
            <a:r>
              <a:rPr lang="en-US" sz="1000" b="1" spc="200" kern="0" dirty="0">
                <a:solidFill>
                  <a:srgbClr val="B4472E"/>
                </a:solidFill>
                <a:latin typeface="Calibri" pitchFamily="34" charset="0"/>
                <a:ea typeface="Calibri" pitchFamily="34" charset="-122"/>
                <a:cs typeface="Calibri" pitchFamily="34" charset="-120"/>
              </a:rPr>
              <a:t>THE ARITHMETIC NOBODY DID</a:t>
            </a:r>
            <a:endParaRPr lang="en-US" sz="1000" dirty="0"/>
          </a:p>
        </p:txBody>
      </p:sp>
      <p:sp>
        <p:nvSpPr>
          <p:cNvPr id="8" name="Text 5"/>
          <p:cNvSpPr txBox="1"/>
          <p:nvPr/>
        </p:nvSpPr>
        <p:spPr>
          <a:xfrm>
            <a:off x="6830568" y="2578608"/>
            <a:ext cx="4206240" cy="274320"/>
          </a:xfrm>
          <a:prstGeom prst="rect">
            <a:avLst/>
          </a:prstGeom>
          <a:noFill/>
          <a:ln/>
        </p:spPr>
        <p:txBody>
          <a:bodyPr wrap="square" lIns="0" tIns="0" rIns="0" bIns="0" rtlCol="0" anchor="ctr"/>
          <a:lstStyle/>
          <a:p>
            <a:pPr indent="0" marL="0">
              <a:buNone/>
            </a:pPr>
            <a:r>
              <a:rPr lang="en-US" sz="1350" dirty="0">
                <a:solidFill>
                  <a:srgbClr val="15181C"/>
                </a:solidFill>
                <a:latin typeface="Courier New" pitchFamily="34" charset="0"/>
                <a:ea typeface="Courier New" pitchFamily="34" charset="-122"/>
                <a:cs typeface="Courier New" pitchFamily="34" charset="-120"/>
              </a:rPr>
              <a:t>39 records in 7 s</a:t>
            </a:r>
            <a:pPr indent="0" marL="0">
              <a:buNone/>
            </a:pPr>
            <a:r>
              <a:rPr lang="en-US" sz="1350" dirty="0">
                <a:solidFill>
                  <a:srgbClr val="6E7680"/>
                </a:solidFill>
                <a:latin typeface="Courier New" pitchFamily="34" charset="0"/>
                <a:ea typeface="Courier New" pitchFamily="34" charset="-122"/>
                <a:cs typeface="Courier New" pitchFamily="34" charset="-120"/>
              </a:rPr>
              <a:t>  =  0.179 s per record</a:t>
            </a:r>
            <a:endParaRPr lang="en-US" sz="1350" dirty="0"/>
          </a:p>
        </p:txBody>
      </p:sp>
      <p:sp>
        <p:nvSpPr>
          <p:cNvPr id="9" name="Text 6"/>
          <p:cNvSpPr txBox="1"/>
          <p:nvPr/>
        </p:nvSpPr>
        <p:spPr>
          <a:xfrm>
            <a:off x="6830568" y="2907792"/>
            <a:ext cx="4206240" cy="274320"/>
          </a:xfrm>
          <a:prstGeom prst="rect">
            <a:avLst/>
          </a:prstGeom>
          <a:noFill/>
          <a:ln/>
        </p:spPr>
        <p:txBody>
          <a:bodyPr wrap="square" lIns="0" tIns="0" rIns="0" bIns="0" rtlCol="0" anchor="ctr"/>
          <a:lstStyle/>
          <a:p>
            <a:pPr indent="0" marL="0">
              <a:buNone/>
            </a:pPr>
            <a:r>
              <a:rPr lang="en-US" sz="1350" dirty="0">
                <a:solidFill>
                  <a:srgbClr val="15181C"/>
                </a:solidFill>
                <a:latin typeface="Courier New" pitchFamily="34" charset="0"/>
                <a:ea typeface="Courier New" pitchFamily="34" charset="-122"/>
                <a:cs typeface="Courier New" pitchFamily="34" charset="-120"/>
              </a:rPr>
              <a:t>539 × 0.179</a:t>
            </a:r>
            <a:pPr indent="0" marL="0">
              <a:buNone/>
            </a:pPr>
            <a:r>
              <a:rPr lang="en-US" sz="1350" dirty="0">
                <a:solidFill>
                  <a:srgbClr val="6E7680"/>
                </a:solidFill>
                <a:latin typeface="Courier New" pitchFamily="34" charset="0"/>
                <a:ea typeface="Courier New" pitchFamily="34" charset="-122"/>
                <a:cs typeface="Courier New" pitchFamily="34" charset="-120"/>
              </a:rPr>
              <a:t>  =  97 s needed</a:t>
            </a:r>
            <a:endParaRPr lang="en-US" sz="1350" dirty="0"/>
          </a:p>
        </p:txBody>
      </p:sp>
      <p:sp>
        <p:nvSpPr>
          <p:cNvPr id="10" name="Shape 7"/>
          <p:cNvSpPr/>
          <p:nvPr/>
        </p:nvSpPr>
        <p:spPr>
          <a:xfrm>
            <a:off x="6830568" y="3310128"/>
            <a:ext cx="4206240" cy="10973"/>
          </a:xfrm>
          <a:prstGeom prst="rect">
            <a:avLst/>
          </a:prstGeom>
          <a:solidFill>
            <a:srgbClr val="D5D7DB"/>
          </a:solidFill>
          <a:ln w="12700">
            <a:solidFill>
              <a:srgbClr val="333333"/>
            </a:solidFill>
            <a:prstDash val="solid"/>
          </a:ln>
        </p:spPr>
      </p:sp>
      <p:sp>
        <p:nvSpPr>
          <p:cNvPr id="11" name="Text 8"/>
          <p:cNvSpPr txBox="1"/>
          <p:nvPr/>
        </p:nvSpPr>
        <p:spPr>
          <a:xfrm>
            <a:off x="6830568" y="3456432"/>
            <a:ext cx="4206240" cy="292608"/>
          </a:xfrm>
          <a:prstGeom prst="rect">
            <a:avLst/>
          </a:prstGeom>
          <a:noFill/>
          <a:ln/>
        </p:spPr>
        <p:txBody>
          <a:bodyPr wrap="square" lIns="0" tIns="0" rIns="0" bIns="0" rtlCol="0" anchor="ctr"/>
          <a:lstStyle/>
          <a:p>
            <a:pPr indent="0" marL="0">
              <a:buNone/>
            </a:pPr>
            <a:r>
              <a:rPr lang="en-US" sz="1600" b="1" dirty="0">
                <a:solidFill>
                  <a:srgbClr val="15181C"/>
                </a:solidFill>
                <a:latin typeface="Cambria" pitchFamily="34" charset="0"/>
                <a:ea typeface="Cambria" pitchFamily="34" charset="-122"/>
                <a:cs typeface="Cambria" pitchFamily="34" charset="-120"/>
              </a:rPr>
              <a:t>Cut at 60 s. Needed 97 s.</a:t>
            </a:r>
            <a:endParaRPr lang="en-US" sz="1600" dirty="0"/>
          </a:p>
        </p:txBody>
      </p:sp>
      <p:sp>
        <p:nvSpPr>
          <p:cNvPr id="12" name="Text 9"/>
          <p:cNvSpPr txBox="1"/>
          <p:nvPr/>
        </p:nvSpPr>
        <p:spPr>
          <a:xfrm>
            <a:off x="6830568" y="3803904"/>
            <a:ext cx="4206240" cy="658368"/>
          </a:xfrm>
          <a:prstGeom prst="rect">
            <a:avLst/>
          </a:prstGeom>
          <a:noFill/>
          <a:ln/>
        </p:spPr>
        <p:txBody>
          <a:bodyPr wrap="square" lIns="0" tIns="0" rIns="0" bIns="0" rtlCol="0" anchor="ctr"/>
          <a:lstStyle/>
          <a:p>
            <a:pPr indent="0" marL="0">
              <a:buNone/>
            </a:pPr>
            <a:r>
              <a:rPr lang="en-US" sz="1250" dirty="0">
                <a:solidFill>
                  <a:srgbClr val="6E7680"/>
                </a:solidFill>
                <a:latin typeface="Calibri" pitchFamily="34" charset="0"/>
                <a:ea typeface="Calibri" pitchFamily="34" charset="-122"/>
                <a:cs typeface="Calibri" pitchFamily="34" charset="-120"/>
              </a:rPr>
              <a:t>A round number below the time the work takes is a configured timeout on an intermediary — not a platform outage.</a:t>
            </a:r>
            <a:endParaRPr lang="en-US" sz="1250" dirty="0"/>
          </a:p>
        </p:txBody>
      </p:sp>
      <p:sp>
        <p:nvSpPr>
          <p:cNvPr id="13" name="Shape 10"/>
          <p:cNvSpPr/>
          <p:nvPr/>
        </p:nvSpPr>
        <p:spPr>
          <a:xfrm>
            <a:off x="822960" y="4983480"/>
            <a:ext cx="10545775" cy="10973"/>
          </a:xfrm>
          <a:prstGeom prst="rect">
            <a:avLst/>
          </a:prstGeom>
          <a:solidFill>
            <a:srgbClr val="DCDEE2"/>
          </a:solidFill>
          <a:ln w="12700">
            <a:solidFill>
              <a:srgbClr val="DCDEE2"/>
            </a:solidFill>
            <a:prstDash val="solid"/>
          </a:ln>
        </p:spPr>
      </p:sp>
      <p:sp>
        <p:nvSpPr>
          <p:cNvPr id="14" name="Text 11"/>
          <p:cNvSpPr txBox="1"/>
          <p:nvPr/>
        </p:nvSpPr>
        <p:spPr>
          <a:xfrm>
            <a:off x="822960" y="5175504"/>
            <a:ext cx="10545775" cy="457200"/>
          </a:xfrm>
          <a:prstGeom prst="rect">
            <a:avLst/>
          </a:prstGeom>
          <a:noFill/>
          <a:ln/>
        </p:spPr>
        <p:txBody>
          <a:bodyPr wrap="square" lIns="0" tIns="0" rIns="0" bIns="0" rtlCol="0" anchor="ctr"/>
          <a:lstStyle/>
          <a:p>
            <a:pPr indent="0" marL="0">
              <a:buNone/>
            </a:pPr>
            <a:r>
              <a:rPr lang="en-US" sz="1400" b="1" dirty="0">
                <a:solidFill>
                  <a:srgbClr val="15181C"/>
                </a:solidFill>
                <a:latin typeface="Calibri" pitchFamily="34" charset="0"/>
                <a:ea typeface="Calibri" pitchFamily="34" charset="-122"/>
                <a:cs typeface="Calibri" pitchFamily="34" charset="-120"/>
              </a:rPr>
              <a:t>Galileo was never down. </a:t>
            </a:r>
            <a:pPr indent="0" marL="0">
              <a:buNone/>
            </a:pPr>
            <a:r>
              <a:rPr lang="en-US" sz="1400" dirty="0">
                <a:solidFill>
                  <a:srgbClr val="6E7680"/>
                </a:solidFill>
                <a:latin typeface="Calibri" pitchFamily="34" charset="0"/>
                <a:ea typeface="Calibri" pitchFamily="34" charset="-122"/>
                <a:cs typeface="Calibri" pitchFamily="34" charset="-120"/>
              </a:rPr>
              <a:t>It answered small batches all day. The manual checklist could not see that, because no single console shows it.</a:t>
            </a:r>
            <a:endParaRPr lang="en-US" sz="14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74320"/>
            <a:ext cx="10545775" cy="237744"/>
          </a:xfrm>
          <a:prstGeom prst="rect">
            <a:avLst/>
          </a:prstGeom>
          <a:noFill/>
          <a:ln/>
        </p:spPr>
        <p:txBody>
          <a:bodyPr wrap="square" lIns="0" tIns="0" rIns="0" bIns="0" rtlCol="0" anchor="ctr"/>
          <a:lstStyle/>
          <a:p>
            <a:pPr indent="0" marL="0">
              <a:buNone/>
            </a:pPr>
            <a:r>
              <a:rPr lang="en-US" sz="1050" b="1" spc="220" kern="0" dirty="0">
                <a:solidFill>
                  <a:srgbClr val="6E7680"/>
                </a:solidFill>
                <a:latin typeface="Calibri" pitchFamily="34" charset="0"/>
                <a:ea typeface="Calibri" pitchFamily="34" charset="-122"/>
                <a:cs typeface="Calibri" pitchFamily="34" charset="-120"/>
              </a:rPr>
              <a:t>THE SOLUTION</a:t>
            </a:r>
            <a:endParaRPr lang="en-US" sz="1050" dirty="0"/>
          </a:p>
        </p:txBody>
      </p:sp>
      <p:sp>
        <p:nvSpPr>
          <p:cNvPr id="3" name="Text 0"/>
          <p:cNvSpPr/>
          <p:nvPr>
            <p:ph idx="100" type="title" hasCustomPrompt="1"/>
          </p:nvPr>
        </p:nvSpPr>
        <p:spPr>
          <a:xfrm>
            <a:off x="822960" y="566928"/>
            <a:ext cx="10545775" cy="822960"/>
          </a:xfrm>
          <a:prstGeom prst="rect">
            <a:avLst/>
          </a:prstGeom>
          <a:noFill/>
          <a:ln/>
        </p:spPr>
        <p:txBody>
          <a:bodyPr wrap="square" lIns="0" tIns="0" rIns="0" bIns="0" rtlCol="0" anchor="ctr"/>
          <a:lstStyle/>
          <a:p>
            <a:pPr algn="l" indent="0" marL="0">
              <a:buNone/>
            </a:pPr>
            <a:r>
              <a:rPr lang="en-US" sz="3800" dirty="0">
                <a:solidFill>
                  <a:srgbClr val="15181C"/>
                </a:solidFill>
                <a:latin typeface="Cambria" pitchFamily="34" charset="0"/>
                <a:ea typeface="Cambria" pitchFamily="34" charset="-122"/>
                <a:cs typeface="Cambria" pitchFamily="34" charset="-120"/>
              </a:rPr>
              <a:t>Paste the error. Get the whole answer</a:t>
            </a:r>
            <a:endParaRPr lang="en-US" sz="3800" dirty="0"/>
          </a:p>
        </p:txBody>
      </p:sp>
      <p:sp>
        <p:nvSpPr>
          <p:cNvPr id="4" name="Text 2"/>
          <p:cNvSpPr txBox="1"/>
          <p:nvPr/>
        </p:nvSpPr>
        <p:spPr>
          <a:xfrm>
            <a:off x="822960" y="1481328"/>
            <a:ext cx="8229600" cy="365760"/>
          </a:xfrm>
          <a:prstGeom prst="rect">
            <a:avLst/>
          </a:prstGeom>
          <a:noFill/>
          <a:ln/>
        </p:spPr>
        <p:txBody>
          <a:bodyPr wrap="square" lIns="0" tIns="0" rIns="0" bIns="0" rtlCol="0" anchor="ctr"/>
          <a:lstStyle/>
          <a:p>
            <a:pPr indent="0" marL="0">
              <a:buNone/>
            </a:pPr>
            <a:r>
              <a:rPr lang="en-US" sz="1500" dirty="0">
                <a:solidFill>
                  <a:srgbClr val="6E7680"/>
                </a:solidFill>
                <a:latin typeface="Calibri" pitchFamily="34" charset="0"/>
                <a:ea typeface="Calibri" pitchFamily="34" charset="-122"/>
                <a:cs typeface="Calibri" pitchFamily="34" charset="-120"/>
              </a:rPr>
              <a:t>One box. No consoles, no credentials, nothing to install on the systems being diagnosed.</a:t>
            </a:r>
            <a:endParaRPr lang="en-US" sz="1500" dirty="0"/>
          </a:p>
        </p:txBody>
      </p:sp>
      <p:sp>
        <p:nvSpPr>
          <p:cNvPr id="5" name="card0"/>
          <p:cNvSpPr/>
          <p:nvPr/>
        </p:nvSpPr>
        <p:spPr>
          <a:xfrm>
            <a:off x="822960" y="2103120"/>
            <a:ext cx="3291840" cy="1170432"/>
          </a:xfrm>
          <a:prstGeom prst="rect">
            <a:avLst/>
          </a:prstGeom>
          <a:solidFill>
            <a:srgbClr val="F3F3F1"/>
          </a:solidFill>
          <a:ln w="12700">
            <a:solidFill>
              <a:srgbClr val="333333"/>
            </a:solidFill>
            <a:prstDash val="solid"/>
          </a:ln>
        </p:spPr>
      </p:sp>
      <p:sp>
        <p:nvSpPr>
          <p:cNvPr id="6" name="Text 4"/>
          <p:cNvSpPr txBox="1"/>
          <p:nvPr/>
        </p:nvSpPr>
        <p:spPr>
          <a:xfrm>
            <a:off x="1115568" y="2286000"/>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01</a:t>
            </a:r>
            <a:endParaRPr lang="en-US" sz="1050" dirty="0"/>
          </a:p>
        </p:txBody>
      </p:sp>
      <p:sp>
        <p:nvSpPr>
          <p:cNvPr id="7" name="Text 5"/>
          <p:cNvSpPr txBox="1"/>
          <p:nvPr/>
        </p:nvSpPr>
        <p:spPr>
          <a:xfrm>
            <a:off x="1115568" y="2523744"/>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Root cause</a:t>
            </a:r>
            <a:endParaRPr lang="en-US" sz="1500" dirty="0"/>
          </a:p>
        </p:txBody>
      </p:sp>
      <p:sp>
        <p:nvSpPr>
          <p:cNvPr id="8" name="Text 6"/>
          <p:cNvSpPr txBox="1"/>
          <p:nvPr/>
        </p:nvSpPr>
        <p:spPr>
          <a:xfrm>
            <a:off x="1115568" y="2779776"/>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The failing layer, named — with the rule that decided it.</a:t>
            </a:r>
            <a:endParaRPr lang="en-US" sz="1150" dirty="0"/>
          </a:p>
        </p:txBody>
      </p:sp>
      <p:sp>
        <p:nvSpPr>
          <p:cNvPr id="9" name="card1"/>
          <p:cNvSpPr/>
          <p:nvPr/>
        </p:nvSpPr>
        <p:spPr>
          <a:xfrm>
            <a:off x="4416552" y="2103120"/>
            <a:ext cx="3291840" cy="1170432"/>
          </a:xfrm>
          <a:prstGeom prst="rect">
            <a:avLst/>
          </a:prstGeom>
          <a:solidFill>
            <a:srgbClr val="F3F3F1"/>
          </a:solidFill>
          <a:ln w="12700">
            <a:solidFill>
              <a:srgbClr val="333333"/>
            </a:solidFill>
            <a:prstDash val="solid"/>
          </a:ln>
        </p:spPr>
      </p:sp>
      <p:sp>
        <p:nvSpPr>
          <p:cNvPr id="10" name="Text 8"/>
          <p:cNvSpPr txBox="1"/>
          <p:nvPr/>
        </p:nvSpPr>
        <p:spPr>
          <a:xfrm>
            <a:off x="4709160" y="2286000"/>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02</a:t>
            </a:r>
            <a:endParaRPr lang="en-US" sz="1050" dirty="0"/>
          </a:p>
        </p:txBody>
      </p:sp>
      <p:sp>
        <p:nvSpPr>
          <p:cNvPr id="11" name="Text 9"/>
          <p:cNvSpPr txBox="1"/>
          <p:nvPr/>
        </p:nvSpPr>
        <p:spPr>
          <a:xfrm>
            <a:off x="4709160" y="2523744"/>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Confidence</a:t>
            </a:r>
            <a:endParaRPr lang="en-US" sz="1500" dirty="0"/>
          </a:p>
        </p:txBody>
      </p:sp>
      <p:sp>
        <p:nvSpPr>
          <p:cNvPr id="12" name="Text 10"/>
          <p:cNvSpPr txBox="1"/>
          <p:nvPr/>
        </p:nvSpPr>
        <p:spPr>
          <a:xfrm>
            <a:off x="4709160" y="2779776"/>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High, Medium or Inconclusive. Capped when we cannot see enough.</a:t>
            </a:r>
            <a:endParaRPr lang="en-US" sz="1150" dirty="0"/>
          </a:p>
        </p:txBody>
      </p:sp>
      <p:sp>
        <p:nvSpPr>
          <p:cNvPr id="13" name="card2"/>
          <p:cNvSpPr/>
          <p:nvPr/>
        </p:nvSpPr>
        <p:spPr>
          <a:xfrm>
            <a:off x="8010144" y="2103120"/>
            <a:ext cx="3291840" cy="1170432"/>
          </a:xfrm>
          <a:prstGeom prst="rect">
            <a:avLst/>
          </a:prstGeom>
          <a:solidFill>
            <a:srgbClr val="F3F3F1"/>
          </a:solidFill>
          <a:ln w="12700">
            <a:solidFill>
              <a:srgbClr val="333333"/>
            </a:solidFill>
            <a:prstDash val="solid"/>
          </a:ln>
        </p:spPr>
      </p:sp>
      <p:sp>
        <p:nvSpPr>
          <p:cNvPr id="14" name="Text 12"/>
          <p:cNvSpPr txBox="1"/>
          <p:nvPr/>
        </p:nvSpPr>
        <p:spPr>
          <a:xfrm>
            <a:off x="8302752" y="2286000"/>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03</a:t>
            </a:r>
            <a:endParaRPr lang="en-US" sz="1050" dirty="0"/>
          </a:p>
        </p:txBody>
      </p:sp>
      <p:sp>
        <p:nvSpPr>
          <p:cNvPr id="15" name="Text 13"/>
          <p:cNvSpPr txBox="1"/>
          <p:nvPr/>
        </p:nvSpPr>
        <p:spPr>
          <a:xfrm>
            <a:off x="8302752" y="2523744"/>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Evidence</a:t>
            </a:r>
            <a:endParaRPr lang="en-US" sz="1500" dirty="0"/>
          </a:p>
        </p:txBody>
      </p:sp>
      <p:sp>
        <p:nvSpPr>
          <p:cNvPr id="16" name="Text 14"/>
          <p:cNvSpPr txBox="1"/>
          <p:nvPr/>
        </p:nvSpPr>
        <p:spPr>
          <a:xfrm>
            <a:off x="8302752" y="2779776"/>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Every observation, with the source it came from.</a:t>
            </a:r>
            <a:endParaRPr lang="en-US" sz="1150" dirty="0"/>
          </a:p>
        </p:txBody>
      </p:sp>
      <p:sp>
        <p:nvSpPr>
          <p:cNvPr id="17" name="card3"/>
          <p:cNvSpPr/>
          <p:nvPr/>
        </p:nvSpPr>
        <p:spPr>
          <a:xfrm>
            <a:off x="822960" y="3493008"/>
            <a:ext cx="3291840" cy="1170432"/>
          </a:xfrm>
          <a:prstGeom prst="rect">
            <a:avLst/>
          </a:prstGeom>
          <a:solidFill>
            <a:srgbClr val="F3F3F1"/>
          </a:solidFill>
          <a:ln w="12700">
            <a:solidFill>
              <a:srgbClr val="333333"/>
            </a:solidFill>
            <a:prstDash val="solid"/>
          </a:ln>
        </p:spPr>
      </p:sp>
      <p:sp>
        <p:nvSpPr>
          <p:cNvPr id="18" name="Text 16"/>
          <p:cNvSpPr txBox="1"/>
          <p:nvPr/>
        </p:nvSpPr>
        <p:spPr>
          <a:xfrm>
            <a:off x="1115568" y="3675888"/>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04</a:t>
            </a:r>
            <a:endParaRPr lang="en-US" sz="1050" dirty="0"/>
          </a:p>
        </p:txBody>
      </p:sp>
      <p:sp>
        <p:nvSpPr>
          <p:cNvPr id="19" name="Text 17"/>
          <p:cNvSpPr txBox="1"/>
          <p:nvPr/>
        </p:nvSpPr>
        <p:spPr>
          <a:xfrm>
            <a:off x="1115568" y="3913632"/>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Ruled out</a:t>
            </a:r>
            <a:endParaRPr lang="en-US" sz="1500" dirty="0"/>
          </a:p>
        </p:txBody>
      </p:sp>
      <p:sp>
        <p:nvSpPr>
          <p:cNvPr id="20" name="Text 18"/>
          <p:cNvSpPr txBox="1"/>
          <p:nvPr/>
        </p:nvSpPr>
        <p:spPr>
          <a:xfrm>
            <a:off x="1115568" y="4169664"/>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The six other causes it is not, and why.</a:t>
            </a:r>
            <a:endParaRPr lang="en-US" sz="1150" dirty="0"/>
          </a:p>
        </p:txBody>
      </p:sp>
      <p:sp>
        <p:nvSpPr>
          <p:cNvPr id="21" name="card4"/>
          <p:cNvSpPr/>
          <p:nvPr/>
        </p:nvSpPr>
        <p:spPr>
          <a:xfrm>
            <a:off x="4416552" y="3493008"/>
            <a:ext cx="3291840" cy="1170432"/>
          </a:xfrm>
          <a:prstGeom prst="rect">
            <a:avLst/>
          </a:prstGeom>
          <a:solidFill>
            <a:srgbClr val="F3F3F1"/>
          </a:solidFill>
          <a:ln w="12700">
            <a:solidFill>
              <a:srgbClr val="333333"/>
            </a:solidFill>
            <a:prstDash val="solid"/>
          </a:ln>
        </p:spPr>
      </p:sp>
      <p:sp>
        <p:nvSpPr>
          <p:cNvPr id="22" name="Text 20"/>
          <p:cNvSpPr txBox="1"/>
          <p:nvPr/>
        </p:nvSpPr>
        <p:spPr>
          <a:xfrm>
            <a:off x="4709160" y="3675888"/>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05</a:t>
            </a:r>
            <a:endParaRPr lang="en-US" sz="1050" dirty="0"/>
          </a:p>
        </p:txBody>
      </p:sp>
      <p:sp>
        <p:nvSpPr>
          <p:cNvPr id="23" name="Text 21"/>
          <p:cNvSpPr txBox="1"/>
          <p:nvPr/>
        </p:nvSpPr>
        <p:spPr>
          <a:xfrm>
            <a:off x="4709160" y="3913632"/>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Precedent</a:t>
            </a:r>
            <a:endParaRPr lang="en-US" sz="1500" dirty="0"/>
          </a:p>
        </p:txBody>
      </p:sp>
      <p:sp>
        <p:nvSpPr>
          <p:cNvPr id="24" name="Text 22"/>
          <p:cNvSpPr txBox="1"/>
          <p:nvPr/>
        </p:nvSpPr>
        <p:spPr>
          <a:xfrm>
            <a:off x="4709160" y="4169664"/>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Past incidents of the same shape, and whether the fix held.</a:t>
            </a:r>
            <a:endParaRPr lang="en-US" sz="1150" dirty="0"/>
          </a:p>
        </p:txBody>
      </p:sp>
      <p:sp>
        <p:nvSpPr>
          <p:cNvPr id="25" name="card5"/>
          <p:cNvSpPr/>
          <p:nvPr/>
        </p:nvSpPr>
        <p:spPr>
          <a:xfrm>
            <a:off x="8010144" y="3493008"/>
            <a:ext cx="3291840" cy="1170432"/>
          </a:xfrm>
          <a:prstGeom prst="rect">
            <a:avLst/>
          </a:prstGeom>
          <a:solidFill>
            <a:srgbClr val="F3F3F1"/>
          </a:solidFill>
          <a:ln w="12700">
            <a:solidFill>
              <a:srgbClr val="333333"/>
            </a:solidFill>
            <a:prstDash val="solid"/>
          </a:ln>
        </p:spPr>
      </p:sp>
      <p:sp>
        <p:nvSpPr>
          <p:cNvPr id="26" name="Text 24"/>
          <p:cNvSpPr txBox="1"/>
          <p:nvPr/>
        </p:nvSpPr>
        <p:spPr>
          <a:xfrm>
            <a:off x="8302752" y="3675888"/>
            <a:ext cx="457200" cy="219456"/>
          </a:xfrm>
          <a:prstGeom prst="rect">
            <a:avLst/>
          </a:prstGeom>
          <a:noFill/>
          <a:ln/>
        </p:spPr>
        <p:txBody>
          <a:bodyPr wrap="square" lIns="0" tIns="0" rIns="0" bIns="0" rtlCol="0" anchor="ctr"/>
          <a:lstStyle/>
          <a:p>
            <a:pPr indent="0" marL="0">
              <a:buNone/>
            </a:pPr>
            <a:r>
              <a:rPr lang="en-US" sz="1050" b="1" dirty="0">
                <a:solidFill>
                  <a:srgbClr val="B4472E"/>
                </a:solidFill>
                <a:latin typeface="Courier New" pitchFamily="34" charset="0"/>
                <a:ea typeface="Courier New" pitchFamily="34" charset="-122"/>
                <a:cs typeface="Courier New" pitchFamily="34" charset="-120"/>
              </a:rPr>
              <a:t>06</a:t>
            </a:r>
            <a:endParaRPr lang="en-US" sz="1050" dirty="0"/>
          </a:p>
        </p:txBody>
      </p:sp>
      <p:sp>
        <p:nvSpPr>
          <p:cNvPr id="27" name="Text 25"/>
          <p:cNvSpPr txBox="1"/>
          <p:nvPr/>
        </p:nvSpPr>
        <p:spPr>
          <a:xfrm>
            <a:off x="8302752" y="3913632"/>
            <a:ext cx="2743200" cy="256032"/>
          </a:xfrm>
          <a:prstGeom prst="rect">
            <a:avLst/>
          </a:prstGeom>
          <a:noFill/>
          <a:ln/>
        </p:spPr>
        <p:txBody>
          <a:bodyPr wrap="square" lIns="0" tIns="0" rIns="0" bIns="0" rtlCol="0" anchor="ctr"/>
          <a:lstStyle/>
          <a:p>
            <a:pPr indent="0" marL="0">
              <a:buNone/>
            </a:pPr>
            <a:r>
              <a:rPr lang="en-US" sz="1500" b="1" dirty="0">
                <a:solidFill>
                  <a:srgbClr val="15181C"/>
                </a:solidFill>
                <a:latin typeface="Calibri" pitchFamily="34" charset="0"/>
                <a:ea typeface="Calibri" pitchFamily="34" charset="-122"/>
                <a:cs typeface="Calibri" pitchFamily="34" charset="-120"/>
              </a:rPr>
              <a:t>The fix</a:t>
            </a:r>
            <a:endParaRPr lang="en-US" sz="1500" dirty="0"/>
          </a:p>
        </p:txBody>
      </p:sp>
      <p:sp>
        <p:nvSpPr>
          <p:cNvPr id="28" name="Text 26"/>
          <p:cNvSpPr txBox="1"/>
          <p:nvPr/>
        </p:nvSpPr>
        <p:spPr>
          <a:xfrm>
            <a:off x="8302752" y="4169664"/>
            <a:ext cx="2743200" cy="420624"/>
          </a:xfrm>
          <a:prstGeom prst="rect">
            <a:avLst/>
          </a:prstGeom>
          <a:noFill/>
          <a:ln/>
        </p:spPr>
        <p:txBody>
          <a:bodyPr wrap="square" lIns="0" tIns="0" rIns="0" bIns="0" rtlCol="0" anchor="ctr"/>
          <a:lstStyle/>
          <a:p>
            <a:pPr indent="0" marL="0">
              <a:buNone/>
            </a:pPr>
            <a:r>
              <a:rPr lang="en-US" sz="1150" dirty="0">
                <a:solidFill>
                  <a:srgbClr val="6E7680"/>
                </a:solidFill>
                <a:latin typeface="Calibri" pitchFamily="34" charset="0"/>
                <a:ea typeface="Calibri" pitchFamily="34" charset="-122"/>
                <a:cs typeface="Calibri" pitchFamily="34" charset="-120"/>
              </a:rPr>
              <a:t>The runbook step — and what not to do.</a:t>
            </a:r>
            <a:endParaRPr lang="en-US" sz="1150" dirty="0"/>
          </a:p>
        </p:txBody>
      </p:sp>
      <p:sp>
        <p:nvSpPr>
          <p:cNvPr id="29" name="Shape 27"/>
          <p:cNvSpPr/>
          <p:nvPr/>
        </p:nvSpPr>
        <p:spPr>
          <a:xfrm>
            <a:off x="822960" y="5138928"/>
            <a:ext cx="10545775" cy="10973"/>
          </a:xfrm>
          <a:prstGeom prst="rect">
            <a:avLst/>
          </a:prstGeom>
          <a:solidFill>
            <a:srgbClr val="DCDEE2"/>
          </a:solidFill>
          <a:ln w="12700">
            <a:solidFill>
              <a:srgbClr val="DCDEE2"/>
            </a:solidFill>
            <a:prstDash val="solid"/>
          </a:ln>
        </p:spPr>
      </p:sp>
      <p:sp>
        <p:nvSpPr>
          <p:cNvPr id="30" name="Text 28"/>
          <p:cNvSpPr txBox="1"/>
          <p:nvPr/>
        </p:nvSpPr>
        <p:spPr>
          <a:xfrm>
            <a:off x="822960" y="5330952"/>
            <a:ext cx="10545775" cy="365760"/>
          </a:xfrm>
          <a:prstGeom prst="rect">
            <a:avLst/>
          </a:prstGeom>
          <a:noFill/>
          <a:ln/>
        </p:spPr>
        <p:txBody>
          <a:bodyPr wrap="square" lIns="0" tIns="0" rIns="0" bIns="0" rtlCol="0" anchor="ctr"/>
          <a:lstStyle/>
          <a:p>
            <a:pPr indent="0" marL="0">
              <a:buNone/>
            </a:pPr>
            <a:r>
              <a:rPr lang="en-US" sz="1400" b="1" dirty="0">
                <a:solidFill>
                  <a:srgbClr val="15181C"/>
                </a:solidFill>
                <a:latin typeface="Calibri" pitchFamily="34" charset="0"/>
                <a:ea typeface="Calibri" pitchFamily="34" charset="-122"/>
                <a:cs typeface="Calibri" pitchFamily="34" charset="-120"/>
              </a:rPr>
              <a:t>Read-only by design. </a:t>
            </a:r>
            <a:pPr indent="0" marL="0">
              <a:buNone/>
            </a:pPr>
            <a:r>
              <a:rPr lang="en-US" sz="1400" dirty="0">
                <a:solidFill>
                  <a:srgbClr val="6E7680"/>
                </a:solidFill>
                <a:latin typeface="Calibri" pitchFamily="34" charset="0"/>
                <a:ea typeface="Calibri" pitchFamily="34" charset="-122"/>
                <a:cs typeface="Calibri" pitchFamily="34" charset="-120"/>
              </a:rPr>
              <a:t>It never restarts anything, never remediates, never writes to a system it is diagnosing.</a:t>
            </a:r>
            <a:endParaRPr lang="en-US" sz="14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274320"/>
            <a:ext cx="10545775" cy="237744"/>
          </a:xfrm>
          <a:prstGeom prst="rect">
            <a:avLst/>
          </a:prstGeom>
          <a:noFill/>
          <a:ln/>
        </p:spPr>
        <p:txBody>
          <a:bodyPr wrap="square" lIns="0" tIns="0" rIns="0" bIns="0" rtlCol="0" anchor="ctr"/>
          <a:lstStyle/>
          <a:p>
            <a:pPr indent="0" marL="0">
              <a:buNone/>
            </a:pPr>
            <a:r>
              <a:rPr lang="en-US" sz="1050" b="1" spc="220" kern="0" dirty="0">
                <a:solidFill>
                  <a:srgbClr val="6E7680"/>
                </a:solidFill>
                <a:latin typeface="Calibri" pitchFamily="34" charset="0"/>
                <a:ea typeface="Calibri" pitchFamily="34" charset="-122"/>
                <a:cs typeface="Calibri" pitchFamily="34" charset="-120"/>
              </a:rPr>
              <a:t>HOW IT IS DIFFERENT</a:t>
            </a:r>
            <a:endParaRPr lang="en-US" sz="1050" dirty="0"/>
          </a:p>
        </p:txBody>
      </p:sp>
      <p:sp>
        <p:nvSpPr>
          <p:cNvPr id="3" name="Text 0"/>
          <p:cNvSpPr/>
          <p:nvPr>
            <p:ph idx="100" type="title" hasCustomPrompt="1"/>
          </p:nvPr>
        </p:nvSpPr>
        <p:spPr>
          <a:xfrm>
            <a:off x="822960" y="566928"/>
            <a:ext cx="10545775" cy="822960"/>
          </a:xfrm>
          <a:prstGeom prst="rect">
            <a:avLst/>
          </a:prstGeom>
          <a:noFill/>
          <a:ln/>
        </p:spPr>
        <p:txBody>
          <a:bodyPr wrap="square" lIns="0" tIns="0" rIns="0" bIns="0" rtlCol="0" anchor="ctr"/>
          <a:lstStyle/>
          <a:p>
            <a:pPr algn="l" indent="0" marL="0">
              <a:buNone/>
            </a:pPr>
            <a:r>
              <a:rPr lang="en-US" sz="3800" dirty="0">
                <a:solidFill>
                  <a:srgbClr val="15181C"/>
                </a:solidFill>
                <a:latin typeface="Cambria" pitchFamily="34" charset="0"/>
                <a:ea typeface="Cambria" pitchFamily="34" charset="-122"/>
                <a:cs typeface="Cambria" pitchFamily="34" charset="-120"/>
              </a:rPr>
              <a:t>Code decides. The model writes</a:t>
            </a:r>
            <a:endParaRPr lang="en-US" sz="3800" dirty="0"/>
          </a:p>
        </p:txBody>
      </p:sp>
      <p:sp>
        <p:nvSpPr>
          <p:cNvPr id="4" name="Text 2"/>
          <p:cNvSpPr txBox="1"/>
          <p:nvPr/>
        </p:nvSpPr>
        <p:spPr>
          <a:xfrm>
            <a:off x="822960" y="1463040"/>
            <a:ext cx="9509760" cy="566928"/>
          </a:xfrm>
          <a:prstGeom prst="rect">
            <a:avLst/>
          </a:prstGeom>
          <a:noFill/>
          <a:ln/>
        </p:spPr>
        <p:txBody>
          <a:bodyPr wrap="square" lIns="0" tIns="0" rIns="0" bIns="0" rtlCol="0" anchor="ctr"/>
          <a:lstStyle/>
          <a:p>
            <a:pPr indent="0" marL="0">
              <a:buNone/>
            </a:pPr>
            <a:r>
              <a:rPr lang="en-US" sz="1500" dirty="0">
                <a:solidFill>
                  <a:srgbClr val="6E7680"/>
                </a:solidFill>
                <a:latin typeface="Calibri" pitchFamily="34" charset="0"/>
                <a:ea typeface="Calibri" pitchFamily="34" charset="-122"/>
                <a:cs typeface="Calibri" pitchFamily="34" charset="-120"/>
              </a:rPr>
              <a:t>Most AI log tools ask a language model what broke. We never do. The cause is decided by rules over measured facts; the model only turns that decision into a sentence.</a:t>
            </a:r>
            <a:endParaRPr lang="en-US" sz="1500" dirty="0"/>
          </a:p>
        </p:txBody>
      </p:sp>
      <p:sp>
        <p:nvSpPr>
          <p:cNvPr id="5" name="Text 3"/>
          <p:cNvSpPr txBox="1"/>
          <p:nvPr/>
        </p:nvSpPr>
        <p:spPr>
          <a:xfrm>
            <a:off x="822960" y="2304288"/>
            <a:ext cx="4846320" cy="237744"/>
          </a:xfrm>
          <a:prstGeom prst="rect">
            <a:avLst/>
          </a:prstGeom>
          <a:noFill/>
          <a:ln/>
        </p:spPr>
        <p:txBody>
          <a:bodyPr wrap="square" lIns="0" tIns="0" rIns="0" bIns="0" rtlCol="0" anchor="ctr"/>
          <a:lstStyle/>
          <a:p>
            <a:pPr indent="0" marL="0">
              <a:buNone/>
            </a:pPr>
            <a:r>
              <a:rPr lang="en-US" sz="1000" b="1" spc="180" kern="0" dirty="0">
                <a:solidFill>
                  <a:srgbClr val="6E7680"/>
                </a:solidFill>
                <a:latin typeface="Calibri" pitchFamily="34" charset="0"/>
                <a:ea typeface="Calibri" pitchFamily="34" charset="-122"/>
                <a:cs typeface="Calibri" pitchFamily="34" charset="-120"/>
              </a:rPr>
              <a:t>A CONVENTIONAL AI LOG TOOL</a:t>
            </a:r>
            <a:endParaRPr lang="en-US" sz="1000" dirty="0"/>
          </a:p>
        </p:txBody>
      </p:sp>
      <p:sp>
        <p:nvSpPr>
          <p:cNvPr id="6" name="Text 4"/>
          <p:cNvSpPr txBox="1"/>
          <p:nvPr/>
        </p:nvSpPr>
        <p:spPr>
          <a:xfrm>
            <a:off x="6537960" y="2304288"/>
            <a:ext cx="4846320" cy="237744"/>
          </a:xfrm>
          <a:prstGeom prst="rect">
            <a:avLst/>
          </a:prstGeom>
          <a:noFill/>
          <a:ln/>
        </p:spPr>
        <p:txBody>
          <a:bodyPr wrap="square" lIns="0" tIns="0" rIns="0" bIns="0" rtlCol="0" anchor="ctr"/>
          <a:lstStyle/>
          <a:p>
            <a:pPr indent="0" marL="0">
              <a:buNone/>
            </a:pPr>
            <a:r>
              <a:rPr lang="en-US" sz="1000" b="1" spc="180" kern="0" dirty="0">
                <a:solidFill>
                  <a:srgbClr val="B4472E"/>
                </a:solidFill>
                <a:latin typeface="Calibri" pitchFamily="34" charset="0"/>
                <a:ea typeface="Calibri" pitchFamily="34" charset="-122"/>
                <a:cs typeface="Calibri" pitchFamily="34" charset="-120"/>
              </a:rPr>
              <a:t>THIS</a:t>
            </a:r>
            <a:endParaRPr lang="en-US" sz="1000" dirty="0"/>
          </a:p>
        </p:txBody>
      </p:sp>
      <p:sp>
        <p:nvSpPr>
          <p:cNvPr id="7" name="Shape 5"/>
          <p:cNvSpPr/>
          <p:nvPr/>
        </p:nvSpPr>
        <p:spPr>
          <a:xfrm>
            <a:off x="822960" y="2596896"/>
            <a:ext cx="4846320" cy="10973"/>
          </a:xfrm>
          <a:prstGeom prst="rect">
            <a:avLst/>
          </a:prstGeom>
          <a:solidFill>
            <a:srgbClr val="E3E5E8"/>
          </a:solidFill>
          <a:ln w="12700">
            <a:solidFill>
              <a:srgbClr val="E3E5E8"/>
            </a:solidFill>
            <a:prstDash val="solid"/>
          </a:ln>
        </p:spPr>
      </p:sp>
      <p:sp>
        <p:nvSpPr>
          <p:cNvPr id="8" name="Shape 6"/>
          <p:cNvSpPr/>
          <p:nvPr/>
        </p:nvSpPr>
        <p:spPr>
          <a:xfrm>
            <a:off x="6537960" y="2596896"/>
            <a:ext cx="4828032" cy="10973"/>
          </a:xfrm>
          <a:prstGeom prst="rect">
            <a:avLst/>
          </a:prstGeom>
          <a:solidFill>
            <a:srgbClr val="B4472E"/>
          </a:solidFill>
          <a:ln w="12700">
            <a:solidFill>
              <a:srgbClr val="B4472E"/>
            </a:solidFill>
            <a:prstDash val="solid"/>
          </a:ln>
        </p:spPr>
      </p:sp>
      <p:sp>
        <p:nvSpPr>
          <p:cNvPr id="9" name="Text 7"/>
          <p:cNvSpPr txBox="1"/>
          <p:nvPr/>
        </p:nvSpPr>
        <p:spPr>
          <a:xfrm>
            <a:off x="822960" y="2779776"/>
            <a:ext cx="4846320" cy="420624"/>
          </a:xfrm>
          <a:prstGeom prst="rect">
            <a:avLst/>
          </a:prstGeom>
          <a:noFill/>
          <a:ln/>
        </p:spPr>
        <p:txBody>
          <a:bodyPr wrap="square" lIns="0" tIns="0" rIns="0" bIns="0" rtlCol="0" anchor="ctr"/>
          <a:lstStyle/>
          <a:p>
            <a:pPr indent="0" marL="0">
              <a:buNone/>
            </a:pPr>
            <a:r>
              <a:rPr lang="en-US" sz="1350" dirty="0">
                <a:solidFill>
                  <a:srgbClr val="6E7680"/>
                </a:solidFill>
                <a:latin typeface="Calibri" pitchFamily="34" charset="0"/>
                <a:ea typeface="Calibri" pitchFamily="34" charset="-122"/>
                <a:cs typeface="Calibri" pitchFamily="34" charset="-120"/>
              </a:rPr>
              <a:t>The model guesses the root cause</a:t>
            </a:r>
            <a:endParaRPr lang="en-US" sz="1350" dirty="0"/>
          </a:p>
        </p:txBody>
      </p:sp>
      <p:sp>
        <p:nvSpPr>
          <p:cNvPr id="10" name="Text 8"/>
          <p:cNvSpPr txBox="1"/>
          <p:nvPr/>
        </p:nvSpPr>
        <p:spPr>
          <a:xfrm>
            <a:off x="6537960" y="2779776"/>
            <a:ext cx="4828032" cy="420624"/>
          </a:xfrm>
          <a:prstGeom prst="rect">
            <a:avLst/>
          </a:prstGeom>
          <a:noFill/>
          <a:ln/>
        </p:spPr>
        <p:txBody>
          <a:bodyPr wrap="square" lIns="0" tIns="0" rIns="0" bIns="0" rtlCol="0" anchor="ctr"/>
          <a:lstStyle/>
          <a:p>
            <a:pPr indent="0" marL="0">
              <a:buNone/>
            </a:pPr>
            <a:r>
              <a:rPr lang="en-US" sz="1350" b="1" dirty="0">
                <a:solidFill>
                  <a:srgbClr val="15181C"/>
                </a:solidFill>
                <a:latin typeface="Calibri" pitchFamily="34" charset="0"/>
                <a:ea typeface="Calibri" pitchFamily="34" charset="-122"/>
                <a:cs typeface="Calibri" pitchFamily="34" charset="-120"/>
              </a:rPr>
              <a:t>A rules engine decides it. The model is never asked</a:t>
            </a:r>
            <a:endParaRPr lang="en-US" sz="1350" dirty="0"/>
          </a:p>
        </p:txBody>
      </p:sp>
      <p:sp>
        <p:nvSpPr>
          <p:cNvPr id="11" name="Text 9"/>
          <p:cNvSpPr txBox="1"/>
          <p:nvPr/>
        </p:nvSpPr>
        <p:spPr>
          <a:xfrm>
            <a:off x="822960" y="3328416"/>
            <a:ext cx="4846320" cy="420624"/>
          </a:xfrm>
          <a:prstGeom prst="rect">
            <a:avLst/>
          </a:prstGeom>
          <a:noFill/>
          <a:ln/>
        </p:spPr>
        <p:txBody>
          <a:bodyPr wrap="square" lIns="0" tIns="0" rIns="0" bIns="0" rtlCol="0" anchor="ctr"/>
          <a:lstStyle/>
          <a:p>
            <a:pPr indent="0" marL="0">
              <a:buNone/>
            </a:pPr>
            <a:r>
              <a:rPr lang="en-US" sz="1350" dirty="0">
                <a:solidFill>
                  <a:srgbClr val="6E7680"/>
                </a:solidFill>
                <a:latin typeface="Calibri" pitchFamily="34" charset="0"/>
                <a:ea typeface="Calibri" pitchFamily="34" charset="-122"/>
                <a:cs typeface="Calibri" pitchFamily="34" charset="-120"/>
              </a:rPr>
              <a:t>Confident even when wrong</a:t>
            </a:r>
            <a:endParaRPr lang="en-US" sz="1350" dirty="0"/>
          </a:p>
        </p:txBody>
      </p:sp>
      <p:sp>
        <p:nvSpPr>
          <p:cNvPr id="12" name="Text 10"/>
          <p:cNvSpPr txBox="1"/>
          <p:nvPr/>
        </p:nvSpPr>
        <p:spPr>
          <a:xfrm>
            <a:off x="6537960" y="3328416"/>
            <a:ext cx="4828032" cy="420624"/>
          </a:xfrm>
          <a:prstGeom prst="rect">
            <a:avLst/>
          </a:prstGeom>
          <a:noFill/>
          <a:ln/>
        </p:spPr>
        <p:txBody>
          <a:bodyPr wrap="square" lIns="0" tIns="0" rIns="0" bIns="0" rtlCol="0" anchor="ctr"/>
          <a:lstStyle/>
          <a:p>
            <a:pPr indent="0" marL="0">
              <a:buNone/>
            </a:pPr>
            <a:r>
              <a:rPr lang="en-US" sz="1350" b="1" dirty="0">
                <a:solidFill>
                  <a:srgbClr val="15181C"/>
                </a:solidFill>
                <a:latin typeface="Calibri" pitchFamily="34" charset="0"/>
                <a:ea typeface="Calibri" pitchFamily="34" charset="-122"/>
                <a:cs typeface="Calibri" pitchFamily="34" charset="-120"/>
              </a:rPr>
              <a:t>Says “I don’t know” when nothing matches</a:t>
            </a:r>
            <a:endParaRPr lang="en-US" sz="1350" dirty="0"/>
          </a:p>
        </p:txBody>
      </p:sp>
      <p:sp>
        <p:nvSpPr>
          <p:cNvPr id="13" name="Text 11"/>
          <p:cNvSpPr txBox="1"/>
          <p:nvPr/>
        </p:nvSpPr>
        <p:spPr>
          <a:xfrm>
            <a:off x="822960" y="3877056"/>
            <a:ext cx="4846320" cy="420624"/>
          </a:xfrm>
          <a:prstGeom prst="rect">
            <a:avLst/>
          </a:prstGeom>
          <a:noFill/>
          <a:ln/>
        </p:spPr>
        <p:txBody>
          <a:bodyPr wrap="square" lIns="0" tIns="0" rIns="0" bIns="0" rtlCol="0" anchor="ctr"/>
          <a:lstStyle/>
          <a:p>
            <a:pPr indent="0" marL="0">
              <a:buNone/>
            </a:pPr>
            <a:r>
              <a:rPr lang="en-US" sz="1350" dirty="0">
                <a:solidFill>
                  <a:srgbClr val="6E7680"/>
                </a:solidFill>
                <a:latin typeface="Calibri" pitchFamily="34" charset="0"/>
                <a:ea typeface="Calibri" pitchFamily="34" charset="-122"/>
                <a:cs typeface="Calibri" pitchFamily="34" charset="-120"/>
              </a:rPr>
              <a:t>Cannot show why</a:t>
            </a:r>
            <a:endParaRPr lang="en-US" sz="1350" dirty="0"/>
          </a:p>
        </p:txBody>
      </p:sp>
      <p:sp>
        <p:nvSpPr>
          <p:cNvPr id="14" name="Text 12"/>
          <p:cNvSpPr txBox="1"/>
          <p:nvPr/>
        </p:nvSpPr>
        <p:spPr>
          <a:xfrm>
            <a:off x="6537960" y="3877056"/>
            <a:ext cx="4828032" cy="420624"/>
          </a:xfrm>
          <a:prstGeom prst="rect">
            <a:avLst/>
          </a:prstGeom>
          <a:noFill/>
          <a:ln/>
        </p:spPr>
        <p:txBody>
          <a:bodyPr wrap="square" lIns="0" tIns="0" rIns="0" bIns="0" rtlCol="0" anchor="ctr"/>
          <a:lstStyle/>
          <a:p>
            <a:pPr indent="0" marL="0">
              <a:buNone/>
            </a:pPr>
            <a:r>
              <a:rPr lang="en-US" sz="1350" b="1" dirty="0">
                <a:solidFill>
                  <a:srgbClr val="15181C"/>
                </a:solidFill>
                <a:latin typeface="Calibri" pitchFamily="34" charset="0"/>
                <a:ea typeface="Calibri" pitchFamily="34" charset="-122"/>
                <a:cs typeface="Calibri" pitchFamily="34" charset="-120"/>
              </a:rPr>
              <a:t>Every claim carries the evidence and its source</a:t>
            </a:r>
            <a:endParaRPr lang="en-US" sz="1350" dirty="0"/>
          </a:p>
        </p:txBody>
      </p:sp>
      <p:sp>
        <p:nvSpPr>
          <p:cNvPr id="15" name="Text 13"/>
          <p:cNvSpPr txBox="1"/>
          <p:nvPr/>
        </p:nvSpPr>
        <p:spPr>
          <a:xfrm>
            <a:off x="822960" y="4425696"/>
            <a:ext cx="4846320" cy="420624"/>
          </a:xfrm>
          <a:prstGeom prst="rect">
            <a:avLst/>
          </a:prstGeom>
          <a:noFill/>
          <a:ln/>
        </p:spPr>
        <p:txBody>
          <a:bodyPr wrap="square" lIns="0" tIns="0" rIns="0" bIns="0" rtlCol="0" anchor="ctr"/>
          <a:lstStyle/>
          <a:p>
            <a:pPr indent="0" marL="0">
              <a:buNone/>
            </a:pPr>
            <a:r>
              <a:rPr lang="en-US" sz="1350" dirty="0">
                <a:solidFill>
                  <a:srgbClr val="6E7680"/>
                </a:solidFill>
                <a:latin typeface="Calibri" pitchFamily="34" charset="0"/>
                <a:ea typeface="Calibri" pitchFamily="34" charset="-122"/>
                <a:cs typeface="Calibri" pitchFamily="34" charset="-120"/>
              </a:rPr>
              <a:t>Dies when the AI is down</a:t>
            </a:r>
            <a:endParaRPr lang="en-US" sz="1350" dirty="0"/>
          </a:p>
        </p:txBody>
      </p:sp>
      <p:sp>
        <p:nvSpPr>
          <p:cNvPr id="16" name="Text 14"/>
          <p:cNvSpPr txBox="1"/>
          <p:nvPr/>
        </p:nvSpPr>
        <p:spPr>
          <a:xfrm>
            <a:off x="6537960" y="4425696"/>
            <a:ext cx="4828032" cy="420624"/>
          </a:xfrm>
          <a:prstGeom prst="rect">
            <a:avLst/>
          </a:prstGeom>
          <a:noFill/>
          <a:ln/>
        </p:spPr>
        <p:txBody>
          <a:bodyPr wrap="square" lIns="0" tIns="0" rIns="0" bIns="0" rtlCol="0" anchor="ctr"/>
          <a:lstStyle/>
          <a:p>
            <a:pPr indent="0" marL="0">
              <a:buNone/>
            </a:pPr>
            <a:r>
              <a:rPr lang="en-US" sz="1350" b="1" dirty="0">
                <a:solidFill>
                  <a:srgbClr val="15181C"/>
                </a:solidFill>
                <a:latin typeface="Calibri" pitchFamily="34" charset="0"/>
                <a:ea typeface="Calibri" pitchFamily="34" charset="-122"/>
                <a:cs typeface="Calibri" pitchFamily="34" charset="-120"/>
              </a:rPr>
              <a:t>Works with the AI switched off entirely</a:t>
            </a:r>
            <a:endParaRPr lang="en-US" sz="1350" dirty="0"/>
          </a:p>
        </p:txBody>
      </p:sp>
      <p:sp>
        <p:nvSpPr>
          <p:cNvPr id="17" name="Text 15"/>
          <p:cNvSpPr txBox="1"/>
          <p:nvPr/>
        </p:nvSpPr>
        <p:spPr>
          <a:xfrm>
            <a:off x="822960" y="4974336"/>
            <a:ext cx="4846320" cy="420624"/>
          </a:xfrm>
          <a:prstGeom prst="rect">
            <a:avLst/>
          </a:prstGeom>
          <a:noFill/>
          <a:ln/>
        </p:spPr>
        <p:txBody>
          <a:bodyPr wrap="square" lIns="0" tIns="0" rIns="0" bIns="0" rtlCol="0" anchor="ctr"/>
          <a:lstStyle/>
          <a:p>
            <a:pPr indent="0" marL="0">
              <a:buNone/>
            </a:pPr>
            <a:r>
              <a:rPr lang="en-US" sz="1350" dirty="0">
                <a:solidFill>
                  <a:srgbClr val="6E7680"/>
                </a:solidFill>
                <a:latin typeface="Calibri" pitchFamily="34" charset="0"/>
                <a:ea typeface="Calibri" pitchFamily="34" charset="-122"/>
                <a:cs typeface="Calibri" pitchFamily="34" charset="-120"/>
              </a:rPr>
              <a:t>A black box to a risk reviewer</a:t>
            </a:r>
            <a:endParaRPr lang="en-US" sz="1350" dirty="0"/>
          </a:p>
        </p:txBody>
      </p:sp>
      <p:sp>
        <p:nvSpPr>
          <p:cNvPr id="18" name="Text 16"/>
          <p:cNvSpPr txBox="1"/>
          <p:nvPr/>
        </p:nvSpPr>
        <p:spPr>
          <a:xfrm>
            <a:off x="6537960" y="4974336"/>
            <a:ext cx="4828032" cy="420624"/>
          </a:xfrm>
          <a:prstGeom prst="rect">
            <a:avLst/>
          </a:prstGeom>
          <a:noFill/>
          <a:ln/>
        </p:spPr>
        <p:txBody>
          <a:bodyPr wrap="square" lIns="0" tIns="0" rIns="0" bIns="0" rtlCol="0" anchor="ctr"/>
          <a:lstStyle/>
          <a:p>
            <a:pPr indent="0" marL="0">
              <a:buNone/>
            </a:pPr>
            <a:r>
              <a:rPr lang="en-US" sz="1350" b="1" dirty="0">
                <a:solidFill>
                  <a:srgbClr val="15181C"/>
                </a:solidFill>
                <a:latin typeface="Calibri" pitchFamily="34" charset="0"/>
                <a:ea typeface="Calibri" pitchFamily="34" charset="-122"/>
                <a:cs typeface="Calibri" pitchFamily="34" charset="-120"/>
              </a:rPr>
              <a:t>The decision is 8 rules in a file anyone can read</a:t>
            </a:r>
            <a:endParaRPr lang="en-US" sz="1350" dirty="0"/>
          </a:p>
        </p:txBody>
      </p:sp>
      <p:sp>
        <p:nvSpPr>
          <p:cNvPr id="19" name="Text 17"/>
          <p:cNvSpPr txBox="1"/>
          <p:nvPr/>
        </p:nvSpPr>
        <p:spPr>
          <a:xfrm>
            <a:off x="822960" y="5870448"/>
            <a:ext cx="10545775" cy="365760"/>
          </a:xfrm>
          <a:prstGeom prst="rect">
            <a:avLst/>
          </a:prstGeom>
          <a:noFill/>
          <a:ln/>
        </p:spPr>
        <p:txBody>
          <a:bodyPr wrap="square" lIns="0" tIns="0" rIns="0" bIns="0" rtlCol="0" anchor="ctr"/>
          <a:lstStyle/>
          <a:p>
            <a:pPr indent="0" marL="0">
              <a:buNone/>
            </a:pPr>
            <a:r>
              <a:rPr lang="en-US" sz="1400" i="1" dirty="0">
                <a:solidFill>
                  <a:srgbClr val="B4472E"/>
                </a:solidFill>
                <a:latin typeface="Cambria" pitchFamily="34" charset="0"/>
                <a:ea typeface="Cambria" pitchFamily="34" charset="-122"/>
                <a:cs typeface="Cambria" pitchFamily="34" charset="-120"/>
              </a:rPr>
              <a:t>If the model hallucinates, you get an awkward sentence — never a wrong root cause.</a:t>
            </a:r>
            <a:endParaRPr lang="en-US" sz="14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22960" y="274320"/>
            <a:ext cx="10545775" cy="237744"/>
          </a:xfrm>
          <a:prstGeom prst="rect">
            <a:avLst/>
          </a:prstGeom>
          <a:noFill/>
          <a:ln/>
        </p:spPr>
        <p:txBody>
          <a:bodyPr wrap="square" lIns="0" tIns="0" rIns="0" bIns="0" rtlCol="0" anchor="ctr"/>
          <a:lstStyle/>
          <a:p>
            <a:pPr indent="0" marL="0">
              <a:buNone/>
            </a:pPr>
            <a:r>
              <a:rPr lang="en-US" sz="1050" b="1" spc="220" kern="0" dirty="0">
                <a:solidFill>
                  <a:srgbClr val="6E7680"/>
                </a:solidFill>
                <a:latin typeface="Calibri" pitchFamily="34" charset="0"/>
                <a:ea typeface="Calibri" pitchFamily="34" charset="-122"/>
                <a:cs typeface="Calibri" pitchFamily="34" charset="-120"/>
              </a:rPr>
              <a:t>BEYOND THE FIX</a:t>
            </a:r>
            <a:endParaRPr lang="en-US" sz="1050" dirty="0"/>
          </a:p>
        </p:txBody>
      </p:sp>
      <p:sp>
        <p:nvSpPr>
          <p:cNvPr id="3" name="Text 0"/>
          <p:cNvSpPr/>
          <p:nvPr>
            <p:ph idx="100" type="title" hasCustomPrompt="1"/>
          </p:nvPr>
        </p:nvSpPr>
        <p:spPr>
          <a:xfrm>
            <a:off x="822960" y="566928"/>
            <a:ext cx="10545775" cy="822960"/>
          </a:xfrm>
          <a:prstGeom prst="rect">
            <a:avLst/>
          </a:prstGeom>
          <a:noFill/>
          <a:ln/>
        </p:spPr>
        <p:txBody>
          <a:bodyPr wrap="square" lIns="0" tIns="0" rIns="0" bIns="0" rtlCol="0" anchor="ctr"/>
          <a:lstStyle/>
          <a:p>
            <a:pPr algn="l" indent="0" marL="0">
              <a:buNone/>
            </a:pPr>
            <a:r>
              <a:rPr lang="en-US" sz="3800" dirty="0">
                <a:solidFill>
                  <a:srgbClr val="15181C"/>
                </a:solidFill>
                <a:latin typeface="Cambria" pitchFamily="34" charset="0"/>
                <a:ea typeface="Cambria" pitchFamily="34" charset="-122"/>
                <a:cs typeface="Cambria" pitchFamily="34" charset="-120"/>
              </a:rPr>
              <a:t>Each incident makes the next one cheaper</a:t>
            </a:r>
            <a:endParaRPr lang="en-US" sz="3800" dirty="0"/>
          </a:p>
        </p:txBody>
      </p:sp>
      <p:sp>
        <p:nvSpPr>
          <p:cNvPr id="4" name="Text 2"/>
          <p:cNvSpPr txBox="1"/>
          <p:nvPr/>
        </p:nvSpPr>
        <p:spPr>
          <a:xfrm>
            <a:off x="822960" y="1463040"/>
            <a:ext cx="9326880" cy="566928"/>
          </a:xfrm>
          <a:prstGeom prst="rect">
            <a:avLst/>
          </a:prstGeom>
          <a:noFill/>
          <a:ln/>
        </p:spPr>
        <p:txBody>
          <a:bodyPr wrap="square" lIns="0" tIns="0" rIns="0" bIns="0" rtlCol="0" anchor="ctr"/>
          <a:lstStyle/>
          <a:p>
            <a:pPr indent="0" marL="0">
              <a:buNone/>
            </a:pPr>
            <a:r>
              <a:rPr lang="en-US" sz="1500" dirty="0">
                <a:solidFill>
                  <a:srgbClr val="6E7680"/>
                </a:solidFill>
                <a:latin typeface="Calibri" pitchFamily="34" charset="0"/>
                <a:ea typeface="Calibri" pitchFamily="34" charset="-122"/>
                <a:cs typeface="Calibri" pitchFamily="34" charset="-120"/>
              </a:rPr>
              <a:t>Fixing today's failure is the floor. The tool also says how to stop it recurring, and why it was hard to diagnose in the first place.</a:t>
            </a:r>
            <a:endParaRPr lang="en-US" sz="1500" dirty="0"/>
          </a:p>
        </p:txBody>
      </p:sp>
      <p:sp>
        <p:nvSpPr>
          <p:cNvPr id="5" name="preventCard"/>
          <p:cNvSpPr/>
          <p:nvPr/>
        </p:nvSpPr>
        <p:spPr>
          <a:xfrm>
            <a:off x="822960" y="2304288"/>
            <a:ext cx="5029200" cy="2834640"/>
          </a:xfrm>
          <a:prstGeom prst="rect">
            <a:avLst/>
          </a:prstGeom>
          <a:solidFill>
            <a:srgbClr val="F3F3F1"/>
          </a:solidFill>
          <a:ln w="12700">
            <a:solidFill>
              <a:srgbClr val="333333"/>
            </a:solidFill>
            <a:prstDash val="solid"/>
          </a:ln>
        </p:spPr>
      </p:sp>
      <p:sp>
        <p:nvSpPr>
          <p:cNvPr id="6" name="Text 4"/>
          <p:cNvSpPr txBox="1"/>
          <p:nvPr/>
        </p:nvSpPr>
        <p:spPr>
          <a:xfrm>
            <a:off x="1188720" y="2578608"/>
            <a:ext cx="4297680" cy="219456"/>
          </a:xfrm>
          <a:prstGeom prst="rect">
            <a:avLst/>
          </a:prstGeom>
          <a:noFill/>
          <a:ln/>
        </p:spPr>
        <p:txBody>
          <a:bodyPr wrap="square" lIns="0" tIns="0" rIns="0" bIns="0" rtlCol="0" anchor="ctr"/>
          <a:lstStyle/>
          <a:p>
            <a:pPr indent="0" marL="0">
              <a:buNone/>
            </a:pPr>
            <a:r>
              <a:rPr lang="en-US" sz="1000" b="1" spc="200" kern="0" dirty="0">
                <a:solidFill>
                  <a:srgbClr val="B4472E"/>
                </a:solidFill>
                <a:latin typeface="Calibri" pitchFamily="34" charset="0"/>
                <a:ea typeface="Calibri" pitchFamily="34" charset="-122"/>
                <a:cs typeface="Calibri" pitchFamily="34" charset="-120"/>
              </a:rPr>
              <a:t>PREVENT RECURRENCE</a:t>
            </a:r>
            <a:endParaRPr lang="en-US" sz="1000" dirty="0"/>
          </a:p>
        </p:txBody>
      </p:sp>
      <p:sp>
        <p:nvSpPr>
          <p:cNvPr id="7" name="Text 5"/>
          <p:cNvSpPr txBox="1"/>
          <p:nvPr/>
        </p:nvSpPr>
        <p:spPr>
          <a:xfrm>
            <a:off x="1188720" y="2834640"/>
            <a:ext cx="2194560" cy="877824"/>
          </a:xfrm>
          <a:prstGeom prst="rect">
            <a:avLst/>
          </a:prstGeom>
          <a:noFill/>
          <a:ln/>
        </p:spPr>
        <p:txBody>
          <a:bodyPr wrap="square" lIns="0" tIns="0" rIns="0" bIns="0" rtlCol="0" anchor="ctr"/>
          <a:lstStyle/>
          <a:p>
            <a:pPr indent="0" marL="0">
              <a:buNone/>
            </a:pPr>
            <a:r>
              <a:rPr lang="en-US" sz="5400" dirty="0">
                <a:solidFill>
                  <a:srgbClr val="15181C"/>
                </a:solidFill>
                <a:latin typeface="Courier New" pitchFamily="34" charset="0"/>
                <a:ea typeface="Courier New" pitchFamily="34" charset="-122"/>
                <a:cs typeface="Courier New" pitchFamily="34" charset="-120"/>
              </a:rPr>
              <a:t>200</a:t>
            </a:r>
            <a:endParaRPr lang="en-US" sz="5400" dirty="0"/>
          </a:p>
        </p:txBody>
      </p:sp>
      <p:sp>
        <p:nvSpPr>
          <p:cNvPr id="8" name="Text 6"/>
          <p:cNvSpPr txBox="1"/>
          <p:nvPr/>
        </p:nvSpPr>
        <p:spPr>
          <a:xfrm>
            <a:off x="1188720" y="3749040"/>
            <a:ext cx="4297680" cy="237744"/>
          </a:xfrm>
          <a:prstGeom prst="rect">
            <a:avLst/>
          </a:prstGeom>
          <a:noFill/>
          <a:ln/>
        </p:spPr>
        <p:txBody>
          <a:bodyPr wrap="square" lIns="0" tIns="0" rIns="0" bIns="0" rtlCol="0" anchor="ctr"/>
          <a:lstStyle/>
          <a:p>
            <a:pPr indent="0" marL="0">
              <a:buNone/>
            </a:pPr>
            <a:r>
              <a:rPr lang="en-US" sz="1300" dirty="0">
                <a:solidFill>
                  <a:srgbClr val="6E7680"/>
                </a:solidFill>
                <a:latin typeface="Calibri" pitchFamily="34" charset="0"/>
                <a:ea typeface="Calibri" pitchFamily="34" charset="-122"/>
                <a:cs typeface="Calibri" pitchFamily="34" charset="-120"/>
              </a:rPr>
              <a:t>records per request</a:t>
            </a:r>
            <a:endParaRPr lang="en-US" sz="1300" dirty="0"/>
          </a:p>
        </p:txBody>
      </p:sp>
      <p:sp>
        <p:nvSpPr>
          <p:cNvPr id="9" name="Text 7"/>
          <p:cNvSpPr txBox="1"/>
          <p:nvPr/>
        </p:nvSpPr>
        <p:spPr>
          <a:xfrm>
            <a:off x="1188720" y="4023360"/>
            <a:ext cx="4297680" cy="237744"/>
          </a:xfrm>
          <a:prstGeom prst="rect">
            <a:avLst/>
          </a:prstGeom>
          <a:noFill/>
          <a:ln/>
        </p:spPr>
        <p:txBody>
          <a:bodyPr wrap="square" lIns="0" tIns="0" rIns="0" bIns="0" rtlCol="0" anchor="ctr"/>
          <a:lstStyle/>
          <a:p>
            <a:pPr indent="0" marL="0">
              <a:buNone/>
            </a:pPr>
            <a:r>
              <a:rPr lang="en-US" sz="1100" dirty="0">
                <a:solidFill>
                  <a:srgbClr val="6E7680"/>
                </a:solidFill>
                <a:latin typeface="Courier New" pitchFamily="34" charset="0"/>
                <a:ea typeface="Courier New" pitchFamily="34" charset="-122"/>
                <a:cs typeface="Courier New" pitchFamily="34" charset="-120"/>
              </a:rPr>
              <a:t>60 s ceiling × 0.6 headroom ÷ 0.179 s per record</a:t>
            </a:r>
            <a:endParaRPr lang="en-US" sz="1100" dirty="0"/>
          </a:p>
        </p:txBody>
      </p:sp>
      <p:sp>
        <p:nvSpPr>
          <p:cNvPr id="10" name="Text 8"/>
          <p:cNvSpPr txBox="1"/>
          <p:nvPr/>
        </p:nvSpPr>
        <p:spPr>
          <a:xfrm>
            <a:off x="1188720" y="4334256"/>
            <a:ext cx="4297680" cy="731520"/>
          </a:xfrm>
          <a:prstGeom prst="rect">
            <a:avLst/>
          </a:prstGeom>
          <a:noFill/>
          <a:ln/>
        </p:spPr>
        <p:txBody>
          <a:bodyPr wrap="square" lIns="0" tIns="0" rIns="0" bIns="0" rtlCol="0" anchor="ctr"/>
          <a:lstStyle/>
          <a:p>
            <a:pPr indent="0" marL="0">
              <a:buNone/>
            </a:pPr>
            <a:r>
              <a:rPr lang="en-US" sz="1200" dirty="0">
                <a:solidFill>
                  <a:srgbClr val="6E7680"/>
                </a:solidFill>
                <a:latin typeface="Calibri" pitchFamily="34" charset="0"/>
                <a:ea typeface="Calibri" pitchFamily="34" charset="-122"/>
                <a:cs typeface="Calibri" pitchFamily="34" charset="-120"/>
              </a:rPr>
              <a:t>Calculated from the throughput measured in this log — so it stays correct when the system gets faster or slower. Plus code, config, monitoring and process actions from our own runbooks.</a:t>
            </a:r>
            <a:endParaRPr lang="en-US" sz="1200" dirty="0"/>
          </a:p>
        </p:txBody>
      </p:sp>
      <p:sp>
        <p:nvSpPr>
          <p:cNvPr id="11" name="loggingCard"/>
          <p:cNvSpPr/>
          <p:nvPr/>
        </p:nvSpPr>
        <p:spPr>
          <a:xfrm>
            <a:off x="6336792" y="2304288"/>
            <a:ext cx="5029200" cy="2834640"/>
          </a:xfrm>
          <a:prstGeom prst="rect">
            <a:avLst/>
          </a:prstGeom>
          <a:solidFill>
            <a:srgbClr val="F3F3F1"/>
          </a:solidFill>
          <a:ln w="12700">
            <a:solidFill>
              <a:srgbClr val="333333"/>
            </a:solidFill>
            <a:prstDash val="solid"/>
          </a:ln>
        </p:spPr>
      </p:sp>
      <p:sp>
        <p:nvSpPr>
          <p:cNvPr id="12" name="Text 10"/>
          <p:cNvSpPr txBox="1"/>
          <p:nvPr/>
        </p:nvSpPr>
        <p:spPr>
          <a:xfrm>
            <a:off x="6702552" y="2578608"/>
            <a:ext cx="4297680" cy="219456"/>
          </a:xfrm>
          <a:prstGeom prst="rect">
            <a:avLst/>
          </a:prstGeom>
          <a:noFill/>
          <a:ln/>
        </p:spPr>
        <p:txBody>
          <a:bodyPr wrap="square" lIns="0" tIns="0" rIns="0" bIns="0" rtlCol="0" anchor="ctr"/>
          <a:lstStyle/>
          <a:p>
            <a:pPr indent="0" marL="0">
              <a:buNone/>
            </a:pPr>
            <a:r>
              <a:rPr lang="en-US" sz="1000" b="1" spc="200" kern="0" dirty="0">
                <a:solidFill>
                  <a:srgbClr val="B4472E"/>
                </a:solidFill>
                <a:latin typeface="Calibri" pitchFamily="34" charset="0"/>
                <a:ea typeface="Calibri" pitchFamily="34" charset="-122"/>
                <a:cs typeface="Calibri" pitchFamily="34" charset="-120"/>
              </a:rPr>
              <a:t>LOGGING QUALITY</a:t>
            </a:r>
            <a:endParaRPr lang="en-US" sz="1000" dirty="0"/>
          </a:p>
        </p:txBody>
      </p:sp>
      <p:sp>
        <p:nvSpPr>
          <p:cNvPr id="13" name="Text 11"/>
          <p:cNvSpPr txBox="1"/>
          <p:nvPr/>
        </p:nvSpPr>
        <p:spPr>
          <a:xfrm>
            <a:off x="6702552" y="2834640"/>
            <a:ext cx="2377440" cy="877824"/>
          </a:xfrm>
          <a:prstGeom prst="rect">
            <a:avLst/>
          </a:prstGeom>
          <a:noFill/>
          <a:ln/>
        </p:spPr>
        <p:txBody>
          <a:bodyPr wrap="square" lIns="0" tIns="0" rIns="0" bIns="0" rtlCol="0" anchor="ctr"/>
          <a:lstStyle/>
          <a:p>
            <a:pPr indent="0" marL="0">
              <a:buNone/>
            </a:pPr>
            <a:r>
              <a:rPr lang="en-US" sz="5400" dirty="0">
                <a:solidFill>
                  <a:srgbClr val="15181C"/>
                </a:solidFill>
                <a:latin typeface="Courier New" pitchFamily="34" charset="0"/>
                <a:ea typeface="Courier New" pitchFamily="34" charset="-122"/>
                <a:cs typeface="Courier New" pitchFamily="34" charset="-120"/>
              </a:rPr>
              <a:t>5</a:t>
            </a:r>
            <a:pPr indent="0" marL="0">
              <a:buNone/>
            </a:pPr>
            <a:r>
              <a:rPr lang="en-US" sz="3000" dirty="0">
                <a:solidFill>
                  <a:srgbClr val="6E7680"/>
                </a:solidFill>
                <a:latin typeface="Courier New" pitchFamily="34" charset="0"/>
                <a:ea typeface="Courier New" pitchFamily="34" charset="-122"/>
                <a:cs typeface="Courier New" pitchFamily="34" charset="-120"/>
              </a:rPr>
              <a:t>/10</a:t>
            </a:r>
            <a:endParaRPr lang="en-US" sz="5400" dirty="0"/>
          </a:p>
        </p:txBody>
      </p:sp>
      <p:sp>
        <p:nvSpPr>
          <p:cNvPr id="14" name="Text 12"/>
          <p:cNvSpPr txBox="1"/>
          <p:nvPr/>
        </p:nvSpPr>
        <p:spPr>
          <a:xfrm>
            <a:off x="6702552" y="3749040"/>
            <a:ext cx="4297680" cy="237744"/>
          </a:xfrm>
          <a:prstGeom prst="rect">
            <a:avLst/>
          </a:prstGeom>
          <a:noFill/>
          <a:ln/>
        </p:spPr>
        <p:txBody>
          <a:bodyPr wrap="square" lIns="0" tIns="0" rIns="0" bIns="0" rtlCol="0" anchor="ctr"/>
          <a:lstStyle/>
          <a:p>
            <a:pPr indent="0" marL="0">
              <a:buNone/>
            </a:pPr>
            <a:r>
              <a:rPr lang="en-US" sz="1300" dirty="0">
                <a:solidFill>
                  <a:srgbClr val="6E7680"/>
                </a:solidFill>
                <a:latin typeface="Calibri" pitchFamily="34" charset="0"/>
                <a:ea typeface="Calibri" pitchFamily="34" charset="-122"/>
                <a:cs typeface="Calibri" pitchFamily="34" charset="-120"/>
              </a:rPr>
              <a:t>practices present</a:t>
            </a:r>
            <a:endParaRPr lang="en-US" sz="1300" dirty="0"/>
          </a:p>
        </p:txBody>
      </p:sp>
      <p:sp>
        <p:nvSpPr>
          <p:cNvPr id="15" name="Text 13"/>
          <p:cNvSpPr txBox="1"/>
          <p:nvPr/>
        </p:nvSpPr>
        <p:spPr>
          <a:xfrm>
            <a:off x="6702552" y="4023360"/>
            <a:ext cx="4297680" cy="256032"/>
          </a:xfrm>
          <a:prstGeom prst="rect">
            <a:avLst/>
          </a:prstGeom>
          <a:noFill/>
          <a:ln/>
        </p:spPr>
        <p:txBody>
          <a:bodyPr wrap="square" lIns="0" tIns="0" rIns="0" bIns="0" rtlCol="0" anchor="ctr"/>
          <a:lstStyle/>
          <a:p>
            <a:pPr indent="0" marL="0">
              <a:buNone/>
            </a:pPr>
            <a:r>
              <a:rPr lang="en-US" sz="1050" dirty="0">
                <a:solidFill>
                  <a:srgbClr val="6E7680"/>
                </a:solidFill>
                <a:latin typeface="Courier New" pitchFamily="34" charset="0"/>
                <a:ea typeface="Courier New" pitchFamily="34" charset="-122"/>
                <a:cs typeface="Courier New" pitchFamily="34" charset="-120"/>
              </a:rPr>
              <a:t>No duration · no correlation id · size off the error</a:t>
            </a:r>
            <a:endParaRPr lang="en-US" sz="1050" dirty="0"/>
          </a:p>
        </p:txBody>
      </p:sp>
      <p:sp>
        <p:nvSpPr>
          <p:cNvPr id="16" name="Text 14"/>
          <p:cNvSpPr txBox="1"/>
          <p:nvPr/>
        </p:nvSpPr>
        <p:spPr>
          <a:xfrm>
            <a:off x="6702552" y="4334256"/>
            <a:ext cx="4297680" cy="731520"/>
          </a:xfrm>
          <a:prstGeom prst="rect">
            <a:avLst/>
          </a:prstGeom>
          <a:noFill/>
          <a:ln/>
        </p:spPr>
        <p:txBody>
          <a:bodyPr wrap="square" lIns="0" tIns="0" rIns="0" bIns="0" rtlCol="0" anchor="ctr"/>
          <a:lstStyle/>
          <a:p>
            <a:pPr indent="0" marL="0">
              <a:buNone/>
            </a:pPr>
            <a:r>
              <a:rPr lang="en-US" sz="1200" dirty="0">
                <a:solidFill>
                  <a:srgbClr val="6E7680"/>
                </a:solidFill>
                <a:latin typeface="Calibri" pitchFamily="34" charset="0"/>
                <a:ea typeface="Calibri" pitchFamily="34" charset="-122"/>
                <a:cs typeface="Calibri" pitchFamily="34" charset="-120"/>
              </a:rPr>
              <a:t>Our code never records how long a job takes. That is why a sync slowing down for weeks was invisible until the day it broke. Each gap states what it cost this investigation.</a:t>
            </a:r>
            <a:endParaRPr lang="en-US" sz="1200" dirty="0"/>
          </a:p>
        </p:txBody>
      </p:sp>
      <p:sp>
        <p:nvSpPr>
          <p:cNvPr id="17" name="Shape 15"/>
          <p:cNvSpPr/>
          <p:nvPr/>
        </p:nvSpPr>
        <p:spPr>
          <a:xfrm>
            <a:off x="822960" y="5486400"/>
            <a:ext cx="10545775" cy="10973"/>
          </a:xfrm>
          <a:prstGeom prst="rect">
            <a:avLst/>
          </a:prstGeom>
          <a:solidFill>
            <a:srgbClr val="DCDEE2"/>
          </a:solidFill>
          <a:ln w="12700">
            <a:solidFill>
              <a:srgbClr val="DCDEE2"/>
            </a:solidFill>
            <a:prstDash val="solid"/>
          </a:ln>
        </p:spPr>
      </p:sp>
      <p:sp>
        <p:nvSpPr>
          <p:cNvPr id="18" name="Text 16"/>
          <p:cNvSpPr txBox="1"/>
          <p:nvPr/>
        </p:nvSpPr>
        <p:spPr>
          <a:xfrm>
            <a:off x="822960" y="5669280"/>
            <a:ext cx="10545775" cy="365760"/>
          </a:xfrm>
          <a:prstGeom prst="rect">
            <a:avLst/>
          </a:prstGeom>
          <a:noFill/>
          <a:ln/>
        </p:spPr>
        <p:txBody>
          <a:bodyPr wrap="square" lIns="0" tIns="0" rIns="0" bIns="0" rtlCol="0" anchor="ctr"/>
          <a:lstStyle/>
          <a:p>
            <a:pPr indent="0" marL="0">
              <a:buNone/>
            </a:pPr>
            <a:r>
              <a:rPr lang="en-US" sz="1400" b="1" dirty="0">
                <a:solidFill>
                  <a:srgbClr val="15181C"/>
                </a:solidFill>
                <a:latin typeface="Calibri" pitchFamily="34" charset="0"/>
                <a:ea typeface="Calibri" pitchFamily="34" charset="-122"/>
                <a:cs typeface="Calibri" pitchFamily="34" charset="-120"/>
              </a:rPr>
              <a:t>Three outputs per incident instead of one: </a:t>
            </a:r>
            <a:pPr indent="0" marL="0">
              <a:buNone/>
            </a:pPr>
            <a:r>
              <a:rPr lang="en-US" sz="1400" dirty="0">
                <a:solidFill>
                  <a:srgbClr val="6E7680"/>
                </a:solidFill>
                <a:latin typeface="Calibri" pitchFamily="34" charset="0"/>
                <a:ea typeface="Calibri" pitchFamily="34" charset="-122"/>
                <a:cs typeface="Calibri" pitchFamily="34" charset="-120"/>
              </a:rPr>
              <a:t>the fix, the prevention plan, and the logging gaps that slowed us down.</a:t>
            </a:r>
            <a:endParaRPr lang="en-US" sz="1400" dirty="0"/>
          </a:p>
        </p:txBody>
      </p:sp>
      <p:sp>
        <p:nvSpPr>
          <p:cNvPr id="25" name="Slide Number Placeholder 0"/>
          <p:cNvSpPr>
            <a:spLocks noGrp="1"/>
          </p:cNvSpPr>
          <p:nvPr>
            <p:ph type="sldNum" sz="quarter" idx="4294967295"/>
          </p:nvPr>
        </p:nvSpPr>
        <p:spPr>
          <a:xfrm>
            <a:off x="11002975" y="6291072"/>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D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22960" y="914400"/>
            <a:ext cx="10545775" cy="274320"/>
          </a:xfrm>
          <a:prstGeom prst="rect">
            <a:avLst/>
          </a:prstGeom>
          <a:noFill/>
          <a:ln/>
        </p:spPr>
        <p:txBody>
          <a:bodyPr wrap="square" lIns="0" tIns="0" rIns="0" bIns="0" rtlCol="0" anchor="ctr"/>
          <a:lstStyle/>
          <a:p>
            <a:pPr indent="0" marL="0">
              <a:buNone/>
            </a:pPr>
            <a:r>
              <a:rPr lang="en-US" sz="1100" b="1" spc="300" kern="0" dirty="0">
                <a:solidFill>
                  <a:srgbClr val="B4472E"/>
                </a:solidFill>
                <a:latin typeface="Calibri" pitchFamily="34" charset="0"/>
                <a:ea typeface="Calibri" pitchFamily="34" charset="-122"/>
                <a:cs typeface="Calibri" pitchFamily="34" charset="-120"/>
              </a:rPr>
              <a:t>BUILT TO SURVIVE REVIEW</a:t>
            </a:r>
            <a:endParaRPr lang="en-US" sz="1100" dirty="0"/>
          </a:p>
        </p:txBody>
      </p:sp>
      <p:sp>
        <p:nvSpPr>
          <p:cNvPr id="3" name="Text 1"/>
          <p:cNvSpPr txBox="1"/>
          <p:nvPr/>
        </p:nvSpPr>
        <p:spPr>
          <a:xfrm>
            <a:off x="822960" y="1298448"/>
            <a:ext cx="9692640" cy="68580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Not a demo. A tool our team can run on Monday</a:t>
            </a:r>
            <a:endParaRPr lang="en-US" sz="3600" dirty="0"/>
          </a:p>
        </p:txBody>
      </p:sp>
      <p:sp>
        <p:nvSpPr>
          <p:cNvPr id="4" name="Text 2"/>
          <p:cNvSpPr txBox="1"/>
          <p:nvPr/>
        </p:nvSpPr>
        <p:spPr>
          <a:xfrm>
            <a:off x="822960" y="2514600"/>
            <a:ext cx="2377440" cy="786384"/>
          </a:xfrm>
          <a:prstGeom prst="rect">
            <a:avLst/>
          </a:prstGeom>
          <a:noFill/>
          <a:ln/>
        </p:spPr>
        <p:txBody>
          <a:bodyPr wrap="square" lIns="0" tIns="0" rIns="0" bIns="0" rtlCol="0" anchor="ctr"/>
          <a:lstStyle/>
          <a:p>
            <a:pPr indent="0" marL="0">
              <a:buNone/>
            </a:pPr>
            <a:r>
              <a:rPr lang="en-US" sz="5200" dirty="0">
                <a:solidFill>
                  <a:srgbClr val="FFFFFF"/>
                </a:solidFill>
                <a:latin typeface="Courier New" pitchFamily="34" charset="0"/>
                <a:ea typeface="Courier New" pitchFamily="34" charset="-122"/>
                <a:cs typeface="Courier New" pitchFamily="34" charset="-120"/>
              </a:rPr>
              <a:t>264</a:t>
            </a:r>
            <a:endParaRPr lang="en-US" sz="5200" dirty="0"/>
          </a:p>
        </p:txBody>
      </p:sp>
      <p:sp>
        <p:nvSpPr>
          <p:cNvPr id="5" name="Text 3"/>
          <p:cNvSpPr txBox="1"/>
          <p:nvPr/>
        </p:nvSpPr>
        <p:spPr>
          <a:xfrm>
            <a:off x="822960" y="3310128"/>
            <a:ext cx="2377440" cy="256032"/>
          </a:xfrm>
          <a:prstGeom prst="rect">
            <a:avLst/>
          </a:prstGeom>
          <a:noFill/>
          <a:ln/>
        </p:spPr>
        <p:txBody>
          <a:bodyPr wrap="square" lIns="0" tIns="0" rIns="0" bIns="0" rtlCol="0" anchor="ctr"/>
          <a:lstStyle/>
          <a:p>
            <a:pPr indent="0" marL="0">
              <a:buNone/>
            </a:pPr>
            <a:r>
              <a:rPr lang="en-US" sz="1350" b="1" dirty="0">
                <a:solidFill>
                  <a:srgbClr val="C9CCD1"/>
                </a:solidFill>
                <a:latin typeface="Calibri" pitchFamily="34" charset="0"/>
                <a:ea typeface="Calibri" pitchFamily="34" charset="-122"/>
                <a:cs typeface="Calibri" pitchFamily="34" charset="-120"/>
              </a:rPr>
              <a:t>automated tests</a:t>
            </a:r>
            <a:endParaRPr lang="en-US" sz="1350" dirty="0"/>
          </a:p>
        </p:txBody>
      </p:sp>
      <p:sp>
        <p:nvSpPr>
          <p:cNvPr id="6" name="Text 4"/>
          <p:cNvSpPr txBox="1"/>
          <p:nvPr/>
        </p:nvSpPr>
        <p:spPr>
          <a:xfrm>
            <a:off x="822960" y="3584448"/>
            <a:ext cx="2377440" cy="566928"/>
          </a:xfrm>
          <a:prstGeom prst="rect">
            <a:avLst/>
          </a:prstGeom>
          <a:noFill/>
          <a:ln/>
        </p:spPr>
        <p:txBody>
          <a:bodyPr wrap="square" lIns="0" tIns="0" rIns="0" bIns="0" rtlCol="0" anchor="ctr"/>
          <a:lstStyle/>
          <a:p>
            <a:pPr indent="0" marL="0">
              <a:buNone/>
            </a:pPr>
            <a:r>
              <a:rPr lang="en-US" sz="1150" dirty="0">
                <a:solidFill>
                  <a:srgbClr val="7A818A"/>
                </a:solidFill>
                <a:latin typeface="Calibri" pitchFamily="34" charset="0"/>
                <a:ea typeface="Calibri" pitchFamily="34" charset="-122"/>
                <a:cs typeface="Calibri" pitchFamily="34" charset="-120"/>
              </a:rPr>
              <a:t>All pass offline, with no API key.</a:t>
            </a:r>
            <a:endParaRPr lang="en-US" sz="1150" dirty="0"/>
          </a:p>
        </p:txBody>
      </p:sp>
      <p:sp>
        <p:nvSpPr>
          <p:cNvPr id="7" name="Text 5"/>
          <p:cNvSpPr txBox="1"/>
          <p:nvPr/>
        </p:nvSpPr>
        <p:spPr>
          <a:xfrm>
            <a:off x="3547872" y="2514600"/>
            <a:ext cx="2377440" cy="786384"/>
          </a:xfrm>
          <a:prstGeom prst="rect">
            <a:avLst/>
          </a:prstGeom>
          <a:noFill/>
          <a:ln/>
        </p:spPr>
        <p:txBody>
          <a:bodyPr wrap="square" lIns="0" tIns="0" rIns="0" bIns="0" rtlCol="0" anchor="ctr"/>
          <a:lstStyle/>
          <a:p>
            <a:pPr indent="0" marL="0">
              <a:buNone/>
            </a:pPr>
            <a:r>
              <a:rPr lang="en-US" sz="5200" dirty="0">
                <a:solidFill>
                  <a:srgbClr val="FFFFFF"/>
                </a:solidFill>
                <a:latin typeface="Courier New" pitchFamily="34" charset="0"/>
                <a:ea typeface="Courier New" pitchFamily="34" charset="-122"/>
                <a:cs typeface="Courier New" pitchFamily="34" charset="-120"/>
              </a:rPr>
              <a:t>0</a:t>
            </a:r>
            <a:endParaRPr lang="en-US" sz="5200" dirty="0"/>
          </a:p>
        </p:txBody>
      </p:sp>
      <p:sp>
        <p:nvSpPr>
          <p:cNvPr id="8" name="Text 6"/>
          <p:cNvSpPr txBox="1"/>
          <p:nvPr/>
        </p:nvSpPr>
        <p:spPr>
          <a:xfrm>
            <a:off x="3547872" y="3310128"/>
            <a:ext cx="2377440" cy="256032"/>
          </a:xfrm>
          <a:prstGeom prst="rect">
            <a:avLst/>
          </a:prstGeom>
          <a:noFill/>
          <a:ln/>
        </p:spPr>
        <p:txBody>
          <a:bodyPr wrap="square" lIns="0" tIns="0" rIns="0" bIns="0" rtlCol="0" anchor="ctr"/>
          <a:lstStyle/>
          <a:p>
            <a:pPr indent="0" marL="0">
              <a:buNone/>
            </a:pPr>
            <a:r>
              <a:rPr lang="en-US" sz="1350" b="1" dirty="0">
                <a:solidFill>
                  <a:srgbClr val="C9CCD1"/>
                </a:solidFill>
                <a:latin typeface="Calibri" pitchFamily="34" charset="0"/>
                <a:ea typeface="Calibri" pitchFamily="34" charset="-122"/>
                <a:cs typeface="Calibri" pitchFamily="34" charset="-120"/>
              </a:rPr>
              <a:t>AI in the decision</a:t>
            </a:r>
            <a:endParaRPr lang="en-US" sz="1350" dirty="0"/>
          </a:p>
        </p:txBody>
      </p:sp>
      <p:sp>
        <p:nvSpPr>
          <p:cNvPr id="9" name="Text 7"/>
          <p:cNvSpPr txBox="1"/>
          <p:nvPr/>
        </p:nvSpPr>
        <p:spPr>
          <a:xfrm>
            <a:off x="3547872" y="3584448"/>
            <a:ext cx="2377440" cy="566928"/>
          </a:xfrm>
          <a:prstGeom prst="rect">
            <a:avLst/>
          </a:prstGeom>
          <a:noFill/>
          <a:ln/>
        </p:spPr>
        <p:txBody>
          <a:bodyPr wrap="square" lIns="0" tIns="0" rIns="0" bIns="0" rtlCol="0" anchor="ctr"/>
          <a:lstStyle/>
          <a:p>
            <a:pPr indent="0" marL="0">
              <a:buNone/>
            </a:pPr>
            <a:r>
              <a:rPr lang="en-US" sz="1150" dirty="0">
                <a:solidFill>
                  <a:srgbClr val="7A818A"/>
                </a:solidFill>
                <a:latin typeface="Calibri" pitchFamily="34" charset="0"/>
                <a:ea typeface="Calibri" pitchFamily="34" charset="-122"/>
                <a:cs typeface="Calibri" pitchFamily="34" charset="-120"/>
              </a:rPr>
              <a:t>Stages 1–6 are plain Python.</a:t>
            </a:r>
            <a:endParaRPr lang="en-US" sz="1150" dirty="0"/>
          </a:p>
        </p:txBody>
      </p:sp>
      <p:sp>
        <p:nvSpPr>
          <p:cNvPr id="10" name="Text 8"/>
          <p:cNvSpPr txBox="1"/>
          <p:nvPr/>
        </p:nvSpPr>
        <p:spPr>
          <a:xfrm>
            <a:off x="6272784" y="2514600"/>
            <a:ext cx="2377440" cy="786384"/>
          </a:xfrm>
          <a:prstGeom prst="rect">
            <a:avLst/>
          </a:prstGeom>
          <a:noFill/>
          <a:ln/>
        </p:spPr>
        <p:txBody>
          <a:bodyPr wrap="square" lIns="0" tIns="0" rIns="0" bIns="0" rtlCol="0" anchor="ctr"/>
          <a:lstStyle/>
          <a:p>
            <a:pPr indent="0" marL="0">
              <a:buNone/>
            </a:pPr>
            <a:r>
              <a:rPr lang="en-US" sz="5200" dirty="0">
                <a:solidFill>
                  <a:srgbClr val="FFFFFF"/>
                </a:solidFill>
                <a:latin typeface="Courier New" pitchFamily="34" charset="0"/>
                <a:ea typeface="Courier New" pitchFamily="34" charset="-122"/>
                <a:cs typeface="Courier New" pitchFamily="34" charset="-120"/>
              </a:rPr>
              <a:t>4</a:t>
            </a:r>
            <a:endParaRPr lang="en-US" sz="5200" dirty="0"/>
          </a:p>
        </p:txBody>
      </p:sp>
      <p:sp>
        <p:nvSpPr>
          <p:cNvPr id="11" name="Text 9"/>
          <p:cNvSpPr txBox="1"/>
          <p:nvPr/>
        </p:nvSpPr>
        <p:spPr>
          <a:xfrm>
            <a:off x="6272784" y="3310128"/>
            <a:ext cx="2377440" cy="256032"/>
          </a:xfrm>
          <a:prstGeom prst="rect">
            <a:avLst/>
          </a:prstGeom>
          <a:noFill/>
          <a:ln/>
        </p:spPr>
        <p:txBody>
          <a:bodyPr wrap="square" lIns="0" tIns="0" rIns="0" bIns="0" rtlCol="0" anchor="ctr"/>
          <a:lstStyle/>
          <a:p>
            <a:pPr indent="0" marL="0">
              <a:buNone/>
            </a:pPr>
            <a:r>
              <a:rPr lang="en-US" sz="1350" b="1" dirty="0">
                <a:solidFill>
                  <a:srgbClr val="C9CCD1"/>
                </a:solidFill>
                <a:latin typeface="Calibri" pitchFamily="34" charset="0"/>
                <a:ea typeface="Calibri" pitchFamily="34" charset="-122"/>
                <a:cs typeface="Calibri" pitchFamily="34" charset="-120"/>
              </a:rPr>
              <a:t>config files</a:t>
            </a:r>
            <a:endParaRPr lang="en-US" sz="1350" dirty="0"/>
          </a:p>
        </p:txBody>
      </p:sp>
      <p:sp>
        <p:nvSpPr>
          <p:cNvPr id="12" name="Text 10"/>
          <p:cNvSpPr txBox="1"/>
          <p:nvPr/>
        </p:nvSpPr>
        <p:spPr>
          <a:xfrm>
            <a:off x="6272784" y="3584448"/>
            <a:ext cx="2377440" cy="566928"/>
          </a:xfrm>
          <a:prstGeom prst="rect">
            <a:avLst/>
          </a:prstGeom>
          <a:noFill/>
          <a:ln/>
        </p:spPr>
        <p:txBody>
          <a:bodyPr wrap="square" lIns="0" tIns="0" rIns="0" bIns="0" rtlCol="0" anchor="ctr"/>
          <a:lstStyle/>
          <a:p>
            <a:pPr indent="0" marL="0">
              <a:buNone/>
            </a:pPr>
            <a:r>
              <a:rPr lang="en-US" sz="1150" dirty="0">
                <a:solidFill>
                  <a:srgbClr val="7A818A"/>
                </a:solidFill>
                <a:latin typeface="Calibri" pitchFamily="34" charset="0"/>
                <a:ea typeface="Calibri" pitchFamily="34" charset="-122"/>
                <a:cs typeface="Calibri" pitchFamily="34" charset="-120"/>
              </a:rPr>
              <a:t>Another team adapts it without code.</a:t>
            </a:r>
            <a:endParaRPr lang="en-US" sz="1150" dirty="0"/>
          </a:p>
        </p:txBody>
      </p:sp>
      <p:sp>
        <p:nvSpPr>
          <p:cNvPr id="13" name="Text 11"/>
          <p:cNvSpPr txBox="1"/>
          <p:nvPr/>
        </p:nvSpPr>
        <p:spPr>
          <a:xfrm>
            <a:off x="8997696" y="2514600"/>
            <a:ext cx="2377440" cy="786384"/>
          </a:xfrm>
          <a:prstGeom prst="rect">
            <a:avLst/>
          </a:prstGeom>
          <a:noFill/>
          <a:ln/>
        </p:spPr>
        <p:txBody>
          <a:bodyPr wrap="square" lIns="0" tIns="0" rIns="0" bIns="0" rtlCol="0" anchor="ctr"/>
          <a:lstStyle/>
          <a:p>
            <a:pPr indent="0" marL="0">
              <a:buNone/>
            </a:pPr>
            <a:r>
              <a:rPr lang="en-US" sz="5200" dirty="0">
                <a:solidFill>
                  <a:srgbClr val="FFFFFF"/>
                </a:solidFill>
                <a:latin typeface="Courier New" pitchFamily="34" charset="0"/>
                <a:ea typeface="Courier New" pitchFamily="34" charset="-122"/>
                <a:cs typeface="Courier New" pitchFamily="34" charset="-120"/>
              </a:rPr>
              <a:t>19</a:t>
            </a:r>
            <a:endParaRPr lang="en-US" sz="5200" dirty="0"/>
          </a:p>
        </p:txBody>
      </p:sp>
      <p:sp>
        <p:nvSpPr>
          <p:cNvPr id="14" name="Text 12"/>
          <p:cNvSpPr txBox="1"/>
          <p:nvPr/>
        </p:nvSpPr>
        <p:spPr>
          <a:xfrm>
            <a:off x="8997696" y="3310128"/>
            <a:ext cx="2377440" cy="256032"/>
          </a:xfrm>
          <a:prstGeom prst="rect">
            <a:avLst/>
          </a:prstGeom>
          <a:noFill/>
          <a:ln/>
        </p:spPr>
        <p:txBody>
          <a:bodyPr wrap="square" lIns="0" tIns="0" rIns="0" bIns="0" rtlCol="0" anchor="ctr"/>
          <a:lstStyle/>
          <a:p>
            <a:pPr indent="0" marL="0">
              <a:buNone/>
            </a:pPr>
            <a:r>
              <a:rPr lang="en-US" sz="1350" b="1" dirty="0">
                <a:solidFill>
                  <a:srgbClr val="C9CCD1"/>
                </a:solidFill>
                <a:latin typeface="Calibri" pitchFamily="34" charset="0"/>
                <a:ea typeface="Calibri" pitchFamily="34" charset="-122"/>
                <a:cs typeface="Calibri" pitchFamily="34" charset="-120"/>
              </a:rPr>
              <a:t>grounded lookups</a:t>
            </a:r>
            <a:endParaRPr lang="en-US" sz="1350" dirty="0"/>
          </a:p>
        </p:txBody>
      </p:sp>
      <p:sp>
        <p:nvSpPr>
          <p:cNvPr id="15" name="Text 13"/>
          <p:cNvSpPr txBox="1"/>
          <p:nvPr/>
        </p:nvSpPr>
        <p:spPr>
          <a:xfrm>
            <a:off x="8997696" y="3584448"/>
            <a:ext cx="2377440" cy="566928"/>
          </a:xfrm>
          <a:prstGeom prst="rect">
            <a:avLst/>
          </a:prstGeom>
          <a:noFill/>
          <a:ln/>
        </p:spPr>
        <p:txBody>
          <a:bodyPr wrap="square" lIns="0" tIns="0" rIns="0" bIns="0" rtlCol="0" anchor="ctr"/>
          <a:lstStyle/>
          <a:p>
            <a:pPr indent="0" marL="0">
              <a:buNone/>
            </a:pPr>
            <a:r>
              <a:rPr lang="en-US" sz="1150" dirty="0">
                <a:solidFill>
                  <a:srgbClr val="7A818A"/>
                </a:solidFill>
                <a:latin typeface="Calibri" pitchFamily="34" charset="0"/>
                <a:ea typeface="Calibri" pitchFamily="34" charset="-122"/>
                <a:cs typeface="Calibri" pitchFamily="34" charset="-120"/>
              </a:rPr>
              <a:t>The chat cannot reach anything else.</a:t>
            </a:r>
            <a:endParaRPr lang="en-US" sz="1150" dirty="0"/>
          </a:p>
        </p:txBody>
      </p:sp>
      <p:sp>
        <p:nvSpPr>
          <p:cNvPr id="16" name="Shape 14"/>
          <p:cNvSpPr/>
          <p:nvPr/>
        </p:nvSpPr>
        <p:spPr>
          <a:xfrm>
            <a:off x="822960" y="4617720"/>
            <a:ext cx="10545775" cy="10973"/>
          </a:xfrm>
          <a:prstGeom prst="rect">
            <a:avLst/>
          </a:prstGeom>
          <a:solidFill>
            <a:srgbClr val="3A3F46"/>
          </a:solidFill>
          <a:ln w="12700">
            <a:solidFill>
              <a:srgbClr val="333333"/>
            </a:solidFill>
            <a:prstDash val="solid"/>
          </a:ln>
        </p:spPr>
      </p:sp>
      <p:sp>
        <p:nvSpPr>
          <p:cNvPr id="17" name="Text 15"/>
          <p:cNvSpPr txBox="1"/>
          <p:nvPr/>
        </p:nvSpPr>
        <p:spPr>
          <a:xfrm>
            <a:off x="822960" y="4864608"/>
            <a:ext cx="7680960" cy="41148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Code decides what happened. The model explains it.</a:t>
            </a:r>
            <a:endParaRPr lang="en-US" sz="2100" dirty="0"/>
          </a:p>
        </p:txBody>
      </p:sp>
      <p:sp>
        <p:nvSpPr>
          <p:cNvPr id="18" name="Text 16"/>
          <p:cNvSpPr txBox="1"/>
          <p:nvPr/>
        </p:nvSpPr>
        <p:spPr>
          <a:xfrm>
            <a:off x="822960" y="5321808"/>
            <a:ext cx="7223760" cy="320040"/>
          </a:xfrm>
          <a:prstGeom prst="rect">
            <a:avLst/>
          </a:prstGeom>
          <a:noFill/>
          <a:ln/>
        </p:spPr>
        <p:txBody>
          <a:bodyPr wrap="square" lIns="0" tIns="0" rIns="0" bIns="0" rtlCol="0" anchor="ctr"/>
          <a:lstStyle/>
          <a:p>
            <a:pPr indent="0" marL="0">
              <a:buNone/>
            </a:pPr>
            <a:r>
              <a:rPr lang="en-US" sz="1350" dirty="0">
                <a:solidFill>
                  <a:srgbClr val="7A818A"/>
                </a:solidFill>
                <a:latin typeface="Calibri" pitchFamily="34" charset="0"/>
                <a:ea typeface="Calibri" pitchFamily="34" charset="-122"/>
                <a:cs typeface="Calibri" pitchFamily="34" charset="-120"/>
              </a:rPr>
              <a:t>That is the whole reliability argument — and the reason this can run in a bank.</a:t>
            </a:r>
            <a:endParaRPr lang="en-US" sz="1350" dirty="0"/>
          </a:p>
        </p:txBody>
      </p:sp>
      <p:sp>
        <p:nvSpPr>
          <p:cNvPr id="19" name="Text 17"/>
          <p:cNvSpPr txBox="1"/>
          <p:nvPr/>
        </p:nvSpPr>
        <p:spPr>
          <a:xfrm>
            <a:off x="8442655" y="5349240"/>
            <a:ext cx="2926080" cy="274320"/>
          </a:xfrm>
          <a:prstGeom prst="rect">
            <a:avLst/>
          </a:prstGeom>
          <a:noFill/>
          <a:ln/>
        </p:spPr>
        <p:txBody>
          <a:bodyPr wrap="square" lIns="0" tIns="0" rIns="0" bIns="0" rtlCol="0" anchor="ctr"/>
          <a:lstStyle/>
          <a:p>
            <a:pPr algn="r" indent="0" marL="0">
              <a:buNone/>
            </a:pPr>
            <a:r>
              <a:rPr lang="en-US" sz="1200" b="1" spc="260" kern="0" dirty="0">
                <a:solidFill>
                  <a:srgbClr val="B4472E"/>
                </a:solidFill>
                <a:latin typeface="Calibri" pitchFamily="34" charset="0"/>
                <a:ea typeface="Calibri" pitchFamily="34" charset="-122"/>
                <a:cs typeface="Calibri" pitchFamily="34" charset="-120"/>
              </a:rPr>
              <a:t>TEAM POTENTIAL</a:t>
            </a:r>
            <a:endParaRPr lang="en-US" sz="1200" dirty="0"/>
          </a:p>
        </p:txBody>
      </p:sp>
    </p:spTree>
  </p:cSld>
  <p:clrMapOvr>
    <a:masterClrMapping/>
  </p:clrMapOvr>
</p:sld>
</file>

<file path=ppt/theme/theme1.xml><?xml version="1.0" encoding="utf-8"?>
<a:theme xmlns:a="http://schemas.openxmlformats.org/drawingml/2006/main" name="Potential Charcoal">
  <a:themeElements>
    <a:clrScheme name="Potential Charcoal">
      <a:dk1>
        <a:srgbClr val="15181C"/>
      </a:dk1>
      <a:lt1>
        <a:srgbClr val="FFFFFF"/>
      </a:lt1>
      <a:dk2>
        <a:srgbClr val="6E7680"/>
      </a:dk2>
      <a:lt2>
        <a:srgbClr val="F3F3F1"/>
      </a:lt2>
      <a:accent1>
        <a:srgbClr val="B4472E"/>
      </a:accent1>
      <a:accent2>
        <a:srgbClr val="2E6A4F"/>
      </a:accent2>
      <a:accent3>
        <a:srgbClr val="15181C"/>
      </a:accent3>
      <a:accent4>
        <a:srgbClr val="6E7680"/>
      </a:accent4>
      <a:accent5>
        <a:srgbClr val="C9CCD1"/>
      </a:accent5>
      <a:accent6>
        <a:srgbClr val="F3F3F1"/>
      </a:accent6>
      <a:hlink>
        <a:srgbClr val="B4472E"/>
      </a:hlink>
      <a:folHlink>
        <a:srgbClr val="6E7680"/>
      </a:folHlink>
    </a:clrScheme>
    <a:fontScheme name="Potential Charco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Team Potential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Investigation Assistant</dc:title>
  <dc:subject>PptxGenJS Presentation</dc:subject>
  <dc:creator>Team Potential</dc:creator>
  <cp:lastModifiedBy>Team Potential</cp:lastModifiedBy>
  <cp:revision>1</cp:revision>
  <dcterms:created xsi:type="dcterms:W3CDTF">2026-10-11T18:37:18Z</dcterms:created>
  <dcterms:modified xsi:type="dcterms:W3CDTF">2026-10-11T18:37:18Z</dcterms:modified>
</cp:coreProperties>
</file>