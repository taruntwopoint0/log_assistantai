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a74f740-7e20-f27c-595b-ce9567a9dcc5}">
          <p14:sldIdLst>
            <p14:sldId id="256"/>
          </p14:sldIdLst>
        </p14:section>
        <p14:section name="Problem" id="{9a340322-b8ca-a4d9-c79d-fcbd32e712e3}">
          <p14:sldIdLst>
            <p14:sldId id="257"/>
          </p14:sldIdLst>
        </p14:section>
        <p14:section name="Mechanism" id="{7420a0b5-583c-fcaf-49ff-7fe65d662785}">
          <p14:sldIdLst>
            <p14:sldId id="258"/>
          </p14:sldIdLst>
        </p14:section>
        <p14:section name="Retrieval" id="{8aa9a210-92c2-03fa-1851-c33e9d5835b4}">
          <p14:sldIdLst>
            <p14:sldId id="259"/>
          </p14:sldIdLst>
        </p14:section>
        <p14:section name="Ask" id="{bef2c944-6b86-ae26-7e02-7b201632cff5}">
          <p14:sldIdLst>
            <p14:sldId id="260"/>
          </p14:sldIdLst>
        </p14:section>
        <p14:section name="Why" id="{c923394e-619c-4967-4d4c-32084d911356}">
          <p14:sldIdLst>
            <p14:sldId id="261"/>
          </p14:sldIdLst>
        </p14:section>
        <p14:section name="Close" id="{1c9c00f4-2770-0ec4-4239-68bbfc16edd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20s. Team Potential. Paste a log, get the cause with evidence, then interrogate it. The bottom line is the thesis — I'll show you the mechanism in two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move fast here, they saw this last round. Seven consoles, and the checklist can finish and still leave you with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60s — THIS is the slide. Walk the arrow left to right. Paste, parse into facts, rules name the cause, graph says who owns it, vectors find precedent, assemble the RCA — all of that is 1.7 milliseconds and zero tokens. Only then does the LLM run, once, capped at 400 tokens, on a finished answer. That ordering is the whole invention.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55s. Two retrieval layers, two jobs. Graph for relationships — traversal, no vectors. Vector search for precedent — embeddings, no graph. The 0.13 versus 0.69 is the same fault described differently: keyword matching misses it, vectors catch it. Close on the bottom line — neither one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55s. Both modes receive the finished RCA as context — that is new. The difference is permission, not data: Project may not go beyond the verified facts, General may and has to flag it. General stays useful on a failure class nobody has configured yet, which is the honest answer to 'what about something new'.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70s — slow here. Read the right column aloud. Row three is adaptability: all domain knowledge is four JSON files, so another team points it at their own system by editing them. Row four is the cost story. Finish on the closing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 then straight into the demo. Three things beyond the fix, then the numbers. 269 tests offline says it is real; 1.7 milliseconds says it scales; four config files says anyone can adopt it; zero AI in the decision is the thesis. Close on the line and start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572768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POTENTIAL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975104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Investigation Assistant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92608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failing log. Get the root cause, the evidence behind it and the fix — then ask it anything about the incident.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2377440" cy="9144"/>
          </a:xfrm>
          <a:prstGeom prst="rect">
            <a:avLst/>
          </a:prstGeom>
          <a:solidFill>
            <a:srgbClr val="363B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1696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that cannot get the diagnosis wrong,</a:t>
            </a:r>
            <a:pPr indent="0" marL="0">
              <a:buNone/>
            </a:pPr>
            <a:r>
              <a:rPr lang="en-US" sz="1900" dirty="0">
                <a:solidFill>
                  <a:srgbClr val="B4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because it is never the one deciding.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7607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Young Innovators 2026   ·   Theme 3, Log Analysis   ·   Société Générale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consoles, and often still no answer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17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failure, seven systems checked by hand, each in a different tool.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Service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Aldavar DB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77056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77056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views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58384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358384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39712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 SAT endpoints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802368" y="21945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802368" y="24323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3127248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41985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check passes. The sync is still broken.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9319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completes and has nothing left to say. The cause is often never found — only worked around — and whatever was learned leaves with the person who learned it.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291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B4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0624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 time per incident, across three teams.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runs last, on an answer that already exists</a:t>
            </a:r>
            <a:endParaRPr lang="en-US" sz="3300" dirty="0"/>
          </a:p>
        </p:txBody>
      </p:sp>
      <p:sp>
        <p:nvSpPr>
          <p:cNvPr id="4" name="step0"/>
          <p:cNvSpPr/>
          <p:nvPr/>
        </p:nvSpPr>
        <p:spPr>
          <a:xfrm>
            <a:off x="914400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395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" name="step1"/>
          <p:cNvSpPr/>
          <p:nvPr/>
        </p:nvSpPr>
        <p:spPr>
          <a:xfrm>
            <a:off x="2459736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87752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facts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831336" y="2395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tep2"/>
          <p:cNvSpPr/>
          <p:nvPr/>
        </p:nvSpPr>
        <p:spPr>
          <a:xfrm>
            <a:off x="4005072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33088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395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tep3"/>
          <p:cNvSpPr/>
          <p:nvPr/>
        </p:nvSpPr>
        <p:spPr>
          <a:xfrm>
            <a:off x="5550408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78424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78424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395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tep4"/>
          <p:cNvSpPr/>
          <p:nvPr/>
        </p:nvSpPr>
        <p:spPr>
          <a:xfrm>
            <a:off x="7095744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before?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67344" y="239572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tep5"/>
          <p:cNvSpPr/>
          <p:nvPr/>
        </p:nvSpPr>
        <p:spPr>
          <a:xfrm>
            <a:off x="8641080" y="2066544"/>
            <a:ext cx="1389888" cy="1078992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69096" y="224942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69096" y="254203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RCA</a:t>
            </a:r>
            <a:endParaRPr lang="en-US" sz="1050" dirty="0"/>
          </a:p>
        </p:txBody>
      </p:sp>
      <p:sp>
        <p:nvSpPr>
          <p:cNvPr id="27" name="llm"/>
          <p:cNvSpPr/>
          <p:nvPr/>
        </p:nvSpPr>
        <p:spPr>
          <a:xfrm>
            <a:off x="10186416" y="2066544"/>
            <a:ext cx="1090879" cy="1078992"/>
          </a:xfrm>
          <a:prstGeom prst="rect">
            <a:avLst/>
          </a:prstGeom>
          <a:solidFill>
            <a:srgbClr val="14171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14432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314432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400" y="3310128"/>
            <a:ext cx="9116568" cy="9144"/>
          </a:xfrm>
          <a:prstGeom prst="rect">
            <a:avLst/>
          </a:prstGeom>
          <a:solidFill>
            <a:srgbClr val="D5D7D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3401568"/>
            <a:ext cx="9116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 ·   1.7 ms   ·   0 TOKENS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86416" y="3310128"/>
            <a:ext cx="1090879" cy="12802"/>
          </a:xfrm>
          <a:prstGeom prst="rect">
            <a:avLst/>
          </a:prstGeom>
          <a:solidFill>
            <a:srgbClr val="B4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86416" y="3401568"/>
            <a:ext cx="10908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7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spc="7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TOKENS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0" y="3968496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a model, name the cause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791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hallucination cannot become a diagnosis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453128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vectors enrich — never decide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53128" y="4791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after the cause is already fixed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91856" y="4206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LLM off and the answer is identical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991856" y="47914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 tests prove it, offline, with no key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RETRIEVAL LAYERS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by traversal, precedent by similarity</a:t>
            </a:r>
            <a:endParaRPr lang="en-US" sz="3300" dirty="0"/>
          </a:p>
        </p:txBody>
      </p:sp>
      <p:sp>
        <p:nvSpPr>
          <p:cNvPr id="4" name="graphCard"/>
          <p:cNvSpPr/>
          <p:nvPr/>
        </p:nvSpPr>
        <p:spPr>
          <a:xfrm>
            <a:off x="914400" y="1682496"/>
            <a:ext cx="5029200" cy="27432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43584" y="19202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21945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nodes, 82 edges — built from the config at startup, no database.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27066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 →  CLASSIFIED_AS  →  Layer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29443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→  OWNED_BY  →  Team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334670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team owns this?” is two hops, not a model recalling something. Same for what the application calls and depends on.</a:t>
            </a:r>
            <a:endParaRPr lang="en-US" sz="1250" dirty="0"/>
          </a:p>
        </p:txBody>
      </p:sp>
      <p:sp>
        <p:nvSpPr>
          <p:cNvPr id="10" name="vecCard"/>
          <p:cNvSpPr/>
          <p:nvPr/>
        </p:nvSpPr>
        <p:spPr>
          <a:xfrm>
            <a:off x="6245352" y="1682496"/>
            <a:ext cx="5029200" cy="2743200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4536" y="19202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74536" y="21945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a normalised failure signature — never the raw stack trace.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7066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fault, written up in different words: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A3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keyword match  0.13</a:t>
            </a:r>
            <a:pPr indent="0" marL="0">
              <a:buNone/>
            </a:pPr>
            <a:r>
              <a:rPr lang="en-US" sz="1250" b="1" dirty="0">
                <a:solidFill>
                  <a:srgbClr val="B44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vectors  0.69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334670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matching misses it entirely. Vectors recognise it — and every signature is embedded once, then cached forever.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4773168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9926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of them decides anything.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413248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is already fixed before either runs. Retrieval only adds context — who to call, and whether this has bitten us before. A wrong retrieval gives you a less useful answer, never a wrong one.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DIAGNOSIS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modes get the incident. Only one may speculate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99616"/>
            <a:ext cx="10241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RCA is fed in as context, so the assistant is always talking about this failure — not answering in the abstract.</a:t>
            </a:r>
            <a:endParaRPr lang="en-US" sz="1500" dirty="0"/>
          </a:p>
        </p:txBody>
      </p:sp>
      <p:sp>
        <p:nvSpPr>
          <p:cNvPr id="5" name="m1"/>
          <p:cNvSpPr/>
          <p:nvPr/>
        </p:nvSpPr>
        <p:spPr>
          <a:xfrm>
            <a:off x="914400" y="2231136"/>
            <a:ext cx="5029200" cy="2615184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3584" y="24688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E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·  GROUNDED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27432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nothing but verified project data.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43584" y="32369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19 approved lookups, graph and vector results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36027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answer shows its source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3968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Says “I don’t have the evidence” rather than guessing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43584" y="4425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team owns this?”</a:t>
            </a:r>
            <a:endParaRPr lang="en-US" sz="1200" dirty="0"/>
          </a:p>
        </p:txBody>
      </p:sp>
      <p:sp>
        <p:nvSpPr>
          <p:cNvPr id="12" name="m6.83"/>
          <p:cNvSpPr/>
          <p:nvPr/>
        </p:nvSpPr>
        <p:spPr>
          <a:xfrm>
            <a:off x="6245352" y="2231136"/>
            <a:ext cx="5029200" cy="2615184"/>
          </a:xfrm>
          <a:prstGeom prst="rect">
            <a:avLst/>
          </a:prstGeom>
          <a:solidFill>
            <a:srgbClr val="F5F5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24688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 ·  ADVISORY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27432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reason beyond the facts — and must say when it does.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32369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incident context, wider technical knowledge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74536" y="36027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Marks every suggestion as suggestion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396849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Still useful when the engine returns Unknown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4425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4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else could cause this?”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175504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376672"/>
            <a:ext cx="10241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joiner can ask the system instead of a colleague. </a:t>
            </a:r>
            <a:pPr indent="0" marL="0">
              <a:buNone/>
            </a:pPr>
            <a:r>
              <a:rPr lang="en-US" sz="1350" dirty="0">
                <a:solidFill>
                  <a:srgbClr val="707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chain comes from the topology graph, so the answer is the real one. Internal hostnames are masked before any prompt leaves the machine.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365760"/>
            <a:ext cx="103628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658368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can call an LLM. That isn’t the hard part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57276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LOG-ANALYSIS TOOL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5727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4480560" cy="9144"/>
          </a:xfrm>
          <a:prstGeom prst="rect">
            <a:avLst/>
          </a:prstGeom>
          <a:solidFill>
            <a:srgbClr val="E8EA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828800"/>
            <a:ext cx="5330952" cy="12802"/>
          </a:xfrm>
          <a:prstGeom prst="rect">
            <a:avLst/>
          </a:prstGeom>
          <a:solidFill>
            <a:srgbClr val="B4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066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model what broke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029968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decide; the model is never asked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40864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cannot reach the diagnosis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even when it should not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798064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“Inconclusive” and shows its working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10896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beats a confident wrong answer at 2am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6027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to one system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661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JSON files: topology, rules, runbooks, history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87705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team adapts it without writing code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708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call per log, every time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334256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per incident, capped at 400 tokens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64515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8 of 8 common questions with zero calls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138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A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 the API is down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5102352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the AI switched off entirely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5413248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 tests pass with no key and no network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5961888"/>
            <a:ext cx="10362895" cy="9144"/>
          </a:xfrm>
          <a:prstGeom prst="rect">
            <a:avLst/>
          </a:prstGeom>
          <a:solidFill>
            <a:srgbClr val="E2E4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61447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417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is structural, not a prompt we tuned — and the portability is config, not a rewrite.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345936"/>
            <a:ext cx="3200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C7CAC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13232"/>
            <a:ext cx="10362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8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FIX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078992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incident makes the next one cheaper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IT RECURRING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14016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across code, config, monitoring and process — with the safe batch size calculated from the throughput measured in the log.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53128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53128" y="2286000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53128" y="2414016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do-not list. “Do not raise the client timeout” — the client was never what cut the connection. This is where hours go.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91856" y="1975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HARD TO FIND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991856" y="2286000"/>
            <a:ext cx="3200400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91856" y="2414016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scores our own logging, 5 of 10. We never record how long a job takes, which is why a sync degrading for weeks stayed invisible.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10362895" cy="9144"/>
          </a:xfrm>
          <a:prstGeom prst="rect">
            <a:avLst/>
          </a:prstGeom>
          <a:solidFill>
            <a:srgbClr val="343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2611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10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offline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42611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 ms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3538728" y="5010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diagnosis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42611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5010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787384" y="42611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8787384" y="5010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the decision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bank’s approved Azure OpenAI endpoint — one file changes.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852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decides what happened. The model explains it.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534095" y="5943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60" kern="0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POTENTIAL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tential">
  <a:themeElements>
    <a:clrScheme name="Potential">
      <a:dk1>
        <a:srgbClr val="14171B"/>
      </a:dk1>
      <a:lt1>
        <a:srgbClr val="FFFFFF"/>
      </a:lt1>
      <a:dk2>
        <a:srgbClr val="70777F"/>
      </a:dk2>
      <a:lt2>
        <a:srgbClr val="F5F5F3"/>
      </a:lt2>
      <a:accent1>
        <a:srgbClr val="B4472E"/>
      </a:accent1>
      <a:accent2>
        <a:srgbClr val="2E6A4F"/>
      </a:accent2>
      <a:accent3>
        <a:srgbClr val="14171B"/>
      </a:accent3>
      <a:accent4>
        <a:srgbClr val="70777F"/>
      </a:accent4>
      <a:accent5>
        <a:srgbClr val="D7D9DD"/>
      </a:accent5>
      <a:accent6>
        <a:srgbClr val="F5F5F3"/>
      </a:accent6>
      <a:hlink>
        <a:srgbClr val="B4472E"/>
      </a:hlink>
      <a:folHlink>
        <a:srgbClr val="70777F"/>
      </a:folHlink>
    </a:clrScheme>
    <a:fontScheme name="Potent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Team Potential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Investigation Assistant</dc:title>
  <dc:subject>PptxGenJS Presentation</dc:subject>
  <dc:creator>Team Potential</dc:creator>
  <cp:lastModifiedBy>Team Potential</cp:lastModifiedBy>
  <cp:revision>1</cp:revision>
  <dcterms:created xsi:type="dcterms:W3CDTF">2026-10-26T09:29:39Z</dcterms:created>
  <dcterms:modified xsi:type="dcterms:W3CDTF">2026-10-26T09:29:39Z</dcterms:modified>
</cp:coreProperties>
</file>