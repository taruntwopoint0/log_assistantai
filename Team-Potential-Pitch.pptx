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e900c60-a1fa-ac2e-6a0b-0f89f7e914f6}">
          <p14:sldIdLst>
            <p14:sldId id="256"/>
          </p14:sldIdLst>
        </p14:section>
        <p14:section name="Problem" id="{2fe99df4-a582-c7ae-e992-dc178f03d9d6}">
          <p14:sldIdLst>
            <p14:sldId id="257"/>
          </p14:sldIdLst>
        </p14:section>
        <p14:section name="Insight" id="{52034bfb-29ab-49ed-5254-93f0472e5a36}">
          <p14:sldIdLst>
            <p14:sldId id="258"/>
          </p14:sldIdLst>
        </p14:section>
        <p14:section name="Architecture" id="{1d4fa5f3-9271-a8d0-c1ba-a838d90b12e9}">
          <p14:sldIdLst>
            <p14:sldId id="259"/>
          </p14:sldIdLst>
        </p14:section>
        <p14:section name="Stack" id="{56a114c0-de92-4936-e9df-5fc74ae9b25f}">
          <p14:sldIdLst>
            <p14:sldId id="260"/>
          </p14:sldIdLst>
        </p14:section>
        <p14:section name="Differentiator" id="{12f26f35-56c6-3930-25bf-c14e9b819355}">
          <p14:sldIdLst>
            <p14:sldId id="261"/>
          </p14:sldIdLst>
        </p14:section>
        <p14:section name="Close" id="{612080c6-c458-4289-49b9-9ca1240e06c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We are Team Potential. This takes a failing log and returns the root cause with the evidence. The line at the bottom is what separates us from every other log-analysis project here: the language model is never asked what broke. I will show you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Seven consoles, seven manual checks. The painful part is not the time. It is that the checklist can complete and leave you with nothing — every source reports healthy and the sync is still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and this is the credibility slide. Look at the pattern: it is size, not time of day. 39 records took 7 seconds, so 539 needs about 97. It was cut at 60. A round number below the work's real duration means a configured timeout upstream. Galileo was never down — it answered small batches all day. Three teams missed this for days because no console shows it. The tool finds it in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Six deterministic stages, then one AI stage. Stages 1 to 6 are plain Python — regex, dictionary lookups, arithmetic. No network, no credentials, no model. By the time the model is called, the answer already exists. It only writes the paragraph. That is why hallucination cannot reach the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Keep this quick. The point of the slide is the last line: one component touches the internet, and it runs after the decision is made. The graph and the vector search are real but they only enrich — they never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 this is the slide that wins or loses it. Slow down here. Everyone in this room can call an LLM over a log file. The hard part is what happens when the model is wrong, and the honest answer for most tools is: nothing, it just tells you something false with confidence. Ours cannot, because the model is never asked. Read the right-hand column out loud. Finish on the last line: structural, not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then stop and invite questions. Lead with 264 tests passing offline — that is the line that says this is real. Two seconds against days is the business case. Mention the roadmap briefly so they know we know what production needs. Close on the one line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71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676656"/>
            <a:ext cx="10362895" cy="749808"/>
          </a:xfrm>
          <a:prstGeom prst="rect">
            <a:avLst/>
          </a:prstGeom>
          <a:noFill/>
          <a:ln/>
        </p:spPr>
        <p:txBody>
          <a:bodyPr wrap="square" rtlCol="0"/>
          <a:lstStyle>
            <a:lvl1pPr algn="l" indent="0" marL="0">
              <a:buNone/>
              <a:defRPr lang="en-US" sz="3400" dirty="0">
                <a:solidFill>
                  <a:srgbClr val="14171B"/>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1463040"/>
            <a:ext cx="10362895" cy="256032"/>
          </a:xfrm>
          <a:prstGeom prst="rect">
            <a:avLst/>
          </a:prstGeom>
          <a:noFill/>
          <a:ln/>
        </p:spPr>
        <p:txBody>
          <a:bodyPr wrap="square" lIns="0" tIns="0" rIns="0" bIns="0" rtlCol="0" anchor="ctr"/>
          <a:lstStyle/>
          <a:p>
            <a:pPr indent="0" marL="0">
              <a:buNone/>
            </a:pPr>
            <a:r>
              <a:rPr lang="en-US" sz="1150" b="1" spc="320" kern="0" dirty="0">
                <a:solidFill>
                  <a:srgbClr val="B4472E"/>
                </a:solidFill>
                <a:latin typeface="Calibri" pitchFamily="34" charset="0"/>
                <a:ea typeface="Calibri" pitchFamily="34" charset="-122"/>
                <a:cs typeface="Calibri" pitchFamily="34" charset="-120"/>
              </a:rPr>
              <a:t>TEAM POTENTIAL</a:t>
            </a:r>
            <a:endParaRPr lang="en-US" sz="1150" dirty="0"/>
          </a:p>
        </p:txBody>
      </p:sp>
      <p:sp>
        <p:nvSpPr>
          <p:cNvPr id="3" name="Text 1"/>
          <p:cNvSpPr txBox="1"/>
          <p:nvPr/>
        </p:nvSpPr>
        <p:spPr>
          <a:xfrm>
            <a:off x="914400" y="1874520"/>
            <a:ext cx="10362895" cy="868680"/>
          </a:xfrm>
          <a:prstGeom prst="rect">
            <a:avLst/>
          </a:prstGeom>
          <a:noFill/>
          <a:ln/>
        </p:spPr>
        <p:txBody>
          <a:bodyPr wrap="square" lIns="0" tIns="0" rIns="0" bIns="0" rtlCol="0" anchor="ctr"/>
          <a:lstStyle/>
          <a:p>
            <a:pPr indent="0" marL="0">
              <a:buNone/>
            </a:pPr>
            <a:r>
              <a:rPr lang="en-US" sz="5200" dirty="0">
                <a:solidFill>
                  <a:srgbClr val="FFFFFF"/>
                </a:solidFill>
                <a:latin typeface="Cambria" pitchFamily="34" charset="0"/>
                <a:ea typeface="Cambria" pitchFamily="34" charset="-122"/>
                <a:cs typeface="Cambria" pitchFamily="34" charset="-120"/>
              </a:rPr>
              <a:t>AI Investigation Assistant</a:t>
            </a:r>
            <a:endParaRPr lang="en-US" sz="5200" dirty="0"/>
          </a:p>
        </p:txBody>
      </p:sp>
      <p:sp>
        <p:nvSpPr>
          <p:cNvPr id="4" name="Text 2"/>
          <p:cNvSpPr txBox="1"/>
          <p:nvPr/>
        </p:nvSpPr>
        <p:spPr>
          <a:xfrm>
            <a:off x="914400" y="2816352"/>
            <a:ext cx="8778240" cy="384048"/>
          </a:xfrm>
          <a:prstGeom prst="rect">
            <a:avLst/>
          </a:prstGeom>
          <a:noFill/>
          <a:ln/>
        </p:spPr>
        <p:txBody>
          <a:bodyPr wrap="square" lIns="0" tIns="0" rIns="0" bIns="0" rtlCol="0" anchor="ctr"/>
          <a:lstStyle/>
          <a:p>
            <a:pPr indent="0" marL="0">
              <a:buNone/>
            </a:pPr>
            <a:r>
              <a:rPr lang="en-US" sz="1750" dirty="0">
                <a:solidFill>
                  <a:srgbClr val="A8AEB5"/>
                </a:solidFill>
                <a:latin typeface="Calibri" pitchFamily="34" charset="0"/>
                <a:ea typeface="Calibri" pitchFamily="34" charset="-122"/>
                <a:cs typeface="Calibri" pitchFamily="34" charset="-120"/>
              </a:rPr>
              <a:t>Paste a failing log. Get the root cause, the evidence behind it, and the fix.</a:t>
            </a:r>
            <a:endParaRPr lang="en-US" sz="1750" dirty="0"/>
          </a:p>
        </p:txBody>
      </p:sp>
      <p:sp>
        <p:nvSpPr>
          <p:cNvPr id="5" name="Shape 3"/>
          <p:cNvSpPr/>
          <p:nvPr/>
        </p:nvSpPr>
        <p:spPr>
          <a:xfrm>
            <a:off x="914400" y="3703320"/>
            <a:ext cx="2377440" cy="9144"/>
          </a:xfrm>
          <a:prstGeom prst="rect">
            <a:avLst/>
          </a:prstGeom>
          <a:solidFill>
            <a:srgbClr val="363B41"/>
          </a:solidFill>
          <a:ln w="12700">
            <a:solidFill>
              <a:srgbClr val="333333"/>
            </a:solidFill>
            <a:prstDash val="solid"/>
          </a:ln>
        </p:spPr>
      </p:sp>
      <p:sp>
        <p:nvSpPr>
          <p:cNvPr id="6" name="Text 4"/>
          <p:cNvSpPr txBox="1"/>
          <p:nvPr/>
        </p:nvSpPr>
        <p:spPr>
          <a:xfrm>
            <a:off x="914400" y="3950208"/>
            <a:ext cx="96012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AI never decides what broke.</a:t>
            </a:r>
            <a:pPr indent="0" marL="0">
              <a:buNone/>
            </a:pPr>
            <a:r>
              <a:rPr lang="en-US" sz="2000" dirty="0">
                <a:solidFill>
                  <a:srgbClr val="B4472E"/>
                </a:solidFill>
                <a:latin typeface="Cambria" pitchFamily="34" charset="0"/>
                <a:ea typeface="Cambria" pitchFamily="34" charset="-122"/>
                <a:cs typeface="Cambria" pitchFamily="34" charset="-120"/>
              </a:rPr>
              <a:t>  That is the entire point.</a:t>
            </a:r>
            <a:endParaRPr lang="en-US" sz="2000" dirty="0"/>
          </a:p>
        </p:txBody>
      </p:sp>
      <p:sp>
        <p:nvSpPr>
          <p:cNvPr id="7" name="Text 5"/>
          <p:cNvSpPr txBox="1"/>
          <p:nvPr/>
        </p:nvSpPr>
        <p:spPr>
          <a:xfrm>
            <a:off x="914400" y="5760720"/>
            <a:ext cx="10362895" cy="274320"/>
          </a:xfrm>
          <a:prstGeom prst="rect">
            <a:avLst/>
          </a:prstGeom>
          <a:noFill/>
          <a:ln/>
        </p:spPr>
        <p:txBody>
          <a:bodyPr wrap="square" lIns="0" tIns="0" rIns="0" bIns="0" rtlCol="0" anchor="ctr"/>
          <a:lstStyle/>
          <a:p>
            <a:pPr indent="0" marL="0">
              <a:buNone/>
            </a:pPr>
            <a:r>
              <a:rPr lang="en-US" sz="1200" dirty="0">
                <a:solidFill>
                  <a:srgbClr val="6A7179"/>
                </a:solidFill>
                <a:latin typeface="Calibri" pitchFamily="34" charset="0"/>
                <a:ea typeface="Calibri" pitchFamily="34" charset="-122"/>
                <a:cs typeface="Calibri" pitchFamily="34" charset="-120"/>
              </a:rPr>
              <a:t>LEAP Young Innovators 2026   ·   Theme 3, Log Analysis   ·   Société Générale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914400" y="384048"/>
            <a:ext cx="10362895" cy="219456"/>
          </a:xfrm>
          <a:prstGeom prst="rect">
            <a:avLst/>
          </a:prstGeom>
          <a:noFill/>
          <a:ln/>
        </p:spPr>
        <p:txBody>
          <a:bodyPr wrap="square" lIns="0" tIns="0" rIns="0" bIns="0" rtlCol="0" anchor="ctr"/>
          <a:lstStyle/>
          <a:p>
            <a:pPr indent="0" marL="0">
              <a:buNone/>
            </a:pPr>
            <a:r>
              <a:rPr lang="en-US" sz="1000" b="1" spc="240" kern="0" dirty="0">
                <a:solidFill>
                  <a:srgbClr val="B4472E"/>
                </a:solidFill>
                <a:latin typeface="Calibri" pitchFamily="34" charset="0"/>
                <a:ea typeface="Calibri" pitchFamily="34" charset="-122"/>
                <a:cs typeface="Calibri" pitchFamily="34" charset="-120"/>
              </a:rPr>
              <a:t>THE PROBLEM</a:t>
            </a:r>
            <a:endParaRPr lang="en-US" sz="1000" dirty="0"/>
          </a:p>
        </p:txBody>
      </p:sp>
      <p:sp>
        <p:nvSpPr>
          <p:cNvPr id="3" name="Text 0"/>
          <p:cNvSpPr/>
          <p:nvPr>
            <p:ph idx="100" type="title" hasCustomPrompt="1"/>
          </p:nvPr>
        </p:nvSpPr>
        <p:spPr>
          <a:xfrm>
            <a:off x="914400" y="676656"/>
            <a:ext cx="10362895" cy="749808"/>
          </a:xfrm>
          <a:prstGeom prst="rect">
            <a:avLst/>
          </a:prstGeom>
          <a:noFill/>
          <a:ln/>
        </p:spPr>
        <p:txBody>
          <a:bodyPr wrap="square" lIns="0" tIns="0" rIns="0" bIns="0" rtlCol="0" anchor="ctr"/>
          <a:lstStyle/>
          <a:p>
            <a:pPr algn="l" indent="0" marL="0">
              <a:buNone/>
            </a:pPr>
            <a:r>
              <a:rPr lang="en-US" sz="3400" dirty="0">
                <a:solidFill>
                  <a:srgbClr val="14171B"/>
                </a:solidFill>
                <a:latin typeface="Cambria" pitchFamily="34" charset="0"/>
                <a:ea typeface="Cambria" pitchFamily="34" charset="-122"/>
                <a:cs typeface="Cambria" pitchFamily="34" charset="-120"/>
              </a:rPr>
              <a:t>Seven consoles, and often still no answer</a:t>
            </a:r>
            <a:endParaRPr lang="en-US" sz="3400" dirty="0"/>
          </a:p>
        </p:txBody>
      </p:sp>
      <p:sp>
        <p:nvSpPr>
          <p:cNvPr id="4" name="Text 2"/>
          <p:cNvSpPr txBox="1"/>
          <p:nvPr/>
        </p:nvSpPr>
        <p:spPr>
          <a:xfrm>
            <a:off x="914400" y="1554480"/>
            <a:ext cx="9692640" cy="365760"/>
          </a:xfrm>
          <a:prstGeom prst="rect">
            <a:avLst/>
          </a:prstGeom>
          <a:noFill/>
          <a:ln/>
        </p:spPr>
        <p:txBody>
          <a:bodyPr wrap="square" lIns="0" tIns="0" rIns="0" bIns="0" rtlCol="0" anchor="ctr"/>
          <a:lstStyle/>
          <a:p>
            <a:pPr indent="0" marL="0">
              <a:buNone/>
            </a:pPr>
            <a:r>
              <a:rPr lang="en-US" sz="1500" dirty="0">
                <a:solidFill>
                  <a:srgbClr val="70777F"/>
                </a:solidFill>
                <a:latin typeface="Calibri" pitchFamily="34" charset="0"/>
                <a:ea typeface="Calibri" pitchFamily="34" charset="-122"/>
                <a:cs typeface="Calibri" pitchFamily="34" charset="-120"/>
              </a:rPr>
              <a:t>When the supplier sync fails, an engineer checks seven systems by hand. Each one is a different tool.</a:t>
            </a:r>
            <a:endParaRPr lang="en-US" sz="1500" dirty="0"/>
          </a:p>
        </p:txBody>
      </p:sp>
      <p:sp>
        <p:nvSpPr>
          <p:cNvPr id="5" name="Text 3"/>
          <p:cNvSpPr txBox="1"/>
          <p:nvPr/>
        </p:nvSpPr>
        <p:spPr>
          <a:xfrm>
            <a:off x="914400"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01</a:t>
            </a:r>
            <a:endParaRPr lang="en-US" sz="1000" dirty="0"/>
          </a:p>
        </p:txBody>
      </p:sp>
      <p:sp>
        <p:nvSpPr>
          <p:cNvPr id="6" name="Text 4"/>
          <p:cNvSpPr txBox="1"/>
          <p:nvPr/>
        </p:nvSpPr>
        <p:spPr>
          <a:xfrm>
            <a:off x="914400"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Windows Service</a:t>
            </a:r>
            <a:endParaRPr lang="en-US" sz="1250" dirty="0"/>
          </a:p>
        </p:txBody>
      </p:sp>
      <p:sp>
        <p:nvSpPr>
          <p:cNvPr id="7" name="Text 5"/>
          <p:cNvSpPr txBox="1"/>
          <p:nvPr/>
        </p:nvSpPr>
        <p:spPr>
          <a:xfrm>
            <a:off x="2395728"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02</a:t>
            </a:r>
            <a:endParaRPr lang="en-US" sz="1000" dirty="0"/>
          </a:p>
        </p:txBody>
      </p:sp>
      <p:sp>
        <p:nvSpPr>
          <p:cNvPr id="8" name="Text 6"/>
          <p:cNvSpPr txBox="1"/>
          <p:nvPr/>
        </p:nvSpPr>
        <p:spPr>
          <a:xfrm>
            <a:off x="2395728"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Aldavar DB</a:t>
            </a:r>
            <a:endParaRPr lang="en-US" sz="1250" dirty="0"/>
          </a:p>
        </p:txBody>
      </p:sp>
      <p:sp>
        <p:nvSpPr>
          <p:cNvPr id="9" name="Text 7"/>
          <p:cNvSpPr txBox="1"/>
          <p:nvPr/>
        </p:nvSpPr>
        <p:spPr>
          <a:xfrm>
            <a:off x="3877056"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03</a:t>
            </a:r>
            <a:endParaRPr lang="en-US" sz="1000" dirty="0"/>
          </a:p>
        </p:txBody>
      </p:sp>
      <p:sp>
        <p:nvSpPr>
          <p:cNvPr id="10" name="Text 8"/>
          <p:cNvSpPr txBox="1"/>
          <p:nvPr/>
        </p:nvSpPr>
        <p:spPr>
          <a:xfrm>
            <a:off x="3877056"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Database views</a:t>
            </a:r>
            <a:endParaRPr lang="en-US" sz="1250" dirty="0"/>
          </a:p>
        </p:txBody>
      </p:sp>
      <p:sp>
        <p:nvSpPr>
          <p:cNvPr id="11" name="Text 9"/>
          <p:cNvSpPr txBox="1"/>
          <p:nvPr/>
        </p:nvSpPr>
        <p:spPr>
          <a:xfrm>
            <a:off x="5358384"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04</a:t>
            </a:r>
            <a:endParaRPr lang="en-US" sz="1000" dirty="0"/>
          </a:p>
        </p:txBody>
      </p:sp>
      <p:sp>
        <p:nvSpPr>
          <p:cNvPr id="12" name="Text 10"/>
          <p:cNvSpPr txBox="1"/>
          <p:nvPr/>
        </p:nvSpPr>
        <p:spPr>
          <a:xfrm>
            <a:off x="5358384"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Galileo</a:t>
            </a:r>
            <a:endParaRPr lang="en-US" sz="1250" dirty="0"/>
          </a:p>
        </p:txBody>
      </p:sp>
      <p:sp>
        <p:nvSpPr>
          <p:cNvPr id="13" name="Text 11"/>
          <p:cNvSpPr txBox="1"/>
          <p:nvPr/>
        </p:nvSpPr>
        <p:spPr>
          <a:xfrm>
            <a:off x="6839712"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05</a:t>
            </a:r>
            <a:endParaRPr lang="en-US" sz="1000" dirty="0"/>
          </a:p>
        </p:txBody>
      </p:sp>
      <p:sp>
        <p:nvSpPr>
          <p:cNvPr id="14" name="Text 12"/>
          <p:cNvSpPr txBox="1"/>
          <p:nvPr/>
        </p:nvSpPr>
        <p:spPr>
          <a:xfrm>
            <a:off x="6839712"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ALD SAT endpoints</a:t>
            </a:r>
            <a:endParaRPr lang="en-US" sz="1250" dirty="0"/>
          </a:p>
        </p:txBody>
      </p:sp>
      <p:sp>
        <p:nvSpPr>
          <p:cNvPr id="15" name="Text 13"/>
          <p:cNvSpPr txBox="1"/>
          <p:nvPr/>
        </p:nvSpPr>
        <p:spPr>
          <a:xfrm>
            <a:off x="8321040"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06</a:t>
            </a:r>
            <a:endParaRPr lang="en-US" sz="1000" dirty="0"/>
          </a:p>
        </p:txBody>
      </p:sp>
      <p:sp>
        <p:nvSpPr>
          <p:cNvPr id="16" name="Text 14"/>
          <p:cNvSpPr txBox="1"/>
          <p:nvPr/>
        </p:nvSpPr>
        <p:spPr>
          <a:xfrm>
            <a:off x="8321040"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Network</a:t>
            </a:r>
            <a:endParaRPr lang="en-US" sz="1250" dirty="0"/>
          </a:p>
        </p:txBody>
      </p:sp>
      <p:sp>
        <p:nvSpPr>
          <p:cNvPr id="17" name="Text 15"/>
          <p:cNvSpPr txBox="1"/>
          <p:nvPr/>
        </p:nvSpPr>
        <p:spPr>
          <a:xfrm>
            <a:off x="9802368" y="2286000"/>
            <a:ext cx="1325880"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07</a:t>
            </a:r>
            <a:endParaRPr lang="en-US" sz="1000" dirty="0"/>
          </a:p>
        </p:txBody>
      </p:sp>
      <p:sp>
        <p:nvSpPr>
          <p:cNvPr id="18" name="Text 16"/>
          <p:cNvSpPr txBox="1"/>
          <p:nvPr/>
        </p:nvSpPr>
        <p:spPr>
          <a:xfrm>
            <a:off x="9802368" y="2523744"/>
            <a:ext cx="1371600" cy="548640"/>
          </a:xfrm>
          <a:prstGeom prst="rect">
            <a:avLst/>
          </a:prstGeom>
          <a:noFill/>
          <a:ln/>
        </p:spPr>
        <p:txBody>
          <a:bodyPr wrap="square" lIns="0" tIns="0" rIns="0" bIns="0" rtlCol="0" anchor="ctr"/>
          <a:lstStyle/>
          <a:p>
            <a:pPr indent="0" marL="0">
              <a:buNone/>
            </a:pPr>
            <a:r>
              <a:rPr lang="en-US" sz="1250" dirty="0">
                <a:solidFill>
                  <a:srgbClr val="14171B"/>
                </a:solidFill>
                <a:latin typeface="Calibri" pitchFamily="34" charset="0"/>
                <a:ea typeface="Calibri" pitchFamily="34" charset="-122"/>
                <a:cs typeface="Calibri" pitchFamily="34" charset="-120"/>
              </a:rPr>
              <a:t>Application logs</a:t>
            </a:r>
            <a:endParaRPr lang="en-US" sz="1250" dirty="0"/>
          </a:p>
        </p:txBody>
      </p:sp>
      <p:sp>
        <p:nvSpPr>
          <p:cNvPr id="19" name="Shape 17"/>
          <p:cNvSpPr/>
          <p:nvPr/>
        </p:nvSpPr>
        <p:spPr>
          <a:xfrm>
            <a:off x="914400" y="3200400"/>
            <a:ext cx="10362895" cy="9144"/>
          </a:xfrm>
          <a:prstGeom prst="rect">
            <a:avLst/>
          </a:prstGeom>
          <a:solidFill>
            <a:srgbClr val="E2E4E7"/>
          </a:solidFill>
          <a:ln w="12700">
            <a:solidFill>
              <a:srgbClr val="333333"/>
            </a:solidFill>
            <a:prstDash val="solid"/>
          </a:ln>
        </p:spPr>
      </p:sp>
      <p:sp>
        <p:nvSpPr>
          <p:cNvPr id="20" name="Text 18"/>
          <p:cNvSpPr txBox="1"/>
          <p:nvPr/>
        </p:nvSpPr>
        <p:spPr>
          <a:xfrm>
            <a:off x="914400" y="3529584"/>
            <a:ext cx="6583680" cy="402336"/>
          </a:xfrm>
          <a:prstGeom prst="rect">
            <a:avLst/>
          </a:prstGeom>
          <a:noFill/>
          <a:ln/>
        </p:spPr>
        <p:txBody>
          <a:bodyPr wrap="square" lIns="0" tIns="0" rIns="0" bIns="0" rtlCol="0" anchor="ctr"/>
          <a:lstStyle/>
          <a:p>
            <a:pPr indent="0" marL="0">
              <a:buNone/>
            </a:pPr>
            <a:r>
              <a:rPr lang="en-US" sz="2400" dirty="0">
                <a:solidFill>
                  <a:srgbClr val="14171B"/>
                </a:solidFill>
                <a:latin typeface="Cambria" pitchFamily="34" charset="0"/>
                <a:ea typeface="Cambria" pitchFamily="34" charset="-122"/>
                <a:cs typeface="Cambria" pitchFamily="34" charset="-120"/>
              </a:rPr>
              <a:t>Every check passes. The sync is still broken.</a:t>
            </a:r>
            <a:endParaRPr lang="en-US" sz="2400" dirty="0"/>
          </a:p>
        </p:txBody>
      </p:sp>
      <p:sp>
        <p:nvSpPr>
          <p:cNvPr id="21" name="Text 19"/>
          <p:cNvSpPr txBox="1"/>
          <p:nvPr/>
        </p:nvSpPr>
        <p:spPr>
          <a:xfrm>
            <a:off x="914400" y="4005072"/>
            <a:ext cx="6583680" cy="822960"/>
          </a:xfrm>
          <a:prstGeom prst="rect">
            <a:avLst/>
          </a:prstGeom>
          <a:noFill/>
          <a:ln/>
        </p:spPr>
        <p:txBody>
          <a:bodyPr wrap="square" lIns="0" tIns="0" rIns="0" bIns="0" rtlCol="0" anchor="ctr"/>
          <a:lstStyle/>
          <a:p>
            <a:pPr indent="0" marL="0">
              <a:buNone/>
            </a:pPr>
            <a:r>
              <a:rPr lang="en-US" sz="1400" dirty="0">
                <a:solidFill>
                  <a:srgbClr val="70777F"/>
                </a:solidFill>
                <a:latin typeface="Calibri" pitchFamily="34" charset="0"/>
                <a:ea typeface="Calibri" pitchFamily="34" charset="-122"/>
                <a:cs typeface="Calibri" pitchFamily="34" charset="-120"/>
              </a:rPr>
              <a:t>“Galileo reachable. DB fine. Service running.” The checklist completes and has nothing left to say. The cause is often never found — only worked around.</a:t>
            </a:r>
            <a:endParaRPr lang="en-US" sz="1400" dirty="0"/>
          </a:p>
        </p:txBody>
      </p:sp>
      <p:sp>
        <p:nvSpPr>
          <p:cNvPr id="22" name="Text 20"/>
          <p:cNvSpPr txBox="1"/>
          <p:nvPr/>
        </p:nvSpPr>
        <p:spPr>
          <a:xfrm>
            <a:off x="8321040" y="3328416"/>
            <a:ext cx="2926080" cy="868680"/>
          </a:xfrm>
          <a:prstGeom prst="rect">
            <a:avLst/>
          </a:prstGeom>
          <a:noFill/>
          <a:ln/>
        </p:spPr>
        <p:txBody>
          <a:bodyPr wrap="square" lIns="0" tIns="0" rIns="0" bIns="0" rtlCol="0" anchor="ctr"/>
          <a:lstStyle/>
          <a:p>
            <a:pPr indent="0" marL="0">
              <a:buNone/>
            </a:pPr>
            <a:r>
              <a:rPr lang="en-US" sz="5400" dirty="0">
                <a:solidFill>
                  <a:srgbClr val="B4472E"/>
                </a:solidFill>
                <a:latin typeface="Cambria" pitchFamily="34" charset="0"/>
                <a:ea typeface="Cambria" pitchFamily="34" charset="-122"/>
                <a:cs typeface="Cambria" pitchFamily="34" charset="-120"/>
              </a:rPr>
              <a:t>DAYS</a:t>
            </a:r>
            <a:endParaRPr lang="en-US" sz="5400" dirty="0"/>
          </a:p>
        </p:txBody>
      </p:sp>
      <p:sp>
        <p:nvSpPr>
          <p:cNvPr id="23" name="Text 21"/>
          <p:cNvSpPr txBox="1"/>
          <p:nvPr/>
        </p:nvSpPr>
        <p:spPr>
          <a:xfrm>
            <a:off x="8321040" y="4261104"/>
            <a:ext cx="2953512" cy="822960"/>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of engineer time per incident, across three teams, for a fault that was visible in the log the whole time.</a:t>
            </a:r>
            <a:endParaRPr lang="en-US" sz="125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914400" y="384048"/>
            <a:ext cx="10362895" cy="219456"/>
          </a:xfrm>
          <a:prstGeom prst="rect">
            <a:avLst/>
          </a:prstGeom>
          <a:noFill/>
          <a:ln/>
        </p:spPr>
        <p:txBody>
          <a:bodyPr wrap="square" lIns="0" tIns="0" rIns="0" bIns="0" rtlCol="0" anchor="ctr"/>
          <a:lstStyle/>
          <a:p>
            <a:pPr indent="0" marL="0">
              <a:buNone/>
            </a:pPr>
            <a:r>
              <a:rPr lang="en-US" sz="1000" b="1" spc="240" kern="0" dirty="0">
                <a:solidFill>
                  <a:srgbClr val="B4472E"/>
                </a:solidFill>
                <a:latin typeface="Calibri" pitchFamily="34" charset="0"/>
                <a:ea typeface="Calibri" pitchFamily="34" charset="-122"/>
                <a:cs typeface="Calibri" pitchFamily="34" charset="-120"/>
              </a:rPr>
              <a:t>WHAT WE FOUND</a:t>
            </a:r>
            <a:endParaRPr lang="en-US" sz="1000" dirty="0"/>
          </a:p>
        </p:txBody>
      </p:sp>
      <p:sp>
        <p:nvSpPr>
          <p:cNvPr id="3" name="Text 0"/>
          <p:cNvSpPr/>
          <p:nvPr>
            <p:ph idx="100" type="title" hasCustomPrompt="1"/>
          </p:nvPr>
        </p:nvSpPr>
        <p:spPr>
          <a:xfrm>
            <a:off x="914400" y="676656"/>
            <a:ext cx="10362895" cy="749808"/>
          </a:xfrm>
          <a:prstGeom prst="rect">
            <a:avLst/>
          </a:prstGeom>
          <a:noFill/>
          <a:ln/>
        </p:spPr>
        <p:txBody>
          <a:bodyPr wrap="square" lIns="0" tIns="0" rIns="0" bIns="0" rtlCol="0" anchor="ctr"/>
          <a:lstStyle/>
          <a:p>
            <a:pPr algn="l" indent="0" marL="0">
              <a:buNone/>
            </a:pPr>
            <a:r>
              <a:rPr lang="en-US" sz="3400" dirty="0">
                <a:solidFill>
                  <a:srgbClr val="14171B"/>
                </a:solidFill>
                <a:latin typeface="Cambria" pitchFamily="34" charset="0"/>
                <a:ea typeface="Cambria" pitchFamily="34" charset="-122"/>
                <a:cs typeface="Cambria" pitchFamily="34" charset="-120"/>
              </a:rPr>
              <a:t>The answer was in the log the whole time</a:t>
            </a:r>
            <a:endParaRPr lang="en-US" sz="3400" dirty="0"/>
          </a:p>
        </p:txBody>
      </p:sp>
      <p:sp>
        <p:nvSpPr>
          <p:cNvPr id="4" name="Text 2"/>
          <p:cNvSpPr txBox="1"/>
          <p:nvPr/>
        </p:nvSpPr>
        <p:spPr>
          <a:xfrm>
            <a:off x="914400" y="1554480"/>
            <a:ext cx="9692640" cy="365760"/>
          </a:xfrm>
          <a:prstGeom prst="rect">
            <a:avLst/>
          </a:prstGeom>
          <a:noFill/>
          <a:ln/>
        </p:spPr>
        <p:txBody>
          <a:bodyPr wrap="square" lIns="0" tIns="0" rIns="0" bIns="0" rtlCol="0" anchor="ctr"/>
          <a:lstStyle/>
          <a:p>
            <a:pPr indent="0" marL="0">
              <a:buNone/>
            </a:pPr>
            <a:r>
              <a:rPr lang="en-US" sz="1500" dirty="0">
                <a:solidFill>
                  <a:srgbClr val="70777F"/>
                </a:solidFill>
                <a:latin typeface="Calibri" pitchFamily="34" charset="0"/>
                <a:ea typeface="Calibri" pitchFamily="34" charset="-122"/>
                <a:cs typeface="Calibri" pitchFamily="34" charset="-120"/>
              </a:rPr>
              <a:t>18 August 2026. Small batches succeeded all day. Every large batch died at the same second.</a:t>
            </a:r>
            <a:endParaRPr lang="en-US" sz="1500" dirty="0"/>
          </a:p>
        </p:txBody>
      </p:sp>
      <p:sp>
        <p:nvSpPr>
          <p:cNvPr id="5" name="Text 3"/>
          <p:cNvSpPr txBox="1"/>
          <p:nvPr/>
        </p:nvSpPr>
        <p:spPr>
          <a:xfrm>
            <a:off x="914400" y="2249424"/>
            <a:ext cx="1371600" cy="219456"/>
          </a:xfrm>
          <a:prstGeom prst="rect">
            <a:avLst/>
          </a:prstGeom>
          <a:noFill/>
          <a:ln/>
        </p:spPr>
        <p:txBody>
          <a:bodyPr wrap="square" lIns="0" tIns="0" rIns="0" bIns="0" rtlCol="0" anchor="ctr"/>
          <a:lstStyle/>
          <a:p>
            <a:pPr indent="0" marL="0">
              <a:buNone/>
            </a:pPr>
            <a:r>
              <a:rPr lang="en-US" sz="950" b="1" spc="140" kern="0" dirty="0">
                <a:solidFill>
                  <a:srgbClr val="9DA3AA"/>
                </a:solidFill>
                <a:latin typeface="Calibri" pitchFamily="34" charset="0"/>
                <a:ea typeface="Calibri" pitchFamily="34" charset="-122"/>
                <a:cs typeface="Calibri" pitchFamily="34" charset="-120"/>
              </a:rPr>
              <a:t>RECORDS</a:t>
            </a:r>
            <a:endParaRPr lang="en-US" sz="950" dirty="0"/>
          </a:p>
        </p:txBody>
      </p:sp>
      <p:sp>
        <p:nvSpPr>
          <p:cNvPr id="6" name="Text 4"/>
          <p:cNvSpPr txBox="1"/>
          <p:nvPr/>
        </p:nvSpPr>
        <p:spPr>
          <a:xfrm>
            <a:off x="2331720" y="2249424"/>
            <a:ext cx="1371600" cy="219456"/>
          </a:xfrm>
          <a:prstGeom prst="rect">
            <a:avLst/>
          </a:prstGeom>
          <a:noFill/>
          <a:ln/>
        </p:spPr>
        <p:txBody>
          <a:bodyPr wrap="square" lIns="0" tIns="0" rIns="0" bIns="0" rtlCol="0" anchor="ctr"/>
          <a:lstStyle/>
          <a:p>
            <a:pPr indent="0" marL="0">
              <a:buNone/>
            </a:pPr>
            <a:r>
              <a:rPr lang="en-US" sz="950" b="1" spc="140" kern="0" dirty="0">
                <a:solidFill>
                  <a:srgbClr val="9DA3AA"/>
                </a:solidFill>
                <a:latin typeface="Calibri" pitchFamily="34" charset="0"/>
                <a:ea typeface="Calibri" pitchFamily="34" charset="-122"/>
                <a:cs typeface="Calibri" pitchFamily="34" charset="-120"/>
              </a:rPr>
              <a:t>OUTCOME</a:t>
            </a:r>
            <a:endParaRPr lang="en-US" sz="950" dirty="0"/>
          </a:p>
        </p:txBody>
      </p:sp>
      <p:sp>
        <p:nvSpPr>
          <p:cNvPr id="7" name="Text 5"/>
          <p:cNvSpPr txBox="1"/>
          <p:nvPr/>
        </p:nvSpPr>
        <p:spPr>
          <a:xfrm>
            <a:off x="3749040" y="2249424"/>
            <a:ext cx="1371600" cy="219456"/>
          </a:xfrm>
          <a:prstGeom prst="rect">
            <a:avLst/>
          </a:prstGeom>
          <a:noFill/>
          <a:ln/>
        </p:spPr>
        <p:txBody>
          <a:bodyPr wrap="square" lIns="0" tIns="0" rIns="0" bIns="0" rtlCol="0" anchor="ctr"/>
          <a:lstStyle/>
          <a:p>
            <a:pPr indent="0" marL="0">
              <a:buNone/>
            </a:pPr>
            <a:r>
              <a:rPr lang="en-US" sz="950" b="1" spc="140" kern="0" dirty="0">
                <a:solidFill>
                  <a:srgbClr val="9DA3AA"/>
                </a:solidFill>
                <a:latin typeface="Calibri" pitchFamily="34" charset="0"/>
                <a:ea typeface="Calibri" pitchFamily="34" charset="-122"/>
                <a:cs typeface="Calibri" pitchFamily="34" charset="-120"/>
              </a:rPr>
              <a:t>ELAPSED</a:t>
            </a:r>
            <a:endParaRPr lang="en-US" sz="950" dirty="0"/>
          </a:p>
        </p:txBody>
      </p:sp>
      <p:sp>
        <p:nvSpPr>
          <p:cNvPr id="8" name="Shape 6"/>
          <p:cNvSpPr/>
          <p:nvPr/>
        </p:nvSpPr>
        <p:spPr>
          <a:xfrm>
            <a:off x="914400" y="2505456"/>
            <a:ext cx="4160520" cy="9144"/>
          </a:xfrm>
          <a:prstGeom prst="rect">
            <a:avLst/>
          </a:prstGeom>
          <a:solidFill>
            <a:srgbClr val="E2E4E7"/>
          </a:solidFill>
          <a:ln w="12700">
            <a:solidFill>
              <a:srgbClr val="333333"/>
            </a:solidFill>
            <a:prstDash val="solid"/>
          </a:ln>
        </p:spPr>
      </p:sp>
      <p:sp>
        <p:nvSpPr>
          <p:cNvPr id="9" name="Text 7"/>
          <p:cNvSpPr txBox="1"/>
          <p:nvPr/>
        </p:nvSpPr>
        <p:spPr>
          <a:xfrm>
            <a:off x="914400" y="2615184"/>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2331720" y="2615184"/>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200 OK</a:t>
            </a:r>
            <a:endParaRPr lang="en-US" sz="1300" dirty="0"/>
          </a:p>
        </p:txBody>
      </p:sp>
      <p:sp>
        <p:nvSpPr>
          <p:cNvPr id="11" name="Text 9"/>
          <p:cNvSpPr txBox="1"/>
          <p:nvPr/>
        </p:nvSpPr>
        <p:spPr>
          <a:xfrm>
            <a:off x="3749040" y="2615184"/>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1 s</a:t>
            </a:r>
            <a:endParaRPr lang="en-US" sz="1300" dirty="0"/>
          </a:p>
        </p:txBody>
      </p:sp>
      <p:sp>
        <p:nvSpPr>
          <p:cNvPr id="12" name="Text 10"/>
          <p:cNvSpPr txBox="1"/>
          <p:nvPr/>
        </p:nvSpPr>
        <p:spPr>
          <a:xfrm>
            <a:off x="914400" y="2962656"/>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39</a:t>
            </a:r>
            <a:endParaRPr lang="en-US" sz="1300" dirty="0"/>
          </a:p>
        </p:txBody>
      </p:sp>
      <p:sp>
        <p:nvSpPr>
          <p:cNvPr id="13" name="Text 11"/>
          <p:cNvSpPr txBox="1"/>
          <p:nvPr/>
        </p:nvSpPr>
        <p:spPr>
          <a:xfrm>
            <a:off x="2331720" y="2962656"/>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200 OK</a:t>
            </a:r>
            <a:endParaRPr lang="en-US" sz="1300" dirty="0"/>
          </a:p>
        </p:txBody>
      </p:sp>
      <p:sp>
        <p:nvSpPr>
          <p:cNvPr id="14" name="Text 12"/>
          <p:cNvSpPr txBox="1"/>
          <p:nvPr/>
        </p:nvSpPr>
        <p:spPr>
          <a:xfrm>
            <a:off x="3749040" y="2962656"/>
            <a:ext cx="1371600" cy="274320"/>
          </a:xfrm>
          <a:prstGeom prst="rect">
            <a:avLst/>
          </a:prstGeom>
          <a:noFill/>
          <a:ln/>
        </p:spPr>
        <p:txBody>
          <a:bodyPr wrap="square" lIns="0" tIns="0" rIns="0" bIns="0" rtlCol="0" anchor="ctr"/>
          <a:lstStyle/>
          <a:p>
            <a:pPr indent="0" marL="0">
              <a:buNone/>
            </a:pPr>
            <a:r>
              <a:rPr lang="en-US" sz="1300" dirty="0">
                <a:solidFill>
                  <a:srgbClr val="9DA3AA"/>
                </a:solidFill>
                <a:latin typeface="Courier New" pitchFamily="34" charset="0"/>
                <a:ea typeface="Courier New" pitchFamily="34" charset="-122"/>
                <a:cs typeface="Courier New" pitchFamily="34" charset="-120"/>
              </a:rPr>
              <a:t>7 s</a:t>
            </a:r>
            <a:endParaRPr lang="en-US" sz="1300" dirty="0"/>
          </a:p>
        </p:txBody>
      </p:sp>
      <p:sp>
        <p:nvSpPr>
          <p:cNvPr id="15" name="Text 13"/>
          <p:cNvSpPr txBox="1"/>
          <p:nvPr/>
        </p:nvSpPr>
        <p:spPr>
          <a:xfrm>
            <a:off x="914400" y="3310128"/>
            <a:ext cx="1371600" cy="274320"/>
          </a:xfrm>
          <a:prstGeom prst="rect">
            <a:avLst/>
          </a:prstGeom>
          <a:noFill/>
          <a:ln/>
        </p:spPr>
        <p:txBody>
          <a:bodyPr wrap="square" lIns="0" tIns="0" rIns="0" bIns="0" rtlCol="0" anchor="ctr"/>
          <a:lstStyle/>
          <a:p>
            <a:pPr indent="0" marL="0">
              <a:buNone/>
            </a:pPr>
            <a:r>
              <a:rPr lang="en-US" sz="1300" dirty="0">
                <a:solidFill>
                  <a:srgbClr val="14171B"/>
                </a:solidFill>
                <a:latin typeface="Courier New" pitchFamily="34" charset="0"/>
                <a:ea typeface="Courier New" pitchFamily="34" charset="-122"/>
                <a:cs typeface="Courier New" pitchFamily="34" charset="-120"/>
              </a:rPr>
              <a:t>539</a:t>
            </a:r>
            <a:endParaRPr lang="en-US" sz="1300" dirty="0"/>
          </a:p>
        </p:txBody>
      </p:sp>
      <p:sp>
        <p:nvSpPr>
          <p:cNvPr id="16" name="Text 14"/>
          <p:cNvSpPr txBox="1"/>
          <p:nvPr/>
        </p:nvSpPr>
        <p:spPr>
          <a:xfrm>
            <a:off x="2331720" y="3310128"/>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FAILED</a:t>
            </a:r>
            <a:endParaRPr lang="en-US" sz="1300" dirty="0"/>
          </a:p>
        </p:txBody>
      </p:sp>
      <p:sp>
        <p:nvSpPr>
          <p:cNvPr id="17" name="Text 15"/>
          <p:cNvSpPr txBox="1"/>
          <p:nvPr/>
        </p:nvSpPr>
        <p:spPr>
          <a:xfrm>
            <a:off x="3749040" y="3310128"/>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62 s</a:t>
            </a:r>
            <a:endParaRPr lang="en-US" sz="1300" dirty="0"/>
          </a:p>
        </p:txBody>
      </p:sp>
      <p:sp>
        <p:nvSpPr>
          <p:cNvPr id="18" name="Text 16"/>
          <p:cNvSpPr txBox="1"/>
          <p:nvPr/>
        </p:nvSpPr>
        <p:spPr>
          <a:xfrm>
            <a:off x="914400" y="3657600"/>
            <a:ext cx="1371600" cy="274320"/>
          </a:xfrm>
          <a:prstGeom prst="rect">
            <a:avLst/>
          </a:prstGeom>
          <a:noFill/>
          <a:ln/>
        </p:spPr>
        <p:txBody>
          <a:bodyPr wrap="square" lIns="0" tIns="0" rIns="0" bIns="0" rtlCol="0" anchor="ctr"/>
          <a:lstStyle/>
          <a:p>
            <a:pPr indent="0" marL="0">
              <a:buNone/>
            </a:pPr>
            <a:r>
              <a:rPr lang="en-US" sz="1300" dirty="0">
                <a:solidFill>
                  <a:srgbClr val="14171B"/>
                </a:solidFill>
                <a:latin typeface="Courier New" pitchFamily="34" charset="0"/>
                <a:ea typeface="Courier New" pitchFamily="34" charset="-122"/>
                <a:cs typeface="Courier New" pitchFamily="34" charset="-120"/>
              </a:rPr>
              <a:t>545</a:t>
            </a:r>
            <a:endParaRPr lang="en-US" sz="1300" dirty="0"/>
          </a:p>
        </p:txBody>
      </p:sp>
      <p:sp>
        <p:nvSpPr>
          <p:cNvPr id="19" name="Text 17"/>
          <p:cNvSpPr txBox="1"/>
          <p:nvPr/>
        </p:nvSpPr>
        <p:spPr>
          <a:xfrm>
            <a:off x="2331720" y="3657600"/>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FAILED</a:t>
            </a:r>
            <a:endParaRPr lang="en-US" sz="1300" dirty="0"/>
          </a:p>
        </p:txBody>
      </p:sp>
      <p:sp>
        <p:nvSpPr>
          <p:cNvPr id="20" name="Text 18"/>
          <p:cNvSpPr txBox="1"/>
          <p:nvPr/>
        </p:nvSpPr>
        <p:spPr>
          <a:xfrm>
            <a:off x="3749040" y="3657600"/>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61 s</a:t>
            </a:r>
            <a:endParaRPr lang="en-US" sz="1300" dirty="0"/>
          </a:p>
        </p:txBody>
      </p:sp>
      <p:sp>
        <p:nvSpPr>
          <p:cNvPr id="21" name="Text 19"/>
          <p:cNvSpPr txBox="1"/>
          <p:nvPr/>
        </p:nvSpPr>
        <p:spPr>
          <a:xfrm>
            <a:off x="914400" y="4005072"/>
            <a:ext cx="1371600" cy="274320"/>
          </a:xfrm>
          <a:prstGeom prst="rect">
            <a:avLst/>
          </a:prstGeom>
          <a:noFill/>
          <a:ln/>
        </p:spPr>
        <p:txBody>
          <a:bodyPr wrap="square" lIns="0" tIns="0" rIns="0" bIns="0" rtlCol="0" anchor="ctr"/>
          <a:lstStyle/>
          <a:p>
            <a:pPr indent="0" marL="0">
              <a:buNone/>
            </a:pPr>
            <a:r>
              <a:rPr lang="en-US" sz="1300" dirty="0">
                <a:solidFill>
                  <a:srgbClr val="14171B"/>
                </a:solidFill>
                <a:latin typeface="Courier New" pitchFamily="34" charset="0"/>
                <a:ea typeface="Courier New" pitchFamily="34" charset="-122"/>
                <a:cs typeface="Courier New" pitchFamily="34" charset="-120"/>
              </a:rPr>
              <a:t>537</a:t>
            </a:r>
            <a:endParaRPr lang="en-US" sz="1300" dirty="0"/>
          </a:p>
        </p:txBody>
      </p:sp>
      <p:sp>
        <p:nvSpPr>
          <p:cNvPr id="22" name="Text 20"/>
          <p:cNvSpPr txBox="1"/>
          <p:nvPr/>
        </p:nvSpPr>
        <p:spPr>
          <a:xfrm>
            <a:off x="2331720" y="4005072"/>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FAILED</a:t>
            </a:r>
            <a:endParaRPr lang="en-US" sz="1300" dirty="0"/>
          </a:p>
        </p:txBody>
      </p:sp>
      <p:sp>
        <p:nvSpPr>
          <p:cNvPr id="23" name="Text 21"/>
          <p:cNvSpPr txBox="1"/>
          <p:nvPr/>
        </p:nvSpPr>
        <p:spPr>
          <a:xfrm>
            <a:off x="3749040" y="4005072"/>
            <a:ext cx="1371600" cy="274320"/>
          </a:xfrm>
          <a:prstGeom prst="rect">
            <a:avLst/>
          </a:prstGeom>
          <a:noFill/>
          <a:ln/>
        </p:spPr>
        <p:txBody>
          <a:bodyPr wrap="square" lIns="0" tIns="0" rIns="0" bIns="0" rtlCol="0" anchor="ctr"/>
          <a:lstStyle/>
          <a:p>
            <a:pPr indent="0" marL="0">
              <a:buNone/>
            </a:pPr>
            <a:r>
              <a:rPr lang="en-US" sz="1300" dirty="0">
                <a:solidFill>
                  <a:srgbClr val="B4472E"/>
                </a:solidFill>
                <a:latin typeface="Courier New" pitchFamily="34" charset="0"/>
                <a:ea typeface="Courier New" pitchFamily="34" charset="-122"/>
                <a:cs typeface="Courier New" pitchFamily="34" charset="-120"/>
              </a:rPr>
              <a:t>60 s</a:t>
            </a:r>
            <a:endParaRPr lang="en-US" sz="1300" dirty="0"/>
          </a:p>
        </p:txBody>
      </p:sp>
      <p:sp>
        <p:nvSpPr>
          <p:cNvPr id="24" name="Text 22"/>
          <p:cNvSpPr txBox="1"/>
          <p:nvPr/>
        </p:nvSpPr>
        <p:spPr>
          <a:xfrm>
            <a:off x="5760720" y="2249424"/>
            <a:ext cx="5486400" cy="219456"/>
          </a:xfrm>
          <a:prstGeom prst="rect">
            <a:avLst/>
          </a:prstGeom>
          <a:noFill/>
          <a:ln/>
        </p:spPr>
        <p:txBody>
          <a:bodyPr wrap="square" lIns="0" tIns="0" rIns="0" bIns="0" rtlCol="0" anchor="ctr"/>
          <a:lstStyle/>
          <a:p>
            <a:pPr indent="0" marL="0">
              <a:buNone/>
            </a:pPr>
            <a:r>
              <a:rPr lang="en-US" sz="950" b="1" spc="140" kern="0" dirty="0">
                <a:solidFill>
                  <a:srgbClr val="9DA3AA"/>
                </a:solidFill>
                <a:latin typeface="Calibri" pitchFamily="34" charset="0"/>
                <a:ea typeface="Calibri" pitchFamily="34" charset="-122"/>
                <a:cs typeface="Calibri" pitchFamily="34" charset="-120"/>
              </a:rPr>
              <a:t>THE ARITHMETIC NOBODY DID</a:t>
            </a:r>
            <a:endParaRPr lang="en-US" sz="950" dirty="0"/>
          </a:p>
        </p:txBody>
      </p:sp>
      <p:sp>
        <p:nvSpPr>
          <p:cNvPr id="25" name="Shape 23"/>
          <p:cNvSpPr/>
          <p:nvPr/>
        </p:nvSpPr>
        <p:spPr>
          <a:xfrm>
            <a:off x="5760720" y="2505456"/>
            <a:ext cx="5513832" cy="9144"/>
          </a:xfrm>
          <a:prstGeom prst="rect">
            <a:avLst/>
          </a:prstGeom>
          <a:solidFill>
            <a:srgbClr val="E2E4E7"/>
          </a:solidFill>
          <a:ln w="12700">
            <a:solidFill>
              <a:srgbClr val="333333"/>
            </a:solidFill>
            <a:prstDash val="solid"/>
          </a:ln>
        </p:spPr>
      </p:sp>
      <p:sp>
        <p:nvSpPr>
          <p:cNvPr id="26" name="Text 24"/>
          <p:cNvSpPr txBox="1"/>
          <p:nvPr/>
        </p:nvSpPr>
        <p:spPr>
          <a:xfrm>
            <a:off x="5760720" y="2651760"/>
            <a:ext cx="2651760" cy="274320"/>
          </a:xfrm>
          <a:prstGeom prst="rect">
            <a:avLst/>
          </a:prstGeom>
          <a:noFill/>
          <a:ln/>
        </p:spPr>
        <p:txBody>
          <a:bodyPr wrap="square" lIns="0" tIns="0" rIns="0" bIns="0" rtlCol="0" anchor="ctr"/>
          <a:lstStyle/>
          <a:p>
            <a:pPr indent="0" marL="0">
              <a:buNone/>
            </a:pPr>
            <a:r>
              <a:rPr lang="en-US" sz="1350" dirty="0">
                <a:solidFill>
                  <a:srgbClr val="70777F"/>
                </a:solidFill>
                <a:latin typeface="Courier New" pitchFamily="34" charset="0"/>
                <a:ea typeface="Courier New" pitchFamily="34" charset="-122"/>
                <a:cs typeface="Courier New" pitchFamily="34" charset="-120"/>
              </a:rPr>
              <a:t>39 records in 7 s</a:t>
            </a:r>
            <a:endParaRPr lang="en-US" sz="1350" dirty="0"/>
          </a:p>
        </p:txBody>
      </p:sp>
      <p:sp>
        <p:nvSpPr>
          <p:cNvPr id="27" name="Text 25"/>
          <p:cNvSpPr txBox="1"/>
          <p:nvPr/>
        </p:nvSpPr>
        <p:spPr>
          <a:xfrm>
            <a:off x="8458200" y="2651760"/>
            <a:ext cx="2834640" cy="274320"/>
          </a:xfrm>
          <a:prstGeom prst="rect">
            <a:avLst/>
          </a:prstGeom>
          <a:noFill/>
          <a:ln/>
        </p:spPr>
        <p:txBody>
          <a:bodyPr wrap="square" lIns="0" tIns="0" rIns="0" bIns="0" rtlCol="0" anchor="ctr"/>
          <a:lstStyle/>
          <a:p>
            <a:pPr indent="0" marL="0">
              <a:buNone/>
            </a:pPr>
            <a:r>
              <a:rPr lang="en-US" sz="1350" dirty="0">
                <a:solidFill>
                  <a:srgbClr val="14171B"/>
                </a:solidFill>
                <a:latin typeface="Courier New" pitchFamily="34" charset="0"/>
                <a:ea typeface="Courier New" pitchFamily="34" charset="-122"/>
                <a:cs typeface="Courier New" pitchFamily="34" charset="-120"/>
              </a:rPr>
              <a:t>0.179 s per record</a:t>
            </a:r>
            <a:endParaRPr lang="en-US" sz="1350" dirty="0"/>
          </a:p>
        </p:txBody>
      </p:sp>
      <p:sp>
        <p:nvSpPr>
          <p:cNvPr id="28" name="Text 26"/>
          <p:cNvSpPr txBox="1"/>
          <p:nvPr/>
        </p:nvSpPr>
        <p:spPr>
          <a:xfrm>
            <a:off x="5760720" y="3054096"/>
            <a:ext cx="2651760" cy="274320"/>
          </a:xfrm>
          <a:prstGeom prst="rect">
            <a:avLst/>
          </a:prstGeom>
          <a:noFill/>
          <a:ln/>
        </p:spPr>
        <p:txBody>
          <a:bodyPr wrap="square" lIns="0" tIns="0" rIns="0" bIns="0" rtlCol="0" anchor="ctr"/>
          <a:lstStyle/>
          <a:p>
            <a:pPr indent="0" marL="0">
              <a:buNone/>
            </a:pPr>
            <a:r>
              <a:rPr lang="en-US" sz="1350" dirty="0">
                <a:solidFill>
                  <a:srgbClr val="70777F"/>
                </a:solidFill>
                <a:latin typeface="Courier New" pitchFamily="34" charset="0"/>
                <a:ea typeface="Courier New" pitchFamily="34" charset="-122"/>
                <a:cs typeface="Courier New" pitchFamily="34" charset="-120"/>
              </a:rPr>
              <a:t>539 × 0.179</a:t>
            </a:r>
            <a:endParaRPr lang="en-US" sz="1350" dirty="0"/>
          </a:p>
        </p:txBody>
      </p:sp>
      <p:sp>
        <p:nvSpPr>
          <p:cNvPr id="29" name="Text 27"/>
          <p:cNvSpPr txBox="1"/>
          <p:nvPr/>
        </p:nvSpPr>
        <p:spPr>
          <a:xfrm>
            <a:off x="8458200" y="3054096"/>
            <a:ext cx="2834640" cy="274320"/>
          </a:xfrm>
          <a:prstGeom prst="rect">
            <a:avLst/>
          </a:prstGeom>
          <a:noFill/>
          <a:ln/>
        </p:spPr>
        <p:txBody>
          <a:bodyPr wrap="square" lIns="0" tIns="0" rIns="0" bIns="0" rtlCol="0" anchor="ctr"/>
          <a:lstStyle/>
          <a:p>
            <a:pPr indent="0" marL="0">
              <a:buNone/>
            </a:pPr>
            <a:r>
              <a:rPr lang="en-US" sz="1350" dirty="0">
                <a:solidFill>
                  <a:srgbClr val="14171B"/>
                </a:solidFill>
                <a:latin typeface="Courier New" pitchFamily="34" charset="0"/>
                <a:ea typeface="Courier New" pitchFamily="34" charset="-122"/>
                <a:cs typeface="Courier New" pitchFamily="34" charset="-120"/>
              </a:rPr>
              <a:t>97 s of work needed</a:t>
            </a:r>
            <a:endParaRPr lang="en-US" sz="1350" dirty="0"/>
          </a:p>
        </p:txBody>
      </p:sp>
      <p:sp>
        <p:nvSpPr>
          <p:cNvPr id="30" name="Text 28"/>
          <p:cNvSpPr txBox="1"/>
          <p:nvPr/>
        </p:nvSpPr>
        <p:spPr>
          <a:xfrm>
            <a:off x="5760720" y="3456432"/>
            <a:ext cx="2651760" cy="274320"/>
          </a:xfrm>
          <a:prstGeom prst="rect">
            <a:avLst/>
          </a:prstGeom>
          <a:noFill/>
          <a:ln/>
        </p:spPr>
        <p:txBody>
          <a:bodyPr wrap="square" lIns="0" tIns="0" rIns="0" bIns="0" rtlCol="0" anchor="ctr"/>
          <a:lstStyle/>
          <a:p>
            <a:pPr indent="0" marL="0">
              <a:buNone/>
            </a:pPr>
            <a:r>
              <a:rPr lang="en-US" sz="1350" dirty="0">
                <a:solidFill>
                  <a:srgbClr val="70777F"/>
                </a:solidFill>
                <a:latin typeface="Courier New" pitchFamily="34" charset="0"/>
                <a:ea typeface="Courier New" pitchFamily="34" charset="-122"/>
                <a:cs typeface="Courier New" pitchFamily="34" charset="-120"/>
              </a:rPr>
              <a:t>cut after</a:t>
            </a:r>
            <a:endParaRPr lang="en-US" sz="1350" dirty="0"/>
          </a:p>
        </p:txBody>
      </p:sp>
      <p:sp>
        <p:nvSpPr>
          <p:cNvPr id="31" name="Text 29"/>
          <p:cNvSpPr txBox="1"/>
          <p:nvPr/>
        </p:nvSpPr>
        <p:spPr>
          <a:xfrm>
            <a:off x="8458200" y="3456432"/>
            <a:ext cx="2834640" cy="274320"/>
          </a:xfrm>
          <a:prstGeom prst="rect">
            <a:avLst/>
          </a:prstGeom>
          <a:noFill/>
          <a:ln/>
        </p:spPr>
        <p:txBody>
          <a:bodyPr wrap="square" lIns="0" tIns="0" rIns="0" bIns="0" rtlCol="0" anchor="ctr"/>
          <a:lstStyle/>
          <a:p>
            <a:pPr indent="0" marL="0">
              <a:buNone/>
            </a:pPr>
            <a:r>
              <a:rPr lang="en-US" sz="1350" b="1" dirty="0">
                <a:solidFill>
                  <a:srgbClr val="B4472E"/>
                </a:solidFill>
                <a:latin typeface="Courier New" pitchFamily="34" charset="0"/>
                <a:ea typeface="Courier New" pitchFamily="34" charset="-122"/>
                <a:cs typeface="Courier New" pitchFamily="34" charset="-120"/>
              </a:rPr>
              <a:t>60 s</a:t>
            </a:r>
            <a:endParaRPr lang="en-US" sz="1350" dirty="0"/>
          </a:p>
        </p:txBody>
      </p:sp>
      <p:sp>
        <p:nvSpPr>
          <p:cNvPr id="32" name="Shape 30"/>
          <p:cNvSpPr/>
          <p:nvPr/>
        </p:nvSpPr>
        <p:spPr>
          <a:xfrm>
            <a:off x="914400" y="4407408"/>
            <a:ext cx="10362895" cy="9144"/>
          </a:xfrm>
          <a:prstGeom prst="rect">
            <a:avLst/>
          </a:prstGeom>
          <a:solidFill>
            <a:srgbClr val="E2E4E7"/>
          </a:solidFill>
          <a:ln w="12700">
            <a:solidFill>
              <a:srgbClr val="333333"/>
            </a:solidFill>
            <a:prstDash val="solid"/>
          </a:ln>
        </p:spPr>
      </p:sp>
      <p:sp>
        <p:nvSpPr>
          <p:cNvPr id="33" name="Text 31"/>
          <p:cNvSpPr txBox="1"/>
          <p:nvPr/>
        </p:nvSpPr>
        <p:spPr>
          <a:xfrm>
            <a:off x="914400" y="4590288"/>
            <a:ext cx="10058400" cy="658368"/>
          </a:xfrm>
          <a:prstGeom prst="rect">
            <a:avLst/>
          </a:prstGeom>
          <a:noFill/>
          <a:ln/>
        </p:spPr>
        <p:txBody>
          <a:bodyPr wrap="square" lIns="0" tIns="0" rIns="0" bIns="0" rtlCol="0" anchor="ctr"/>
          <a:lstStyle/>
          <a:p>
            <a:pPr indent="0" marL="0">
              <a:buNone/>
            </a:pPr>
            <a:r>
              <a:rPr lang="en-US" sz="1900" dirty="0">
                <a:solidFill>
                  <a:srgbClr val="14171B"/>
                </a:solidFill>
                <a:latin typeface="Cambria" pitchFamily="34" charset="0"/>
                <a:ea typeface="Cambria" pitchFamily="34" charset="-122"/>
                <a:cs typeface="Cambria" pitchFamily="34" charset="-120"/>
              </a:rPr>
              <a:t>A round 60-second ceiling, below the time the work actually takes, is a configured timeout on something in between.</a:t>
            </a:r>
            <a:endParaRPr lang="en-US" sz="1900" dirty="0"/>
          </a:p>
        </p:txBody>
      </p:sp>
      <p:sp>
        <p:nvSpPr>
          <p:cNvPr id="34" name="Text 32"/>
          <p:cNvSpPr txBox="1"/>
          <p:nvPr/>
        </p:nvSpPr>
        <p:spPr>
          <a:xfrm>
            <a:off x="914400" y="5303520"/>
            <a:ext cx="10058400" cy="548640"/>
          </a:xfrm>
          <a:prstGeom prst="rect">
            <a:avLst/>
          </a:prstGeom>
          <a:noFill/>
          <a:ln/>
        </p:spPr>
        <p:txBody>
          <a:bodyPr wrap="square" lIns="0" tIns="0" rIns="0" bIns="0" rtlCol="0" anchor="ctr"/>
          <a:lstStyle/>
          <a:p>
            <a:pPr indent="0" marL="0">
              <a:buNone/>
            </a:pPr>
            <a:r>
              <a:rPr lang="en-US" sz="1400" b="1" dirty="0">
                <a:solidFill>
                  <a:srgbClr val="14171B"/>
                </a:solidFill>
                <a:latin typeface="Calibri" pitchFamily="34" charset="0"/>
                <a:ea typeface="Calibri" pitchFamily="34" charset="-122"/>
                <a:cs typeface="Calibri" pitchFamily="34" charset="-120"/>
              </a:rPr>
              <a:t>Galileo was never down. </a:t>
            </a:r>
            <a:pPr indent="0" marL="0">
              <a:buNone/>
            </a:pPr>
            <a:r>
              <a:rPr lang="en-US" sz="1400" dirty="0">
                <a:solidFill>
                  <a:srgbClr val="70777F"/>
                </a:solidFill>
                <a:latin typeface="Calibri" pitchFamily="34" charset="0"/>
                <a:ea typeface="Calibri" pitchFamily="34" charset="-122"/>
                <a:cs typeface="Calibri" pitchFamily="34" charset="-120"/>
              </a:rPr>
              <a:t>No single console could show this — the proof is arithmetic across lines, and that is exactly what a machine is good at and a human on call at 2am is not.</a:t>
            </a:r>
            <a:endParaRPr lang="en-US" sz="140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914400" y="384048"/>
            <a:ext cx="10362895" cy="219456"/>
          </a:xfrm>
          <a:prstGeom prst="rect">
            <a:avLst/>
          </a:prstGeom>
          <a:noFill/>
          <a:ln/>
        </p:spPr>
        <p:txBody>
          <a:bodyPr wrap="square" lIns="0" tIns="0" rIns="0" bIns="0" rtlCol="0" anchor="ctr"/>
          <a:lstStyle/>
          <a:p>
            <a:pPr indent="0" marL="0">
              <a:buNone/>
            </a:pPr>
            <a:r>
              <a:rPr lang="en-US" sz="1000" b="1" spc="240" kern="0" dirty="0">
                <a:solidFill>
                  <a:srgbClr val="B4472E"/>
                </a:solidFill>
                <a:latin typeface="Calibri" pitchFamily="34" charset="0"/>
                <a:ea typeface="Calibri" pitchFamily="34" charset="-122"/>
                <a:cs typeface="Calibri" pitchFamily="34" charset="-120"/>
              </a:rPr>
              <a:t>HOW IT WORKS</a:t>
            </a:r>
            <a:endParaRPr lang="en-US" sz="1000" dirty="0"/>
          </a:p>
        </p:txBody>
      </p:sp>
      <p:sp>
        <p:nvSpPr>
          <p:cNvPr id="3" name="Text 0"/>
          <p:cNvSpPr/>
          <p:nvPr>
            <p:ph idx="100" type="title" hasCustomPrompt="1"/>
          </p:nvPr>
        </p:nvSpPr>
        <p:spPr>
          <a:xfrm>
            <a:off x="914400" y="676656"/>
            <a:ext cx="10362895" cy="749808"/>
          </a:xfrm>
          <a:prstGeom prst="rect">
            <a:avLst/>
          </a:prstGeom>
          <a:noFill/>
          <a:ln/>
        </p:spPr>
        <p:txBody>
          <a:bodyPr wrap="square" lIns="0" tIns="0" rIns="0" bIns="0" rtlCol="0" anchor="ctr"/>
          <a:lstStyle/>
          <a:p>
            <a:pPr algn="l" indent="0" marL="0">
              <a:buNone/>
            </a:pPr>
            <a:r>
              <a:rPr lang="en-US" sz="3400" dirty="0">
                <a:solidFill>
                  <a:srgbClr val="14171B"/>
                </a:solidFill>
                <a:latin typeface="Cambria" pitchFamily="34" charset="0"/>
                <a:ea typeface="Cambria" pitchFamily="34" charset="-122"/>
                <a:cs typeface="Cambria" pitchFamily="34" charset="-120"/>
              </a:rPr>
              <a:t>Seven stages. The AI is only the last one</a:t>
            </a:r>
            <a:endParaRPr lang="en-US" sz="3400" dirty="0"/>
          </a:p>
        </p:txBody>
      </p:sp>
      <p:sp>
        <p:nvSpPr>
          <p:cNvPr id="4" name="st0"/>
          <p:cNvSpPr/>
          <p:nvPr/>
        </p:nvSpPr>
        <p:spPr>
          <a:xfrm>
            <a:off x="914400" y="2103120"/>
            <a:ext cx="1347172" cy="1371600"/>
          </a:xfrm>
          <a:prstGeom prst="rect">
            <a:avLst/>
          </a:prstGeom>
          <a:solidFill>
            <a:srgbClr val="F5F5F3"/>
          </a:solidFill>
          <a:ln w="12700">
            <a:solidFill>
              <a:srgbClr val="333333"/>
            </a:solidFill>
            <a:prstDash val="solid"/>
          </a:ln>
        </p:spPr>
      </p:sp>
      <p:sp>
        <p:nvSpPr>
          <p:cNvPr id="5" name="Text 3"/>
          <p:cNvSpPr txBox="1"/>
          <p:nvPr/>
        </p:nvSpPr>
        <p:spPr>
          <a:xfrm>
            <a:off x="1060704"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01</a:t>
            </a:r>
            <a:endParaRPr lang="en-US" sz="1000" dirty="0"/>
          </a:p>
        </p:txBody>
      </p:sp>
      <p:sp>
        <p:nvSpPr>
          <p:cNvPr id="6" name="Text 4"/>
          <p:cNvSpPr txBox="1"/>
          <p:nvPr/>
        </p:nvSpPr>
        <p:spPr>
          <a:xfrm>
            <a:off x="1060704"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Parse</a:t>
            </a:r>
            <a:endParaRPr lang="en-US" sz="1350" dirty="0"/>
          </a:p>
        </p:txBody>
      </p:sp>
      <p:sp>
        <p:nvSpPr>
          <p:cNvPr id="7" name="Text 5"/>
          <p:cNvSpPr txBox="1"/>
          <p:nvPr/>
        </p:nvSpPr>
        <p:spPr>
          <a:xfrm>
            <a:off x="1060704"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Serilog → lines</a:t>
            </a:r>
            <a:endParaRPr lang="en-US" sz="1000" dirty="0"/>
          </a:p>
        </p:txBody>
      </p:sp>
      <p:sp>
        <p:nvSpPr>
          <p:cNvPr id="8" name="st1"/>
          <p:cNvSpPr/>
          <p:nvPr/>
        </p:nvSpPr>
        <p:spPr>
          <a:xfrm>
            <a:off x="2417020" y="2103120"/>
            <a:ext cx="1347172" cy="1371600"/>
          </a:xfrm>
          <a:prstGeom prst="rect">
            <a:avLst/>
          </a:prstGeom>
          <a:solidFill>
            <a:srgbClr val="F5F5F3"/>
          </a:solidFill>
          <a:ln w="12700">
            <a:solidFill>
              <a:srgbClr val="333333"/>
            </a:solidFill>
            <a:prstDash val="solid"/>
          </a:ln>
        </p:spPr>
      </p:sp>
      <p:sp>
        <p:nvSpPr>
          <p:cNvPr id="9" name="Text 7"/>
          <p:cNvSpPr txBox="1"/>
          <p:nvPr/>
        </p:nvSpPr>
        <p:spPr>
          <a:xfrm>
            <a:off x="2563324"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02</a:t>
            </a:r>
            <a:endParaRPr lang="en-US" sz="1000" dirty="0"/>
          </a:p>
        </p:txBody>
      </p:sp>
      <p:sp>
        <p:nvSpPr>
          <p:cNvPr id="10" name="Text 8"/>
          <p:cNvSpPr txBox="1"/>
          <p:nvPr/>
        </p:nvSpPr>
        <p:spPr>
          <a:xfrm>
            <a:off x="2563324"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Extract</a:t>
            </a:r>
            <a:endParaRPr lang="en-US" sz="1350" dirty="0"/>
          </a:p>
        </p:txBody>
      </p:sp>
      <p:sp>
        <p:nvSpPr>
          <p:cNvPr id="11" name="Text 9"/>
          <p:cNvSpPr txBox="1"/>
          <p:nvPr/>
        </p:nvSpPr>
        <p:spPr>
          <a:xfrm>
            <a:off x="2563324"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typed evidence</a:t>
            </a:r>
            <a:endParaRPr lang="en-US" sz="1000" dirty="0"/>
          </a:p>
        </p:txBody>
      </p:sp>
      <p:sp>
        <p:nvSpPr>
          <p:cNvPr id="12" name="st2"/>
          <p:cNvSpPr/>
          <p:nvPr/>
        </p:nvSpPr>
        <p:spPr>
          <a:xfrm>
            <a:off x="3919641" y="2103120"/>
            <a:ext cx="1347172" cy="1371600"/>
          </a:xfrm>
          <a:prstGeom prst="rect">
            <a:avLst/>
          </a:prstGeom>
          <a:solidFill>
            <a:srgbClr val="F5F5F3"/>
          </a:solidFill>
          <a:ln w="12700">
            <a:solidFill>
              <a:srgbClr val="333333"/>
            </a:solidFill>
            <a:prstDash val="solid"/>
          </a:ln>
        </p:spPr>
      </p:sp>
      <p:sp>
        <p:nvSpPr>
          <p:cNvPr id="13" name="Text 11"/>
          <p:cNvSpPr txBox="1"/>
          <p:nvPr/>
        </p:nvSpPr>
        <p:spPr>
          <a:xfrm>
            <a:off x="4065945"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03</a:t>
            </a:r>
            <a:endParaRPr lang="en-US" sz="1000" dirty="0"/>
          </a:p>
        </p:txBody>
      </p:sp>
      <p:sp>
        <p:nvSpPr>
          <p:cNvPr id="14" name="Text 12"/>
          <p:cNvSpPr txBox="1"/>
          <p:nvPr/>
        </p:nvSpPr>
        <p:spPr>
          <a:xfrm>
            <a:off x="4065945"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Derive</a:t>
            </a:r>
            <a:endParaRPr lang="en-US" sz="1350" dirty="0"/>
          </a:p>
        </p:txBody>
      </p:sp>
      <p:sp>
        <p:nvSpPr>
          <p:cNvPr id="15" name="Text 13"/>
          <p:cNvSpPr txBox="1"/>
          <p:nvPr/>
        </p:nvSpPr>
        <p:spPr>
          <a:xfrm>
            <a:off x="4065945"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elapsed, rate</a:t>
            </a:r>
            <a:endParaRPr lang="en-US" sz="1000" dirty="0"/>
          </a:p>
        </p:txBody>
      </p:sp>
      <p:sp>
        <p:nvSpPr>
          <p:cNvPr id="16" name="st3"/>
          <p:cNvSpPr/>
          <p:nvPr/>
        </p:nvSpPr>
        <p:spPr>
          <a:xfrm>
            <a:off x="5422261" y="2103120"/>
            <a:ext cx="1347172" cy="1371600"/>
          </a:xfrm>
          <a:prstGeom prst="rect">
            <a:avLst/>
          </a:prstGeom>
          <a:solidFill>
            <a:srgbClr val="F5F5F3"/>
          </a:solidFill>
          <a:ln w="12700">
            <a:solidFill>
              <a:srgbClr val="333333"/>
            </a:solidFill>
            <a:prstDash val="solid"/>
          </a:ln>
        </p:spPr>
      </p:sp>
      <p:sp>
        <p:nvSpPr>
          <p:cNvPr id="17" name="Text 15"/>
          <p:cNvSpPr txBox="1"/>
          <p:nvPr/>
        </p:nvSpPr>
        <p:spPr>
          <a:xfrm>
            <a:off x="5568565"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04</a:t>
            </a:r>
            <a:endParaRPr lang="en-US" sz="1000" dirty="0"/>
          </a:p>
        </p:txBody>
      </p:sp>
      <p:sp>
        <p:nvSpPr>
          <p:cNvPr id="18" name="Text 16"/>
          <p:cNvSpPr txBox="1"/>
          <p:nvPr/>
        </p:nvSpPr>
        <p:spPr>
          <a:xfrm>
            <a:off x="5568565"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Decide</a:t>
            </a:r>
            <a:endParaRPr lang="en-US" sz="1350" dirty="0"/>
          </a:p>
        </p:txBody>
      </p:sp>
      <p:sp>
        <p:nvSpPr>
          <p:cNvPr id="19" name="Text 17"/>
          <p:cNvSpPr txBox="1"/>
          <p:nvPr/>
        </p:nvSpPr>
        <p:spPr>
          <a:xfrm>
            <a:off x="5568565"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rules → cause</a:t>
            </a:r>
            <a:endParaRPr lang="en-US" sz="1000" dirty="0"/>
          </a:p>
        </p:txBody>
      </p:sp>
      <p:sp>
        <p:nvSpPr>
          <p:cNvPr id="20" name="st4"/>
          <p:cNvSpPr/>
          <p:nvPr/>
        </p:nvSpPr>
        <p:spPr>
          <a:xfrm>
            <a:off x="6924882" y="2103120"/>
            <a:ext cx="1347172" cy="1371600"/>
          </a:xfrm>
          <a:prstGeom prst="rect">
            <a:avLst/>
          </a:prstGeom>
          <a:solidFill>
            <a:srgbClr val="F5F5F3"/>
          </a:solidFill>
          <a:ln w="12700">
            <a:solidFill>
              <a:srgbClr val="333333"/>
            </a:solidFill>
            <a:prstDash val="solid"/>
          </a:ln>
        </p:spPr>
      </p:sp>
      <p:sp>
        <p:nvSpPr>
          <p:cNvPr id="21" name="Text 19"/>
          <p:cNvSpPr txBox="1"/>
          <p:nvPr/>
        </p:nvSpPr>
        <p:spPr>
          <a:xfrm>
            <a:off x="7071186"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05</a:t>
            </a:r>
            <a:endParaRPr lang="en-US" sz="1000" dirty="0"/>
          </a:p>
        </p:txBody>
      </p:sp>
      <p:sp>
        <p:nvSpPr>
          <p:cNvPr id="22" name="Text 20"/>
          <p:cNvSpPr txBox="1"/>
          <p:nvPr/>
        </p:nvSpPr>
        <p:spPr>
          <a:xfrm>
            <a:off x="7071186"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Look up</a:t>
            </a:r>
            <a:endParaRPr lang="en-US" sz="1350" dirty="0"/>
          </a:p>
        </p:txBody>
      </p:sp>
      <p:sp>
        <p:nvSpPr>
          <p:cNvPr id="23" name="Text 21"/>
          <p:cNvSpPr txBox="1"/>
          <p:nvPr/>
        </p:nvSpPr>
        <p:spPr>
          <a:xfrm>
            <a:off x="7071186"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owner, runbook</a:t>
            </a:r>
            <a:endParaRPr lang="en-US" sz="1000" dirty="0"/>
          </a:p>
        </p:txBody>
      </p:sp>
      <p:sp>
        <p:nvSpPr>
          <p:cNvPr id="24" name="st5"/>
          <p:cNvSpPr/>
          <p:nvPr/>
        </p:nvSpPr>
        <p:spPr>
          <a:xfrm>
            <a:off x="8427502" y="2103120"/>
            <a:ext cx="1347172" cy="1371600"/>
          </a:xfrm>
          <a:prstGeom prst="rect">
            <a:avLst/>
          </a:prstGeom>
          <a:solidFill>
            <a:srgbClr val="F5F5F3"/>
          </a:solidFill>
          <a:ln w="12700">
            <a:solidFill>
              <a:srgbClr val="333333"/>
            </a:solidFill>
            <a:prstDash val="solid"/>
          </a:ln>
        </p:spPr>
      </p:sp>
      <p:sp>
        <p:nvSpPr>
          <p:cNvPr id="25" name="Text 23"/>
          <p:cNvSpPr txBox="1"/>
          <p:nvPr/>
        </p:nvSpPr>
        <p:spPr>
          <a:xfrm>
            <a:off x="8573806" y="2267712"/>
            <a:ext cx="1054564" cy="219456"/>
          </a:xfrm>
          <a:prstGeom prst="rect">
            <a:avLst/>
          </a:prstGeom>
          <a:noFill/>
          <a:ln/>
        </p:spPr>
        <p:txBody>
          <a:bodyPr wrap="square" lIns="0" tIns="0" rIns="0" bIns="0" rtlCol="0" anchor="ctr"/>
          <a:lstStyle/>
          <a:p>
            <a:pPr indent="0" marL="0">
              <a:buNone/>
            </a:pPr>
            <a:r>
              <a:rPr lang="en-US" sz="1000" dirty="0">
                <a:solidFill>
                  <a:srgbClr val="9DA3AA"/>
                </a:solidFill>
                <a:latin typeface="Courier New" pitchFamily="34" charset="0"/>
                <a:ea typeface="Courier New" pitchFamily="34" charset="-122"/>
                <a:cs typeface="Courier New" pitchFamily="34" charset="-120"/>
              </a:rPr>
              <a:t>06</a:t>
            </a:r>
            <a:endParaRPr lang="en-US" sz="1000" dirty="0"/>
          </a:p>
        </p:txBody>
      </p:sp>
      <p:sp>
        <p:nvSpPr>
          <p:cNvPr id="26" name="Text 24"/>
          <p:cNvSpPr txBox="1"/>
          <p:nvPr/>
        </p:nvSpPr>
        <p:spPr>
          <a:xfrm>
            <a:off x="8573806" y="2523744"/>
            <a:ext cx="1091140" cy="274320"/>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Score</a:t>
            </a:r>
            <a:endParaRPr lang="en-US" sz="1350" dirty="0"/>
          </a:p>
        </p:txBody>
      </p:sp>
      <p:sp>
        <p:nvSpPr>
          <p:cNvPr id="27" name="Text 25"/>
          <p:cNvSpPr txBox="1"/>
          <p:nvPr/>
        </p:nvSpPr>
        <p:spPr>
          <a:xfrm>
            <a:off x="8573806" y="2816352"/>
            <a:ext cx="1091140" cy="512064"/>
          </a:xfrm>
          <a:prstGeom prst="rect">
            <a:avLst/>
          </a:prstGeom>
          <a:noFill/>
          <a:ln/>
        </p:spPr>
        <p:txBody>
          <a:bodyPr wrap="square" lIns="0" tIns="0" rIns="0" bIns="0" rtlCol="0" anchor="ctr"/>
          <a:lstStyle/>
          <a:p>
            <a:pPr indent="0" marL="0">
              <a:buNone/>
            </a:pPr>
            <a:r>
              <a:rPr lang="en-US" sz="1000" dirty="0">
                <a:solidFill>
                  <a:srgbClr val="70777F"/>
                </a:solidFill>
                <a:latin typeface="Calibri" pitchFamily="34" charset="0"/>
                <a:ea typeface="Calibri" pitchFamily="34" charset="-122"/>
                <a:cs typeface="Calibri" pitchFamily="34" charset="-120"/>
              </a:rPr>
              <a:t>confidence</a:t>
            </a:r>
            <a:endParaRPr lang="en-US" sz="1000" dirty="0"/>
          </a:p>
        </p:txBody>
      </p:sp>
      <p:sp>
        <p:nvSpPr>
          <p:cNvPr id="28" name="st6"/>
          <p:cNvSpPr/>
          <p:nvPr/>
        </p:nvSpPr>
        <p:spPr>
          <a:xfrm>
            <a:off x="9930123" y="2103120"/>
            <a:ext cx="1347172" cy="1371600"/>
          </a:xfrm>
          <a:prstGeom prst="rect">
            <a:avLst/>
          </a:prstGeom>
          <a:solidFill>
            <a:srgbClr val="14171B"/>
          </a:solidFill>
          <a:ln w="12700">
            <a:solidFill>
              <a:srgbClr val="333333"/>
            </a:solidFill>
            <a:prstDash val="solid"/>
          </a:ln>
        </p:spPr>
      </p:sp>
      <p:sp>
        <p:nvSpPr>
          <p:cNvPr id="29" name="Text 27"/>
          <p:cNvSpPr txBox="1"/>
          <p:nvPr/>
        </p:nvSpPr>
        <p:spPr>
          <a:xfrm>
            <a:off x="10076427" y="2267712"/>
            <a:ext cx="1054564" cy="219456"/>
          </a:xfrm>
          <a:prstGeom prst="rect">
            <a:avLst/>
          </a:prstGeom>
          <a:noFill/>
          <a:ln/>
        </p:spPr>
        <p:txBody>
          <a:bodyPr wrap="square" lIns="0" tIns="0" rIns="0" bIns="0" rtlCol="0" anchor="ctr"/>
          <a:lstStyle/>
          <a:p>
            <a:pPr indent="0" marL="0">
              <a:buNone/>
            </a:pPr>
            <a:r>
              <a:rPr lang="en-US" sz="1000" dirty="0">
                <a:solidFill>
                  <a:srgbClr val="B4472E"/>
                </a:solidFill>
                <a:latin typeface="Courier New" pitchFamily="34" charset="0"/>
                <a:ea typeface="Courier New" pitchFamily="34" charset="-122"/>
                <a:cs typeface="Courier New" pitchFamily="34" charset="-120"/>
              </a:rPr>
              <a:t>07</a:t>
            </a:r>
            <a:endParaRPr lang="en-US" sz="1000" dirty="0"/>
          </a:p>
        </p:txBody>
      </p:sp>
      <p:sp>
        <p:nvSpPr>
          <p:cNvPr id="30" name="Text 28"/>
          <p:cNvSpPr txBox="1"/>
          <p:nvPr/>
        </p:nvSpPr>
        <p:spPr>
          <a:xfrm>
            <a:off x="10076427" y="2523744"/>
            <a:ext cx="10911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Write</a:t>
            </a:r>
            <a:endParaRPr lang="en-US" sz="1350" dirty="0"/>
          </a:p>
        </p:txBody>
      </p:sp>
      <p:sp>
        <p:nvSpPr>
          <p:cNvPr id="31" name="Text 29"/>
          <p:cNvSpPr txBox="1"/>
          <p:nvPr/>
        </p:nvSpPr>
        <p:spPr>
          <a:xfrm>
            <a:off x="10076427" y="2816352"/>
            <a:ext cx="1091140" cy="512064"/>
          </a:xfrm>
          <a:prstGeom prst="rect">
            <a:avLst/>
          </a:prstGeom>
          <a:noFill/>
          <a:ln/>
        </p:spPr>
        <p:txBody>
          <a:bodyPr wrap="square" lIns="0" tIns="0" rIns="0" bIns="0" rtlCol="0" anchor="ctr"/>
          <a:lstStyle/>
          <a:p>
            <a:pPr indent="0" marL="0">
              <a:buNone/>
            </a:pPr>
            <a:r>
              <a:rPr lang="en-US" sz="1000" dirty="0">
                <a:solidFill>
                  <a:srgbClr val="A8AEB5"/>
                </a:solidFill>
                <a:latin typeface="Calibri" pitchFamily="34" charset="0"/>
                <a:ea typeface="Calibri" pitchFamily="34" charset="-122"/>
                <a:cs typeface="Calibri" pitchFamily="34" charset="-120"/>
              </a:rPr>
              <a:t>model phrases it</a:t>
            </a:r>
            <a:endParaRPr lang="en-US" sz="1000" dirty="0"/>
          </a:p>
        </p:txBody>
      </p:sp>
      <p:sp>
        <p:nvSpPr>
          <p:cNvPr id="32" name="Text 30"/>
          <p:cNvSpPr txBox="1"/>
          <p:nvPr/>
        </p:nvSpPr>
        <p:spPr>
          <a:xfrm>
            <a:off x="914400" y="3639312"/>
            <a:ext cx="8686800" cy="237744"/>
          </a:xfrm>
          <a:prstGeom prst="rect">
            <a:avLst/>
          </a:prstGeom>
          <a:noFill/>
          <a:ln/>
        </p:spPr>
        <p:txBody>
          <a:bodyPr wrap="square" lIns="0" tIns="0" rIns="0" bIns="0" rtlCol="0" anchor="ctr"/>
          <a:lstStyle/>
          <a:p>
            <a:pPr indent="0" marL="0">
              <a:buNone/>
            </a:pPr>
            <a:r>
              <a:rPr lang="en-US" sz="1000" b="1" spc="160" kern="0" dirty="0">
                <a:solidFill>
                  <a:srgbClr val="70777F"/>
                </a:solidFill>
                <a:latin typeface="Calibri" pitchFamily="34" charset="0"/>
                <a:ea typeface="Calibri" pitchFamily="34" charset="-122"/>
                <a:cs typeface="Calibri" pitchFamily="34" charset="-120"/>
              </a:rPr>
              <a:t>STAGES 01–06   ·   NO AI, NO NETWORK, NO CREDENTIALS</a:t>
            </a:r>
            <a:endParaRPr lang="en-US" sz="1000" dirty="0"/>
          </a:p>
        </p:txBody>
      </p:sp>
      <p:sp>
        <p:nvSpPr>
          <p:cNvPr id="33" name="Shape 31"/>
          <p:cNvSpPr/>
          <p:nvPr/>
        </p:nvSpPr>
        <p:spPr>
          <a:xfrm>
            <a:off x="914400" y="4133088"/>
            <a:ext cx="10362895" cy="9144"/>
          </a:xfrm>
          <a:prstGeom prst="rect">
            <a:avLst/>
          </a:prstGeom>
          <a:solidFill>
            <a:srgbClr val="E2E4E7"/>
          </a:solidFill>
          <a:ln w="12700">
            <a:solidFill>
              <a:srgbClr val="333333"/>
            </a:solidFill>
            <a:prstDash val="solid"/>
          </a:ln>
        </p:spPr>
      </p:sp>
      <p:sp>
        <p:nvSpPr>
          <p:cNvPr id="34" name="Text 32"/>
          <p:cNvSpPr txBox="1"/>
          <p:nvPr/>
        </p:nvSpPr>
        <p:spPr>
          <a:xfrm>
            <a:off x="914400" y="4370832"/>
            <a:ext cx="10058400" cy="384048"/>
          </a:xfrm>
          <a:prstGeom prst="rect">
            <a:avLst/>
          </a:prstGeom>
          <a:noFill/>
          <a:ln/>
        </p:spPr>
        <p:txBody>
          <a:bodyPr wrap="square" lIns="0" tIns="0" rIns="0" bIns="0" rtlCol="0" anchor="ctr"/>
          <a:lstStyle/>
          <a:p>
            <a:pPr indent="0" marL="0">
              <a:buNone/>
            </a:pPr>
            <a:r>
              <a:rPr lang="en-US" sz="1900" dirty="0">
                <a:solidFill>
                  <a:srgbClr val="14171B"/>
                </a:solidFill>
                <a:latin typeface="Cambria" pitchFamily="34" charset="0"/>
                <a:ea typeface="Cambria" pitchFamily="34" charset="-122"/>
                <a:cs typeface="Cambria" pitchFamily="34" charset="-120"/>
              </a:rPr>
              <a:t>Switch stage 07 off and every answer is identical — only the wording is plainer.</a:t>
            </a:r>
            <a:endParaRPr lang="en-US" sz="1900" dirty="0"/>
          </a:p>
        </p:txBody>
      </p:sp>
      <p:sp>
        <p:nvSpPr>
          <p:cNvPr id="35" name="Text 33"/>
          <p:cNvSpPr txBox="1"/>
          <p:nvPr/>
        </p:nvSpPr>
        <p:spPr>
          <a:xfrm>
            <a:off x="914400" y="4846320"/>
            <a:ext cx="10058400" cy="640080"/>
          </a:xfrm>
          <a:prstGeom prst="rect">
            <a:avLst/>
          </a:prstGeom>
          <a:noFill/>
          <a:ln/>
        </p:spPr>
        <p:txBody>
          <a:bodyPr wrap="square" lIns="0" tIns="0" rIns="0" bIns="0" rtlCol="0" anchor="ctr"/>
          <a:lstStyle/>
          <a:p>
            <a:pPr indent="0" marL="0">
              <a:buNone/>
            </a:pPr>
            <a:r>
              <a:rPr lang="en-US" sz="1400" dirty="0">
                <a:solidFill>
                  <a:srgbClr val="70777F"/>
                </a:solidFill>
                <a:latin typeface="Calibri" pitchFamily="34" charset="0"/>
                <a:ea typeface="Calibri" pitchFamily="34" charset="-122"/>
                <a:cs typeface="Calibri" pitchFamily="34" charset="-120"/>
              </a:rPr>
              <a:t>The decision has already been made by the time the model is called. It receives a finished conclusion and turns it into a sentence. It cannot change the cause, the confidence, or the evidence — because it is never shown the question.</a:t>
            </a:r>
            <a:endParaRPr lang="en-US" sz="140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914400" y="384048"/>
            <a:ext cx="10362895" cy="219456"/>
          </a:xfrm>
          <a:prstGeom prst="rect">
            <a:avLst/>
          </a:prstGeom>
          <a:noFill/>
          <a:ln/>
        </p:spPr>
        <p:txBody>
          <a:bodyPr wrap="square" lIns="0" tIns="0" rIns="0" bIns="0" rtlCol="0" anchor="ctr"/>
          <a:lstStyle/>
          <a:p>
            <a:pPr indent="0" marL="0">
              <a:buNone/>
            </a:pPr>
            <a:r>
              <a:rPr lang="en-US" sz="1000" b="1" spc="240" kern="0" dirty="0">
                <a:solidFill>
                  <a:srgbClr val="B4472E"/>
                </a:solidFill>
                <a:latin typeface="Calibri" pitchFamily="34" charset="0"/>
                <a:ea typeface="Calibri" pitchFamily="34" charset="-122"/>
                <a:cs typeface="Calibri" pitchFamily="34" charset="-120"/>
              </a:rPr>
              <a:t>TECH STACK</a:t>
            </a:r>
            <a:endParaRPr lang="en-US" sz="1000" dirty="0"/>
          </a:p>
        </p:txBody>
      </p:sp>
      <p:sp>
        <p:nvSpPr>
          <p:cNvPr id="3" name="Text 0"/>
          <p:cNvSpPr/>
          <p:nvPr>
            <p:ph idx="100" type="title" hasCustomPrompt="1"/>
          </p:nvPr>
        </p:nvSpPr>
        <p:spPr>
          <a:xfrm>
            <a:off x="914400" y="676656"/>
            <a:ext cx="10362895" cy="749808"/>
          </a:xfrm>
          <a:prstGeom prst="rect">
            <a:avLst/>
          </a:prstGeom>
          <a:noFill/>
          <a:ln/>
        </p:spPr>
        <p:txBody>
          <a:bodyPr wrap="square" lIns="0" tIns="0" rIns="0" bIns="0" rtlCol="0" anchor="ctr"/>
          <a:lstStyle/>
          <a:p>
            <a:pPr algn="l" indent="0" marL="0">
              <a:buNone/>
            </a:pPr>
            <a:r>
              <a:rPr lang="en-US" sz="3400" dirty="0">
                <a:solidFill>
                  <a:srgbClr val="14171B"/>
                </a:solidFill>
                <a:latin typeface="Cambria" pitchFamily="34" charset="0"/>
                <a:ea typeface="Cambria" pitchFamily="34" charset="-122"/>
                <a:cs typeface="Cambria" pitchFamily="34" charset="-120"/>
              </a:rPr>
              <a:t>Chosen so the decision stays auditable</a:t>
            </a:r>
            <a:endParaRPr lang="en-US" sz="3400" dirty="0"/>
          </a:p>
        </p:txBody>
      </p:sp>
      <p:sp>
        <p:nvSpPr>
          <p:cNvPr id="4" name="Text 2"/>
          <p:cNvSpPr txBox="1"/>
          <p:nvPr/>
        </p:nvSpPr>
        <p:spPr>
          <a:xfrm>
            <a:off x="914400" y="1828800"/>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Python 3.12</a:t>
            </a:r>
            <a:endParaRPr lang="en-US" sz="1550" dirty="0"/>
          </a:p>
        </p:txBody>
      </p:sp>
      <p:sp>
        <p:nvSpPr>
          <p:cNvPr id="5" name="Text 3"/>
          <p:cNvSpPr txBox="1"/>
          <p:nvPr/>
        </p:nvSpPr>
        <p:spPr>
          <a:xfrm>
            <a:off x="3703320" y="1874520"/>
            <a:ext cx="2194560" cy="237744"/>
          </a:xfrm>
          <a:prstGeom prst="rect">
            <a:avLst/>
          </a:prstGeom>
          <a:noFill/>
          <a:ln/>
        </p:spPr>
        <p:txBody>
          <a:bodyPr wrap="square" lIns="0" tIns="0" rIns="0" bIns="0" rtlCol="0" anchor="ctr"/>
          <a:lstStyle/>
          <a:p>
            <a:pPr algn="r" indent="0" marL="0">
              <a:buNone/>
            </a:pPr>
            <a:r>
              <a:rPr lang="en-US" sz="1050" dirty="0">
                <a:solidFill>
                  <a:srgbClr val="9DA3AA"/>
                </a:solidFill>
                <a:latin typeface="Courier New" pitchFamily="34" charset="0"/>
                <a:ea typeface="Courier New" pitchFamily="34" charset="-122"/>
                <a:cs typeface="Courier New" pitchFamily="34" charset="-120"/>
              </a:rPr>
              <a:t>Rules, parser, scorer</a:t>
            </a:r>
            <a:endParaRPr lang="en-US" sz="1050" dirty="0"/>
          </a:p>
        </p:txBody>
      </p:sp>
      <p:sp>
        <p:nvSpPr>
          <p:cNvPr id="6" name="Text 4"/>
          <p:cNvSpPr txBox="1"/>
          <p:nvPr/>
        </p:nvSpPr>
        <p:spPr>
          <a:xfrm>
            <a:off x="914400" y="2139696"/>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The whole decision path. Standard library only — no framework between the evidence and the answer.</a:t>
            </a:r>
            <a:endParaRPr lang="en-US" sz="1250" dirty="0"/>
          </a:p>
        </p:txBody>
      </p:sp>
      <p:sp>
        <p:nvSpPr>
          <p:cNvPr id="7" name="Shape 5"/>
          <p:cNvSpPr/>
          <p:nvPr/>
        </p:nvSpPr>
        <p:spPr>
          <a:xfrm>
            <a:off x="914400" y="2889504"/>
            <a:ext cx="4983480" cy="9144"/>
          </a:xfrm>
          <a:prstGeom prst="rect">
            <a:avLst/>
          </a:prstGeom>
          <a:solidFill>
            <a:srgbClr val="EDEEF0"/>
          </a:solidFill>
          <a:ln w="12700">
            <a:solidFill>
              <a:srgbClr val="333333"/>
            </a:solidFill>
            <a:prstDash val="solid"/>
          </a:ln>
        </p:spPr>
      </p:sp>
      <p:sp>
        <p:nvSpPr>
          <p:cNvPr id="8" name="Text 6"/>
          <p:cNvSpPr txBox="1"/>
          <p:nvPr/>
        </p:nvSpPr>
        <p:spPr>
          <a:xfrm>
            <a:off x="6236208" y="1828800"/>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FastAPI</a:t>
            </a:r>
            <a:endParaRPr lang="en-US" sz="1550" dirty="0"/>
          </a:p>
        </p:txBody>
      </p:sp>
      <p:sp>
        <p:nvSpPr>
          <p:cNvPr id="9" name="Text 7"/>
          <p:cNvSpPr txBox="1"/>
          <p:nvPr/>
        </p:nvSpPr>
        <p:spPr>
          <a:xfrm>
            <a:off x="9025128" y="1874520"/>
            <a:ext cx="2194560" cy="237744"/>
          </a:xfrm>
          <a:prstGeom prst="rect">
            <a:avLst/>
          </a:prstGeom>
          <a:noFill/>
          <a:ln/>
        </p:spPr>
        <p:txBody>
          <a:bodyPr wrap="square" lIns="0" tIns="0" rIns="0" bIns="0" rtlCol="0" anchor="ctr"/>
          <a:lstStyle/>
          <a:p>
            <a:pPr algn="r" indent="0" marL="0">
              <a:buNone/>
            </a:pPr>
            <a:r>
              <a:rPr lang="en-US" sz="1050" dirty="0">
                <a:solidFill>
                  <a:srgbClr val="9DA3AA"/>
                </a:solidFill>
                <a:latin typeface="Courier New" pitchFamily="34" charset="0"/>
                <a:ea typeface="Courier New" pitchFamily="34" charset="-122"/>
                <a:cs typeface="Courier New" pitchFamily="34" charset="-120"/>
              </a:rPr>
              <a:t>12 REST endpoints</a:t>
            </a:r>
            <a:endParaRPr lang="en-US" sz="1050" dirty="0"/>
          </a:p>
        </p:txBody>
      </p:sp>
      <p:sp>
        <p:nvSpPr>
          <p:cNvPr id="10" name="Text 8"/>
          <p:cNvSpPr txBox="1"/>
          <p:nvPr/>
        </p:nvSpPr>
        <p:spPr>
          <a:xfrm>
            <a:off x="6236208" y="2139696"/>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Thin layer. Serves the dashboard and exposes the engine; holds no logic of its own.</a:t>
            </a:r>
            <a:endParaRPr lang="en-US" sz="1250" dirty="0"/>
          </a:p>
        </p:txBody>
      </p:sp>
      <p:sp>
        <p:nvSpPr>
          <p:cNvPr id="11" name="Shape 9"/>
          <p:cNvSpPr/>
          <p:nvPr/>
        </p:nvSpPr>
        <p:spPr>
          <a:xfrm>
            <a:off x="6236208" y="2889504"/>
            <a:ext cx="4983480" cy="9144"/>
          </a:xfrm>
          <a:prstGeom prst="rect">
            <a:avLst/>
          </a:prstGeom>
          <a:solidFill>
            <a:srgbClr val="EDEEF0"/>
          </a:solidFill>
          <a:ln w="12700">
            <a:solidFill>
              <a:srgbClr val="333333"/>
            </a:solidFill>
            <a:prstDash val="solid"/>
          </a:ln>
        </p:spPr>
      </p:sp>
      <p:sp>
        <p:nvSpPr>
          <p:cNvPr id="12" name="Text 10"/>
          <p:cNvSpPr txBox="1"/>
          <p:nvPr/>
        </p:nvSpPr>
        <p:spPr>
          <a:xfrm>
            <a:off x="914400" y="3218688"/>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React</a:t>
            </a:r>
            <a:endParaRPr lang="en-US" sz="1550" dirty="0"/>
          </a:p>
        </p:txBody>
      </p:sp>
      <p:sp>
        <p:nvSpPr>
          <p:cNvPr id="13" name="Text 11"/>
          <p:cNvSpPr txBox="1"/>
          <p:nvPr/>
        </p:nvSpPr>
        <p:spPr>
          <a:xfrm>
            <a:off x="3703320" y="3264408"/>
            <a:ext cx="2194560" cy="237744"/>
          </a:xfrm>
          <a:prstGeom prst="rect">
            <a:avLst/>
          </a:prstGeom>
          <a:noFill/>
          <a:ln/>
        </p:spPr>
        <p:txBody>
          <a:bodyPr wrap="square" lIns="0" tIns="0" rIns="0" bIns="0" rtlCol="0" anchor="ctr"/>
          <a:lstStyle/>
          <a:p>
            <a:pPr algn="r" indent="0" marL="0">
              <a:buNone/>
            </a:pPr>
            <a:r>
              <a:rPr lang="en-US" sz="1050" dirty="0">
                <a:solidFill>
                  <a:srgbClr val="9DA3AA"/>
                </a:solidFill>
                <a:latin typeface="Courier New" pitchFamily="34" charset="0"/>
                <a:ea typeface="Courier New" pitchFamily="34" charset="-122"/>
                <a:cs typeface="Courier New" pitchFamily="34" charset="-120"/>
              </a:rPr>
              <a:t>Single file, CDN, no build</a:t>
            </a:r>
            <a:endParaRPr lang="en-US" sz="1050" dirty="0"/>
          </a:p>
        </p:txBody>
      </p:sp>
      <p:sp>
        <p:nvSpPr>
          <p:cNvPr id="14" name="Text 12"/>
          <p:cNvSpPr txBox="1"/>
          <p:nvPr/>
        </p:nvSpPr>
        <p:spPr>
          <a:xfrm>
            <a:off x="914400" y="3529584"/>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The dashboard runs from one HTML file, so there is nothing to compile or deploy.</a:t>
            </a:r>
            <a:endParaRPr lang="en-US" sz="1250" dirty="0"/>
          </a:p>
        </p:txBody>
      </p:sp>
      <p:sp>
        <p:nvSpPr>
          <p:cNvPr id="15" name="Shape 13"/>
          <p:cNvSpPr/>
          <p:nvPr/>
        </p:nvSpPr>
        <p:spPr>
          <a:xfrm>
            <a:off x="914400" y="4279392"/>
            <a:ext cx="4983480" cy="9144"/>
          </a:xfrm>
          <a:prstGeom prst="rect">
            <a:avLst/>
          </a:prstGeom>
          <a:solidFill>
            <a:srgbClr val="EDEEF0"/>
          </a:solidFill>
          <a:ln w="12700">
            <a:solidFill>
              <a:srgbClr val="333333"/>
            </a:solidFill>
            <a:prstDash val="solid"/>
          </a:ln>
        </p:spPr>
      </p:sp>
      <p:sp>
        <p:nvSpPr>
          <p:cNvPr id="16" name="Text 14"/>
          <p:cNvSpPr txBox="1"/>
          <p:nvPr/>
        </p:nvSpPr>
        <p:spPr>
          <a:xfrm>
            <a:off x="6236208" y="3218688"/>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Gemini 3.5</a:t>
            </a:r>
            <a:endParaRPr lang="en-US" sz="1550" dirty="0"/>
          </a:p>
        </p:txBody>
      </p:sp>
      <p:sp>
        <p:nvSpPr>
          <p:cNvPr id="17" name="Text 15"/>
          <p:cNvSpPr txBox="1"/>
          <p:nvPr/>
        </p:nvSpPr>
        <p:spPr>
          <a:xfrm>
            <a:off x="9025128" y="3264408"/>
            <a:ext cx="2194560" cy="237744"/>
          </a:xfrm>
          <a:prstGeom prst="rect">
            <a:avLst/>
          </a:prstGeom>
          <a:noFill/>
          <a:ln/>
        </p:spPr>
        <p:txBody>
          <a:bodyPr wrap="square" lIns="0" tIns="0" rIns="0" bIns="0" rtlCol="0" anchor="ctr"/>
          <a:lstStyle/>
          <a:p>
            <a:pPr algn="r" indent="0" marL="0">
              <a:buNone/>
            </a:pPr>
            <a:r>
              <a:rPr lang="en-US" sz="1050" dirty="0">
                <a:solidFill>
                  <a:srgbClr val="B4472E"/>
                </a:solidFill>
                <a:latin typeface="Courier New" pitchFamily="34" charset="0"/>
                <a:ea typeface="Courier New" pitchFamily="34" charset="-122"/>
                <a:cs typeface="Courier New" pitchFamily="34" charset="-120"/>
              </a:rPr>
              <a:t>Stage 07 only</a:t>
            </a:r>
            <a:endParaRPr lang="en-US" sz="1050" dirty="0"/>
          </a:p>
        </p:txBody>
      </p:sp>
      <p:sp>
        <p:nvSpPr>
          <p:cNvPr id="18" name="Text 16"/>
          <p:cNvSpPr txBox="1"/>
          <p:nvPr/>
        </p:nvSpPr>
        <p:spPr>
          <a:xfrm>
            <a:off x="6236208" y="3529584"/>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Writes the summary and answers questions. Swappable for Azure OpenAI by editing one file.</a:t>
            </a:r>
            <a:endParaRPr lang="en-US" sz="1250" dirty="0"/>
          </a:p>
        </p:txBody>
      </p:sp>
      <p:sp>
        <p:nvSpPr>
          <p:cNvPr id="19" name="Shape 17"/>
          <p:cNvSpPr/>
          <p:nvPr/>
        </p:nvSpPr>
        <p:spPr>
          <a:xfrm>
            <a:off x="6236208" y="4279392"/>
            <a:ext cx="4983480" cy="9144"/>
          </a:xfrm>
          <a:prstGeom prst="rect">
            <a:avLst/>
          </a:prstGeom>
          <a:solidFill>
            <a:srgbClr val="EDEEF0"/>
          </a:solidFill>
          <a:ln w="12700">
            <a:solidFill>
              <a:srgbClr val="333333"/>
            </a:solidFill>
            <a:prstDash val="solid"/>
          </a:ln>
        </p:spPr>
      </p:sp>
      <p:sp>
        <p:nvSpPr>
          <p:cNvPr id="20" name="Text 18"/>
          <p:cNvSpPr txBox="1"/>
          <p:nvPr/>
        </p:nvSpPr>
        <p:spPr>
          <a:xfrm>
            <a:off x="914400" y="4608576"/>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Knowledge graph</a:t>
            </a:r>
            <a:endParaRPr lang="en-US" sz="1550" dirty="0"/>
          </a:p>
        </p:txBody>
      </p:sp>
      <p:sp>
        <p:nvSpPr>
          <p:cNvPr id="21" name="Text 19"/>
          <p:cNvSpPr txBox="1"/>
          <p:nvPr/>
        </p:nvSpPr>
        <p:spPr>
          <a:xfrm>
            <a:off x="3703320" y="4654296"/>
            <a:ext cx="2194560" cy="237744"/>
          </a:xfrm>
          <a:prstGeom prst="rect">
            <a:avLst/>
          </a:prstGeom>
          <a:noFill/>
          <a:ln/>
        </p:spPr>
        <p:txBody>
          <a:bodyPr wrap="square" lIns="0" tIns="0" rIns="0" bIns="0" rtlCol="0" anchor="ctr"/>
          <a:lstStyle/>
          <a:p>
            <a:pPr algn="r" indent="0" marL="0">
              <a:buNone/>
            </a:pPr>
            <a:r>
              <a:rPr lang="en-US" sz="1050" dirty="0">
                <a:solidFill>
                  <a:srgbClr val="9DA3AA"/>
                </a:solidFill>
                <a:latin typeface="Courier New" pitchFamily="34" charset="0"/>
                <a:ea typeface="Courier New" pitchFamily="34" charset="-122"/>
                <a:cs typeface="Courier New" pitchFamily="34" charset="-120"/>
              </a:rPr>
              <a:t>70 nodes, 121 edges</a:t>
            </a:r>
            <a:endParaRPr lang="en-US" sz="1050" dirty="0"/>
          </a:p>
        </p:txBody>
      </p:sp>
      <p:sp>
        <p:nvSpPr>
          <p:cNvPr id="22" name="Text 20"/>
          <p:cNvSpPr txBox="1"/>
          <p:nvPr/>
        </p:nvSpPr>
        <p:spPr>
          <a:xfrm>
            <a:off x="914400" y="4919472"/>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Built in-process from the config. Answers “who owns this?” by traversal, not by asking a model.</a:t>
            </a:r>
            <a:endParaRPr lang="en-US" sz="1250" dirty="0"/>
          </a:p>
        </p:txBody>
      </p:sp>
      <p:sp>
        <p:nvSpPr>
          <p:cNvPr id="23" name="Shape 21"/>
          <p:cNvSpPr/>
          <p:nvPr/>
        </p:nvSpPr>
        <p:spPr>
          <a:xfrm>
            <a:off x="914400" y="5669280"/>
            <a:ext cx="4983480" cy="9144"/>
          </a:xfrm>
          <a:prstGeom prst="rect">
            <a:avLst/>
          </a:prstGeom>
          <a:solidFill>
            <a:srgbClr val="EDEEF0"/>
          </a:solidFill>
          <a:ln w="12700">
            <a:solidFill>
              <a:srgbClr val="333333"/>
            </a:solidFill>
            <a:prstDash val="solid"/>
          </a:ln>
        </p:spPr>
      </p:sp>
      <p:sp>
        <p:nvSpPr>
          <p:cNvPr id="24" name="Text 22"/>
          <p:cNvSpPr txBox="1"/>
          <p:nvPr/>
        </p:nvSpPr>
        <p:spPr>
          <a:xfrm>
            <a:off x="6236208" y="4608576"/>
            <a:ext cx="2743200" cy="274320"/>
          </a:xfrm>
          <a:prstGeom prst="rect">
            <a:avLst/>
          </a:prstGeom>
          <a:noFill/>
          <a:ln/>
        </p:spPr>
        <p:txBody>
          <a:bodyPr wrap="square" lIns="0" tIns="0" rIns="0" bIns="0" rtlCol="0" anchor="ctr"/>
          <a:lstStyle/>
          <a:p>
            <a:pPr indent="0" marL="0">
              <a:buNone/>
            </a:pPr>
            <a:r>
              <a:rPr lang="en-US" sz="1550" b="1" dirty="0">
                <a:solidFill>
                  <a:srgbClr val="14171B"/>
                </a:solidFill>
                <a:latin typeface="Calibri" pitchFamily="34" charset="0"/>
                <a:ea typeface="Calibri" pitchFamily="34" charset="-122"/>
                <a:cs typeface="Calibri" pitchFamily="34" charset="-120"/>
              </a:rPr>
              <a:t>Vector search</a:t>
            </a:r>
            <a:endParaRPr lang="en-US" sz="1550" dirty="0"/>
          </a:p>
        </p:txBody>
      </p:sp>
      <p:sp>
        <p:nvSpPr>
          <p:cNvPr id="25" name="Text 23"/>
          <p:cNvSpPr txBox="1"/>
          <p:nvPr/>
        </p:nvSpPr>
        <p:spPr>
          <a:xfrm>
            <a:off x="9025128" y="4654296"/>
            <a:ext cx="2194560" cy="237744"/>
          </a:xfrm>
          <a:prstGeom prst="rect">
            <a:avLst/>
          </a:prstGeom>
          <a:noFill/>
          <a:ln/>
        </p:spPr>
        <p:txBody>
          <a:bodyPr wrap="square" lIns="0" tIns="0" rIns="0" bIns="0" rtlCol="0" anchor="ctr"/>
          <a:lstStyle/>
          <a:p>
            <a:pPr algn="r" indent="0" marL="0">
              <a:buNone/>
            </a:pPr>
            <a:r>
              <a:rPr lang="en-US" sz="1050" dirty="0">
                <a:solidFill>
                  <a:srgbClr val="9DA3AA"/>
                </a:solidFill>
                <a:latin typeface="Courier New" pitchFamily="34" charset="0"/>
                <a:ea typeface="Courier New" pitchFamily="34" charset="-122"/>
                <a:cs typeface="Courier New" pitchFamily="34" charset="-120"/>
              </a:rPr>
              <a:t>Embedded signatures</a:t>
            </a:r>
            <a:endParaRPr lang="en-US" sz="1050" dirty="0"/>
          </a:p>
        </p:txBody>
      </p:sp>
      <p:sp>
        <p:nvSpPr>
          <p:cNvPr id="26" name="Text 24"/>
          <p:cNvSpPr txBox="1"/>
          <p:nvPr/>
        </p:nvSpPr>
        <p:spPr>
          <a:xfrm>
            <a:off x="6236208" y="4919472"/>
            <a:ext cx="4983480" cy="658368"/>
          </a:xfrm>
          <a:prstGeom prst="rect">
            <a:avLst/>
          </a:prstGeom>
          <a:noFill/>
          <a:ln/>
        </p:spPr>
        <p:txBody>
          <a:bodyPr wrap="square" lIns="0" tIns="0" rIns="0" bIns="0" rtlCol="0" anchor="ctr"/>
          <a:lstStyle/>
          <a:p>
            <a:pPr indent="0" marL="0">
              <a:buNone/>
            </a:pPr>
            <a:r>
              <a:rPr lang="en-US" sz="1250" dirty="0">
                <a:solidFill>
                  <a:srgbClr val="70777F"/>
                </a:solidFill>
                <a:latin typeface="Calibri" pitchFamily="34" charset="0"/>
                <a:ea typeface="Calibri" pitchFamily="34" charset="-122"/>
                <a:cs typeface="Calibri" pitchFamily="34" charset="-120"/>
              </a:rPr>
              <a:t>Finds past incidents described in different words. Never embeds a raw stack trace.</a:t>
            </a:r>
            <a:endParaRPr lang="en-US" sz="1250" dirty="0"/>
          </a:p>
        </p:txBody>
      </p:sp>
      <p:sp>
        <p:nvSpPr>
          <p:cNvPr id="27" name="Shape 25"/>
          <p:cNvSpPr/>
          <p:nvPr/>
        </p:nvSpPr>
        <p:spPr>
          <a:xfrm>
            <a:off x="6236208" y="5669280"/>
            <a:ext cx="4983480" cy="9144"/>
          </a:xfrm>
          <a:prstGeom prst="rect">
            <a:avLst/>
          </a:prstGeom>
          <a:solidFill>
            <a:srgbClr val="EDEEF0"/>
          </a:solidFill>
          <a:ln w="12700">
            <a:solidFill>
              <a:srgbClr val="333333"/>
            </a:solidFill>
            <a:prstDash val="solid"/>
          </a:ln>
        </p:spPr>
      </p:sp>
      <p:sp>
        <p:nvSpPr>
          <p:cNvPr id="28" name="Text 26"/>
          <p:cNvSpPr txBox="1"/>
          <p:nvPr/>
        </p:nvSpPr>
        <p:spPr>
          <a:xfrm>
            <a:off x="914400" y="5870448"/>
            <a:ext cx="10058400" cy="365760"/>
          </a:xfrm>
          <a:prstGeom prst="rect">
            <a:avLst/>
          </a:prstGeom>
          <a:noFill/>
          <a:ln/>
        </p:spPr>
        <p:txBody>
          <a:bodyPr wrap="square" lIns="0" tIns="0" rIns="0" bIns="0" rtlCol="0" anchor="ctr"/>
          <a:lstStyle/>
          <a:p>
            <a:pPr indent="0" marL="0">
              <a:buNone/>
            </a:pPr>
            <a:r>
              <a:rPr lang="en-US" sz="1450" i="1" dirty="0">
                <a:solidFill>
                  <a:srgbClr val="B4472E"/>
                </a:solidFill>
                <a:latin typeface="Cambria" pitchFamily="34" charset="0"/>
                <a:ea typeface="Cambria" pitchFamily="34" charset="-122"/>
                <a:cs typeface="Cambria" pitchFamily="34" charset="-120"/>
              </a:rPr>
              <a:t>Exactly one of these six can reach the internet, and it runs after the answer exists.</a:t>
            </a:r>
            <a:endParaRPr lang="en-US" sz="145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914400" y="384048"/>
            <a:ext cx="10362895" cy="219456"/>
          </a:xfrm>
          <a:prstGeom prst="rect">
            <a:avLst/>
          </a:prstGeom>
          <a:noFill/>
          <a:ln/>
        </p:spPr>
        <p:txBody>
          <a:bodyPr wrap="square" lIns="0" tIns="0" rIns="0" bIns="0" rtlCol="0" anchor="ctr"/>
          <a:lstStyle/>
          <a:p>
            <a:pPr indent="0" marL="0">
              <a:buNone/>
            </a:pPr>
            <a:r>
              <a:rPr lang="en-US" sz="1000" b="1" spc="240" kern="0" dirty="0">
                <a:solidFill>
                  <a:srgbClr val="B4472E"/>
                </a:solidFill>
                <a:latin typeface="Calibri" pitchFamily="34" charset="0"/>
                <a:ea typeface="Calibri" pitchFamily="34" charset="-122"/>
                <a:cs typeface="Calibri" pitchFamily="34" charset="-120"/>
              </a:rPr>
              <a:t>WHY THIS IS DIFFERENT</a:t>
            </a:r>
            <a:endParaRPr lang="en-US" sz="1000" dirty="0"/>
          </a:p>
        </p:txBody>
      </p:sp>
      <p:sp>
        <p:nvSpPr>
          <p:cNvPr id="3" name="Text 0"/>
          <p:cNvSpPr/>
          <p:nvPr>
            <p:ph idx="100" type="title" hasCustomPrompt="1"/>
          </p:nvPr>
        </p:nvSpPr>
        <p:spPr>
          <a:xfrm>
            <a:off x="914400" y="676656"/>
            <a:ext cx="10362895" cy="749808"/>
          </a:xfrm>
          <a:prstGeom prst="rect">
            <a:avLst/>
          </a:prstGeom>
          <a:noFill/>
          <a:ln/>
        </p:spPr>
        <p:txBody>
          <a:bodyPr wrap="square" lIns="0" tIns="0" rIns="0" bIns="0" rtlCol="0" anchor="ctr"/>
          <a:lstStyle/>
          <a:p>
            <a:pPr algn="l" indent="0" marL="0">
              <a:buNone/>
            </a:pPr>
            <a:r>
              <a:rPr lang="en-US" sz="3400" dirty="0">
                <a:solidFill>
                  <a:srgbClr val="14171B"/>
                </a:solidFill>
                <a:latin typeface="Cambria" pitchFamily="34" charset="0"/>
                <a:ea typeface="Cambria" pitchFamily="34" charset="-122"/>
                <a:cs typeface="Cambria" pitchFamily="34" charset="-120"/>
              </a:rPr>
              <a:t>Everyone can call an LLM. That isn’t the hard part</a:t>
            </a:r>
            <a:endParaRPr lang="en-US" sz="3400" dirty="0"/>
          </a:p>
        </p:txBody>
      </p:sp>
      <p:sp>
        <p:nvSpPr>
          <p:cNvPr id="4" name="Text 2"/>
          <p:cNvSpPr txBox="1"/>
          <p:nvPr/>
        </p:nvSpPr>
        <p:spPr>
          <a:xfrm>
            <a:off x="914400" y="1627632"/>
            <a:ext cx="4480560" cy="219456"/>
          </a:xfrm>
          <a:prstGeom prst="rect">
            <a:avLst/>
          </a:prstGeom>
          <a:noFill/>
          <a:ln/>
        </p:spPr>
        <p:txBody>
          <a:bodyPr wrap="square" lIns="0" tIns="0" rIns="0" bIns="0" rtlCol="0" anchor="ctr"/>
          <a:lstStyle/>
          <a:p>
            <a:pPr indent="0" marL="0">
              <a:buNone/>
            </a:pPr>
            <a:r>
              <a:rPr lang="en-US" sz="950" b="1" spc="160" kern="0" dirty="0">
                <a:solidFill>
                  <a:srgbClr val="9DA3AA"/>
                </a:solidFill>
                <a:latin typeface="Calibri" pitchFamily="34" charset="0"/>
                <a:ea typeface="Calibri" pitchFamily="34" charset="-122"/>
                <a:cs typeface="Calibri" pitchFamily="34" charset="-120"/>
              </a:rPr>
              <a:t>TYPICAL LOG-ANALYSIS TOOL</a:t>
            </a:r>
            <a:endParaRPr lang="en-US" sz="950" dirty="0"/>
          </a:p>
        </p:txBody>
      </p:sp>
      <p:sp>
        <p:nvSpPr>
          <p:cNvPr id="5" name="Text 3"/>
          <p:cNvSpPr txBox="1"/>
          <p:nvPr/>
        </p:nvSpPr>
        <p:spPr>
          <a:xfrm>
            <a:off x="5943600" y="1627632"/>
            <a:ext cx="5303520" cy="219456"/>
          </a:xfrm>
          <a:prstGeom prst="rect">
            <a:avLst/>
          </a:prstGeom>
          <a:noFill/>
          <a:ln/>
        </p:spPr>
        <p:txBody>
          <a:bodyPr wrap="square" lIns="0" tIns="0" rIns="0" bIns="0" rtlCol="0" anchor="ctr"/>
          <a:lstStyle/>
          <a:p>
            <a:pPr indent="0" marL="0">
              <a:buNone/>
            </a:pPr>
            <a:r>
              <a:rPr lang="en-US" sz="950" b="1" spc="160" kern="0" dirty="0">
                <a:solidFill>
                  <a:srgbClr val="B4472E"/>
                </a:solidFill>
                <a:latin typeface="Calibri" pitchFamily="34" charset="0"/>
                <a:ea typeface="Calibri" pitchFamily="34" charset="-122"/>
                <a:cs typeface="Calibri" pitchFamily="34" charset="-120"/>
              </a:rPr>
              <a:t>THIS</a:t>
            </a:r>
            <a:endParaRPr lang="en-US" sz="950" dirty="0"/>
          </a:p>
        </p:txBody>
      </p:sp>
      <p:sp>
        <p:nvSpPr>
          <p:cNvPr id="6" name="Shape 4"/>
          <p:cNvSpPr/>
          <p:nvPr/>
        </p:nvSpPr>
        <p:spPr>
          <a:xfrm>
            <a:off x="914400" y="1883664"/>
            <a:ext cx="4480560" cy="9144"/>
          </a:xfrm>
          <a:prstGeom prst="rect">
            <a:avLst/>
          </a:prstGeom>
          <a:solidFill>
            <a:srgbClr val="E8EAEC"/>
          </a:solidFill>
          <a:ln w="12700">
            <a:solidFill>
              <a:srgbClr val="333333"/>
            </a:solidFill>
            <a:prstDash val="solid"/>
          </a:ln>
        </p:spPr>
      </p:sp>
      <p:sp>
        <p:nvSpPr>
          <p:cNvPr id="7" name="Shape 5"/>
          <p:cNvSpPr/>
          <p:nvPr/>
        </p:nvSpPr>
        <p:spPr>
          <a:xfrm>
            <a:off x="5943600" y="1883664"/>
            <a:ext cx="5330952" cy="12802"/>
          </a:xfrm>
          <a:prstGeom prst="rect">
            <a:avLst/>
          </a:prstGeom>
          <a:solidFill>
            <a:srgbClr val="B4472E"/>
          </a:solidFill>
          <a:ln w="12700">
            <a:solidFill>
              <a:srgbClr val="333333"/>
            </a:solidFill>
            <a:prstDash val="solid"/>
          </a:ln>
        </p:spPr>
      </p:sp>
      <p:sp>
        <p:nvSpPr>
          <p:cNvPr id="8" name="Text 6"/>
          <p:cNvSpPr txBox="1"/>
          <p:nvPr/>
        </p:nvSpPr>
        <p:spPr>
          <a:xfrm>
            <a:off x="914400" y="2121408"/>
            <a:ext cx="4480560" cy="457200"/>
          </a:xfrm>
          <a:prstGeom prst="rect">
            <a:avLst/>
          </a:prstGeom>
          <a:noFill/>
          <a:ln/>
        </p:spPr>
        <p:txBody>
          <a:bodyPr wrap="square" lIns="0" tIns="0" rIns="0" bIns="0" rtlCol="0" anchor="t"/>
          <a:lstStyle/>
          <a:p>
            <a:pPr indent="0" marL="0">
              <a:buNone/>
            </a:pPr>
            <a:r>
              <a:rPr lang="en-US" sz="1300" dirty="0">
                <a:solidFill>
                  <a:srgbClr val="9DA3AA"/>
                </a:solidFill>
                <a:latin typeface="Calibri" pitchFamily="34" charset="0"/>
                <a:ea typeface="Calibri" pitchFamily="34" charset="-122"/>
                <a:cs typeface="Calibri" pitchFamily="34" charset="-120"/>
              </a:rPr>
              <a:t>Asks the model what broke</a:t>
            </a:r>
            <a:endParaRPr lang="en-US" sz="1300" dirty="0"/>
          </a:p>
        </p:txBody>
      </p:sp>
      <p:sp>
        <p:nvSpPr>
          <p:cNvPr id="9" name="Text 7"/>
          <p:cNvSpPr txBox="1"/>
          <p:nvPr/>
        </p:nvSpPr>
        <p:spPr>
          <a:xfrm>
            <a:off x="5943600" y="2084832"/>
            <a:ext cx="5330952" cy="310896"/>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The model is never asked. Rules decide</a:t>
            </a:r>
            <a:endParaRPr lang="en-US" sz="1350" dirty="0"/>
          </a:p>
        </p:txBody>
      </p:sp>
      <p:sp>
        <p:nvSpPr>
          <p:cNvPr id="10" name="Text 8"/>
          <p:cNvSpPr txBox="1"/>
          <p:nvPr/>
        </p:nvSpPr>
        <p:spPr>
          <a:xfrm>
            <a:off x="5943600" y="2395728"/>
            <a:ext cx="5330952" cy="274320"/>
          </a:xfrm>
          <a:prstGeom prst="rect">
            <a:avLst/>
          </a:prstGeom>
          <a:noFill/>
          <a:ln/>
        </p:spPr>
        <p:txBody>
          <a:bodyPr wrap="square" lIns="0" tIns="0" rIns="0" bIns="0" rtlCol="0" anchor="ctr"/>
          <a:lstStyle/>
          <a:p>
            <a:pPr indent="0" marL="0">
              <a:buNone/>
            </a:pPr>
            <a:r>
              <a:rPr lang="en-US" sz="1150" dirty="0">
                <a:solidFill>
                  <a:srgbClr val="B4472E"/>
                </a:solidFill>
                <a:latin typeface="Calibri" pitchFamily="34" charset="0"/>
                <a:ea typeface="Calibri" pitchFamily="34" charset="-122"/>
                <a:cs typeface="Calibri" pitchFamily="34" charset="-120"/>
              </a:rPr>
              <a:t>Hallucination cannot reach the diagnosis</a:t>
            </a:r>
            <a:endParaRPr lang="en-US" sz="1150" dirty="0"/>
          </a:p>
        </p:txBody>
      </p:sp>
      <p:sp>
        <p:nvSpPr>
          <p:cNvPr id="11" name="Text 9"/>
          <p:cNvSpPr txBox="1"/>
          <p:nvPr/>
        </p:nvSpPr>
        <p:spPr>
          <a:xfrm>
            <a:off x="914400" y="2889504"/>
            <a:ext cx="4480560" cy="457200"/>
          </a:xfrm>
          <a:prstGeom prst="rect">
            <a:avLst/>
          </a:prstGeom>
          <a:noFill/>
          <a:ln/>
        </p:spPr>
        <p:txBody>
          <a:bodyPr wrap="square" lIns="0" tIns="0" rIns="0" bIns="0" rtlCol="0" anchor="t"/>
          <a:lstStyle/>
          <a:p>
            <a:pPr indent="0" marL="0">
              <a:buNone/>
            </a:pPr>
            <a:r>
              <a:rPr lang="en-US" sz="1300" dirty="0">
                <a:solidFill>
                  <a:srgbClr val="9DA3AA"/>
                </a:solidFill>
                <a:latin typeface="Calibri" pitchFamily="34" charset="0"/>
                <a:ea typeface="Calibri" pitchFamily="34" charset="-122"/>
                <a:cs typeface="Calibri" pitchFamily="34" charset="-120"/>
              </a:rPr>
              <a:t>Always answers, even when wrong</a:t>
            </a:r>
            <a:endParaRPr lang="en-US" sz="1300" dirty="0"/>
          </a:p>
        </p:txBody>
      </p:sp>
      <p:sp>
        <p:nvSpPr>
          <p:cNvPr id="12" name="Text 10"/>
          <p:cNvSpPr txBox="1"/>
          <p:nvPr/>
        </p:nvSpPr>
        <p:spPr>
          <a:xfrm>
            <a:off x="5943600" y="2852928"/>
            <a:ext cx="5330952" cy="310896"/>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Returns “Inconclusive” and shows its working</a:t>
            </a:r>
            <a:endParaRPr lang="en-US" sz="1350" dirty="0"/>
          </a:p>
        </p:txBody>
      </p:sp>
      <p:sp>
        <p:nvSpPr>
          <p:cNvPr id="13" name="Text 11"/>
          <p:cNvSpPr txBox="1"/>
          <p:nvPr/>
        </p:nvSpPr>
        <p:spPr>
          <a:xfrm>
            <a:off x="5943600" y="3163824"/>
            <a:ext cx="5330952" cy="274320"/>
          </a:xfrm>
          <a:prstGeom prst="rect">
            <a:avLst/>
          </a:prstGeom>
          <a:noFill/>
          <a:ln/>
        </p:spPr>
        <p:txBody>
          <a:bodyPr wrap="square" lIns="0" tIns="0" rIns="0" bIns="0" rtlCol="0" anchor="ctr"/>
          <a:lstStyle/>
          <a:p>
            <a:pPr indent="0" marL="0">
              <a:buNone/>
            </a:pPr>
            <a:r>
              <a:rPr lang="en-US" sz="1150" dirty="0">
                <a:solidFill>
                  <a:srgbClr val="B4472E"/>
                </a:solidFill>
                <a:latin typeface="Calibri" pitchFamily="34" charset="0"/>
                <a:ea typeface="Calibri" pitchFamily="34" charset="-122"/>
                <a:cs typeface="Calibri" pitchFamily="34" charset="-120"/>
              </a:rPr>
              <a:t>Silence beats a confident wrong answer at 2am</a:t>
            </a:r>
            <a:endParaRPr lang="en-US" sz="1150" dirty="0"/>
          </a:p>
        </p:txBody>
      </p:sp>
      <p:sp>
        <p:nvSpPr>
          <p:cNvPr id="14" name="Text 12"/>
          <p:cNvSpPr txBox="1"/>
          <p:nvPr/>
        </p:nvSpPr>
        <p:spPr>
          <a:xfrm>
            <a:off x="914400" y="3657600"/>
            <a:ext cx="4480560" cy="457200"/>
          </a:xfrm>
          <a:prstGeom prst="rect">
            <a:avLst/>
          </a:prstGeom>
          <a:noFill/>
          <a:ln/>
        </p:spPr>
        <p:txBody>
          <a:bodyPr wrap="square" lIns="0" tIns="0" rIns="0" bIns="0" rtlCol="0" anchor="t"/>
          <a:lstStyle/>
          <a:p>
            <a:pPr indent="0" marL="0">
              <a:buNone/>
            </a:pPr>
            <a:r>
              <a:rPr lang="en-US" sz="1300" dirty="0">
                <a:solidFill>
                  <a:srgbClr val="9DA3AA"/>
                </a:solidFill>
                <a:latin typeface="Calibri" pitchFamily="34" charset="0"/>
                <a:ea typeface="Calibri" pitchFamily="34" charset="-122"/>
                <a:cs typeface="Calibri" pitchFamily="34" charset="-120"/>
              </a:rPr>
              <a:t>Confidence is a number the model invented</a:t>
            </a:r>
            <a:endParaRPr lang="en-US" sz="1300" dirty="0"/>
          </a:p>
        </p:txBody>
      </p:sp>
      <p:sp>
        <p:nvSpPr>
          <p:cNvPr id="15" name="Text 13"/>
          <p:cNvSpPr txBox="1"/>
          <p:nvPr/>
        </p:nvSpPr>
        <p:spPr>
          <a:xfrm>
            <a:off x="5943600" y="3621024"/>
            <a:ext cx="5330952" cy="310896"/>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Confidence is capped by what we can actually see</a:t>
            </a:r>
            <a:endParaRPr lang="en-US" sz="1350" dirty="0"/>
          </a:p>
        </p:txBody>
      </p:sp>
      <p:sp>
        <p:nvSpPr>
          <p:cNvPr id="16" name="Text 14"/>
          <p:cNvSpPr txBox="1"/>
          <p:nvPr/>
        </p:nvSpPr>
        <p:spPr>
          <a:xfrm>
            <a:off x="5943600" y="3931920"/>
            <a:ext cx="5330952" cy="274320"/>
          </a:xfrm>
          <a:prstGeom prst="rect">
            <a:avLst/>
          </a:prstGeom>
          <a:noFill/>
          <a:ln/>
        </p:spPr>
        <p:txBody>
          <a:bodyPr wrap="square" lIns="0" tIns="0" rIns="0" bIns="0" rtlCol="0" anchor="ctr"/>
          <a:lstStyle/>
          <a:p>
            <a:pPr indent="0" marL="0">
              <a:buNone/>
            </a:pPr>
            <a:r>
              <a:rPr lang="en-US" sz="1150" dirty="0">
                <a:solidFill>
                  <a:srgbClr val="B4472E"/>
                </a:solidFill>
                <a:latin typeface="Calibri" pitchFamily="34" charset="0"/>
                <a:ea typeface="Calibri" pitchFamily="34" charset="-122"/>
                <a:cs typeface="Calibri" pitchFamily="34" charset="-120"/>
              </a:rPr>
              <a:t>3 of 7 sources connected means it cannot claim High</a:t>
            </a:r>
            <a:endParaRPr lang="en-US" sz="1150" dirty="0"/>
          </a:p>
        </p:txBody>
      </p:sp>
      <p:sp>
        <p:nvSpPr>
          <p:cNvPr id="17" name="Text 15"/>
          <p:cNvSpPr txBox="1"/>
          <p:nvPr/>
        </p:nvSpPr>
        <p:spPr>
          <a:xfrm>
            <a:off x="914400" y="4425696"/>
            <a:ext cx="4480560" cy="457200"/>
          </a:xfrm>
          <a:prstGeom prst="rect">
            <a:avLst/>
          </a:prstGeom>
          <a:noFill/>
          <a:ln/>
        </p:spPr>
        <p:txBody>
          <a:bodyPr wrap="square" lIns="0" tIns="0" rIns="0" bIns="0" rtlCol="0" anchor="t"/>
          <a:lstStyle/>
          <a:p>
            <a:pPr indent="0" marL="0">
              <a:buNone/>
            </a:pPr>
            <a:r>
              <a:rPr lang="en-US" sz="1300" dirty="0">
                <a:solidFill>
                  <a:srgbClr val="9DA3AA"/>
                </a:solidFill>
                <a:latin typeface="Calibri" pitchFamily="34" charset="0"/>
                <a:ea typeface="Calibri" pitchFamily="34" charset="-122"/>
                <a:cs typeface="Calibri" pitchFamily="34" charset="-120"/>
              </a:rPr>
              <a:t>Sends your logs to a third party</a:t>
            </a:r>
            <a:endParaRPr lang="en-US" sz="1300" dirty="0"/>
          </a:p>
        </p:txBody>
      </p:sp>
      <p:sp>
        <p:nvSpPr>
          <p:cNvPr id="18" name="Text 16"/>
          <p:cNvSpPr txBox="1"/>
          <p:nvPr/>
        </p:nvSpPr>
        <p:spPr>
          <a:xfrm>
            <a:off x="5943600" y="4389120"/>
            <a:ext cx="5330952" cy="310896"/>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Hostnames and IDs are tokenised before any prompt leaves</a:t>
            </a:r>
            <a:endParaRPr lang="en-US" sz="1350" dirty="0"/>
          </a:p>
        </p:txBody>
      </p:sp>
      <p:sp>
        <p:nvSpPr>
          <p:cNvPr id="19" name="Text 17"/>
          <p:cNvSpPr txBox="1"/>
          <p:nvPr/>
        </p:nvSpPr>
        <p:spPr>
          <a:xfrm>
            <a:off x="5943600" y="4700016"/>
            <a:ext cx="5330952" cy="274320"/>
          </a:xfrm>
          <a:prstGeom prst="rect">
            <a:avLst/>
          </a:prstGeom>
          <a:noFill/>
          <a:ln/>
        </p:spPr>
        <p:txBody>
          <a:bodyPr wrap="square" lIns="0" tIns="0" rIns="0" bIns="0" rtlCol="0" anchor="ctr"/>
          <a:lstStyle/>
          <a:p>
            <a:pPr indent="0" marL="0">
              <a:buNone/>
            </a:pPr>
            <a:r>
              <a:rPr lang="en-US" sz="1150" dirty="0">
                <a:solidFill>
                  <a:srgbClr val="B4472E"/>
                </a:solidFill>
                <a:latin typeface="Calibri" pitchFamily="34" charset="0"/>
                <a:ea typeface="Calibri" pitchFamily="34" charset="-122"/>
                <a:cs typeface="Calibri" pitchFamily="34" charset="-120"/>
              </a:rPr>
              <a:t>The raw log never leaves the machine</a:t>
            </a:r>
            <a:endParaRPr lang="en-US" sz="1150" dirty="0"/>
          </a:p>
        </p:txBody>
      </p:sp>
      <p:sp>
        <p:nvSpPr>
          <p:cNvPr id="20" name="Text 18"/>
          <p:cNvSpPr txBox="1"/>
          <p:nvPr/>
        </p:nvSpPr>
        <p:spPr>
          <a:xfrm>
            <a:off x="914400" y="5193792"/>
            <a:ext cx="4480560" cy="457200"/>
          </a:xfrm>
          <a:prstGeom prst="rect">
            <a:avLst/>
          </a:prstGeom>
          <a:noFill/>
          <a:ln/>
        </p:spPr>
        <p:txBody>
          <a:bodyPr wrap="square" lIns="0" tIns="0" rIns="0" bIns="0" rtlCol="0" anchor="t"/>
          <a:lstStyle/>
          <a:p>
            <a:pPr indent="0" marL="0">
              <a:buNone/>
            </a:pPr>
            <a:r>
              <a:rPr lang="en-US" sz="1300" dirty="0">
                <a:solidFill>
                  <a:srgbClr val="9DA3AA"/>
                </a:solidFill>
                <a:latin typeface="Calibri" pitchFamily="34" charset="0"/>
                <a:ea typeface="Calibri" pitchFamily="34" charset="-122"/>
                <a:cs typeface="Calibri" pitchFamily="34" charset="-120"/>
              </a:rPr>
              <a:t>Breaks when the API is down</a:t>
            </a:r>
            <a:endParaRPr lang="en-US" sz="1300" dirty="0"/>
          </a:p>
        </p:txBody>
      </p:sp>
      <p:sp>
        <p:nvSpPr>
          <p:cNvPr id="21" name="Text 19"/>
          <p:cNvSpPr txBox="1"/>
          <p:nvPr/>
        </p:nvSpPr>
        <p:spPr>
          <a:xfrm>
            <a:off x="5943600" y="5157216"/>
            <a:ext cx="5330952" cy="310896"/>
          </a:xfrm>
          <a:prstGeom prst="rect">
            <a:avLst/>
          </a:prstGeom>
          <a:noFill/>
          <a:ln/>
        </p:spPr>
        <p:txBody>
          <a:bodyPr wrap="square" lIns="0" tIns="0" rIns="0" bIns="0" rtlCol="0" anchor="ctr"/>
          <a:lstStyle/>
          <a:p>
            <a:pPr indent="0" marL="0">
              <a:buNone/>
            </a:pPr>
            <a:r>
              <a:rPr lang="en-US" sz="1350" b="1" dirty="0">
                <a:solidFill>
                  <a:srgbClr val="14171B"/>
                </a:solidFill>
                <a:latin typeface="Calibri" pitchFamily="34" charset="0"/>
                <a:ea typeface="Calibri" pitchFamily="34" charset="-122"/>
                <a:cs typeface="Calibri" pitchFamily="34" charset="-120"/>
              </a:rPr>
              <a:t>Runs with the AI switched off entirely</a:t>
            </a:r>
            <a:endParaRPr lang="en-US" sz="1350" dirty="0"/>
          </a:p>
        </p:txBody>
      </p:sp>
      <p:sp>
        <p:nvSpPr>
          <p:cNvPr id="22" name="Text 20"/>
          <p:cNvSpPr txBox="1"/>
          <p:nvPr/>
        </p:nvSpPr>
        <p:spPr>
          <a:xfrm>
            <a:off x="5943600" y="5468112"/>
            <a:ext cx="5330952" cy="274320"/>
          </a:xfrm>
          <a:prstGeom prst="rect">
            <a:avLst/>
          </a:prstGeom>
          <a:noFill/>
          <a:ln/>
        </p:spPr>
        <p:txBody>
          <a:bodyPr wrap="square" lIns="0" tIns="0" rIns="0" bIns="0" rtlCol="0" anchor="ctr"/>
          <a:lstStyle/>
          <a:p>
            <a:pPr indent="0" marL="0">
              <a:buNone/>
            </a:pPr>
            <a:r>
              <a:rPr lang="en-US" sz="1150" dirty="0">
                <a:solidFill>
                  <a:srgbClr val="B4472E"/>
                </a:solidFill>
                <a:latin typeface="Calibri" pitchFamily="34" charset="0"/>
                <a:ea typeface="Calibri" pitchFamily="34" charset="-122"/>
                <a:cs typeface="Calibri" pitchFamily="34" charset="-120"/>
              </a:rPr>
              <a:t>264 tests pass with no key and no network</a:t>
            </a:r>
            <a:endParaRPr lang="en-US" sz="1150" dirty="0"/>
          </a:p>
        </p:txBody>
      </p:sp>
      <p:sp>
        <p:nvSpPr>
          <p:cNvPr id="23" name="Shape 21"/>
          <p:cNvSpPr/>
          <p:nvPr/>
        </p:nvSpPr>
        <p:spPr>
          <a:xfrm>
            <a:off x="914400" y="6035040"/>
            <a:ext cx="10362895" cy="9144"/>
          </a:xfrm>
          <a:prstGeom prst="rect">
            <a:avLst/>
          </a:prstGeom>
          <a:solidFill>
            <a:srgbClr val="E2E4E7"/>
          </a:solidFill>
          <a:ln w="12700">
            <a:solidFill>
              <a:srgbClr val="333333"/>
            </a:solidFill>
            <a:prstDash val="solid"/>
          </a:ln>
        </p:spPr>
      </p:sp>
      <p:sp>
        <p:nvSpPr>
          <p:cNvPr id="24" name="Text 22"/>
          <p:cNvSpPr txBox="1"/>
          <p:nvPr/>
        </p:nvSpPr>
        <p:spPr>
          <a:xfrm>
            <a:off x="914400" y="6217920"/>
            <a:ext cx="10058400" cy="365760"/>
          </a:xfrm>
          <a:prstGeom prst="rect">
            <a:avLst/>
          </a:prstGeom>
          <a:noFill/>
          <a:ln/>
        </p:spPr>
        <p:txBody>
          <a:bodyPr wrap="square" lIns="0" tIns="0" rIns="0" bIns="0" rtlCol="0" anchor="ctr"/>
          <a:lstStyle/>
          <a:p>
            <a:pPr indent="0" marL="0">
              <a:buNone/>
            </a:pPr>
            <a:r>
              <a:rPr lang="en-US" sz="1450" i="1" dirty="0">
                <a:solidFill>
                  <a:srgbClr val="14171B"/>
                </a:solidFill>
                <a:latin typeface="Cambria" pitchFamily="34" charset="0"/>
                <a:ea typeface="Cambria" pitchFamily="34" charset="-122"/>
                <a:cs typeface="Cambria" pitchFamily="34" charset="-120"/>
              </a:rPr>
              <a:t>The reliability is structural, not a prompt we tuned. That is what makes it deployable in a bank.</a:t>
            </a:r>
            <a:endParaRPr lang="en-US" sz="1450" dirty="0"/>
          </a:p>
        </p:txBody>
      </p:sp>
      <p:sp>
        <p:nvSpPr>
          <p:cNvPr id="25" name="Slide Number Placeholder 0"/>
          <p:cNvSpPr>
            <a:spLocks noGrp="1"/>
          </p:cNvSpPr>
          <p:nvPr>
            <p:ph type="sldNum" sz="quarter" idx="4294967295"/>
          </p:nvPr>
        </p:nvSpPr>
        <p:spPr>
          <a:xfrm>
            <a:off x="10957255" y="6327648"/>
            <a:ext cx="320040" cy="237744"/>
          </a:xfrm>
          <a:prstGeom prst="rect">
            <a:avLst/>
          </a:prstGeom>
          <a:extLst>
            <a:ext uri="{C572A759-6A51-4108-AA02-DFA0A04FC94B}">
              <ma14:wrappingTextBoxFlag xmlns:ma14="http://schemas.microsoft.com/office/mac/drawingml/2011/main" val="0"/>
            </a:ext>
          </a:extLst>
        </p:spPr>
        <p:txBody>
          <a:bodyPr/>
          <a:lstStyle>
            <a:lvl1pPr>
              <a:defRPr sz="950">
                <a:solidFill>
                  <a:srgbClr val="C7CAC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914400" y="786384"/>
            <a:ext cx="10362895" cy="256032"/>
          </a:xfrm>
          <a:prstGeom prst="rect">
            <a:avLst/>
          </a:prstGeom>
          <a:noFill/>
          <a:ln/>
        </p:spPr>
        <p:txBody>
          <a:bodyPr wrap="square" lIns="0" tIns="0" rIns="0" bIns="0" rtlCol="0" anchor="ctr"/>
          <a:lstStyle/>
          <a:p>
            <a:pPr indent="0" marL="0">
              <a:buNone/>
            </a:pPr>
            <a:r>
              <a:rPr lang="en-US" sz="1050" b="1" spc="280" kern="0" dirty="0">
                <a:solidFill>
                  <a:srgbClr val="B4472E"/>
                </a:solidFill>
                <a:latin typeface="Calibri" pitchFamily="34" charset="0"/>
                <a:ea typeface="Calibri" pitchFamily="34" charset="-122"/>
                <a:cs typeface="Calibri" pitchFamily="34" charset="-120"/>
              </a:rPr>
              <a:t>WHAT IS ACTUALLY BUILT</a:t>
            </a:r>
            <a:endParaRPr lang="en-US" sz="1050" dirty="0"/>
          </a:p>
        </p:txBody>
      </p:sp>
      <p:sp>
        <p:nvSpPr>
          <p:cNvPr id="3" name="Text 1"/>
          <p:cNvSpPr txBox="1"/>
          <p:nvPr/>
        </p:nvSpPr>
        <p:spPr>
          <a:xfrm>
            <a:off x="914400" y="1170432"/>
            <a:ext cx="9692640" cy="621792"/>
          </a:xfrm>
          <a:prstGeom prst="rect">
            <a:avLst/>
          </a:prstGeom>
          <a:noFill/>
          <a:ln/>
        </p:spPr>
        <p:txBody>
          <a:bodyPr wrap="square" lIns="0" tIns="0" rIns="0" bIns="0" rtlCol="0" anchor="ctr"/>
          <a:lstStyle/>
          <a:p>
            <a:pPr indent="0" marL="0">
              <a:buNone/>
            </a:pPr>
            <a:r>
              <a:rPr lang="en-US" sz="3400" dirty="0">
                <a:solidFill>
                  <a:srgbClr val="FFFFFF"/>
                </a:solidFill>
                <a:latin typeface="Cambria" pitchFamily="34" charset="0"/>
                <a:ea typeface="Cambria" pitchFamily="34" charset="-122"/>
                <a:cs typeface="Cambria" pitchFamily="34" charset="-120"/>
              </a:rPr>
              <a:t>Working today, not a prototype</a:t>
            </a:r>
            <a:endParaRPr lang="en-US" sz="3400" dirty="0"/>
          </a:p>
        </p:txBody>
      </p:sp>
      <p:sp>
        <p:nvSpPr>
          <p:cNvPr id="4" name="Text 2"/>
          <p:cNvSpPr txBox="1"/>
          <p:nvPr/>
        </p:nvSpPr>
        <p:spPr>
          <a:xfrm>
            <a:off x="914400" y="2249424"/>
            <a:ext cx="2377440" cy="786384"/>
          </a:xfrm>
          <a:prstGeom prst="rect">
            <a:avLst/>
          </a:prstGeom>
          <a:noFill/>
          <a:ln/>
        </p:spPr>
        <p:txBody>
          <a:bodyPr wrap="square" lIns="0" tIns="0" rIns="0" bIns="0" rtlCol="0" anchor="ctr"/>
          <a:lstStyle/>
          <a:p>
            <a:pPr indent="0" marL="0">
              <a:buNone/>
            </a:pPr>
            <a:r>
              <a:rPr lang="en-US" sz="4800" dirty="0">
                <a:solidFill>
                  <a:srgbClr val="FFFFFF"/>
                </a:solidFill>
                <a:latin typeface="Courier New" pitchFamily="34" charset="0"/>
                <a:ea typeface="Courier New" pitchFamily="34" charset="-122"/>
                <a:cs typeface="Courier New" pitchFamily="34" charset="-120"/>
              </a:rPr>
              <a:t>264</a:t>
            </a:r>
            <a:endParaRPr lang="en-US" sz="4800" dirty="0"/>
          </a:p>
        </p:txBody>
      </p:sp>
      <p:sp>
        <p:nvSpPr>
          <p:cNvPr id="5" name="Text 3"/>
          <p:cNvSpPr txBox="1"/>
          <p:nvPr/>
        </p:nvSpPr>
        <p:spPr>
          <a:xfrm>
            <a:off x="914400" y="3054096"/>
            <a:ext cx="2377440" cy="256032"/>
          </a:xfrm>
          <a:prstGeom prst="rect">
            <a:avLst/>
          </a:prstGeom>
          <a:noFill/>
          <a:ln/>
        </p:spPr>
        <p:txBody>
          <a:bodyPr wrap="square" lIns="0" tIns="0" rIns="0" bIns="0" rtlCol="0" anchor="ctr"/>
          <a:lstStyle/>
          <a:p>
            <a:pPr indent="0" marL="0">
              <a:buNone/>
            </a:pPr>
            <a:r>
              <a:rPr lang="en-US" sz="1300" b="1" dirty="0">
                <a:solidFill>
                  <a:srgbClr val="C7CACE"/>
                </a:solidFill>
                <a:latin typeface="Calibri" pitchFamily="34" charset="0"/>
                <a:ea typeface="Calibri" pitchFamily="34" charset="-122"/>
                <a:cs typeface="Calibri" pitchFamily="34" charset="-120"/>
              </a:rPr>
              <a:t>tests passing</a:t>
            </a:r>
            <a:endParaRPr lang="en-US" sz="1300" dirty="0"/>
          </a:p>
        </p:txBody>
      </p:sp>
      <p:sp>
        <p:nvSpPr>
          <p:cNvPr id="6" name="Text 4"/>
          <p:cNvSpPr txBox="1"/>
          <p:nvPr/>
        </p:nvSpPr>
        <p:spPr>
          <a:xfrm>
            <a:off x="914400" y="3328416"/>
            <a:ext cx="2377440" cy="512064"/>
          </a:xfrm>
          <a:prstGeom prst="rect">
            <a:avLst/>
          </a:prstGeom>
          <a:noFill/>
          <a:ln/>
        </p:spPr>
        <p:txBody>
          <a:bodyPr wrap="square" lIns="0" tIns="0" rIns="0" bIns="0" rtlCol="0" anchor="ctr"/>
          <a:lstStyle/>
          <a:p>
            <a:pPr indent="0" marL="0">
              <a:buNone/>
            </a:pPr>
            <a:r>
              <a:rPr lang="en-US" sz="1100" dirty="0">
                <a:solidFill>
                  <a:srgbClr val="787F87"/>
                </a:solidFill>
                <a:latin typeface="Calibri" pitchFamily="34" charset="0"/>
                <a:ea typeface="Calibri" pitchFamily="34" charset="-122"/>
                <a:cs typeface="Calibri" pitchFamily="34" charset="-120"/>
              </a:rPr>
              <a:t>Offline. No API key needed.</a:t>
            </a:r>
            <a:endParaRPr lang="en-US" sz="1100" dirty="0"/>
          </a:p>
        </p:txBody>
      </p:sp>
      <p:sp>
        <p:nvSpPr>
          <p:cNvPr id="7" name="Text 5"/>
          <p:cNvSpPr txBox="1"/>
          <p:nvPr/>
        </p:nvSpPr>
        <p:spPr>
          <a:xfrm>
            <a:off x="3538728" y="2249424"/>
            <a:ext cx="2377440" cy="786384"/>
          </a:xfrm>
          <a:prstGeom prst="rect">
            <a:avLst/>
          </a:prstGeom>
          <a:noFill/>
          <a:ln/>
        </p:spPr>
        <p:txBody>
          <a:bodyPr wrap="square" lIns="0" tIns="0" rIns="0" bIns="0" rtlCol="0" anchor="ctr"/>
          <a:lstStyle/>
          <a:p>
            <a:pPr indent="0" marL="0">
              <a:buNone/>
            </a:pPr>
            <a:r>
              <a:rPr lang="en-US" sz="4800" dirty="0">
                <a:solidFill>
                  <a:srgbClr val="FFFFFF"/>
                </a:solidFill>
                <a:latin typeface="Courier New" pitchFamily="34" charset="0"/>
                <a:ea typeface="Courier New" pitchFamily="34" charset="-122"/>
                <a:cs typeface="Courier New" pitchFamily="34" charset="-120"/>
              </a:rPr>
              <a:t>8</a:t>
            </a:r>
            <a:endParaRPr lang="en-US" sz="4800" dirty="0"/>
          </a:p>
        </p:txBody>
      </p:sp>
      <p:sp>
        <p:nvSpPr>
          <p:cNvPr id="8" name="Text 6"/>
          <p:cNvSpPr txBox="1"/>
          <p:nvPr/>
        </p:nvSpPr>
        <p:spPr>
          <a:xfrm>
            <a:off x="3538728" y="3054096"/>
            <a:ext cx="2377440" cy="256032"/>
          </a:xfrm>
          <a:prstGeom prst="rect">
            <a:avLst/>
          </a:prstGeom>
          <a:noFill/>
          <a:ln/>
        </p:spPr>
        <p:txBody>
          <a:bodyPr wrap="square" lIns="0" tIns="0" rIns="0" bIns="0" rtlCol="0" anchor="ctr"/>
          <a:lstStyle/>
          <a:p>
            <a:pPr indent="0" marL="0">
              <a:buNone/>
            </a:pPr>
            <a:r>
              <a:rPr lang="en-US" sz="1300" b="1" dirty="0">
                <a:solidFill>
                  <a:srgbClr val="C7CACE"/>
                </a:solidFill>
                <a:latin typeface="Calibri" pitchFamily="34" charset="0"/>
                <a:ea typeface="Calibri" pitchFamily="34" charset="-122"/>
                <a:cs typeface="Calibri" pitchFamily="34" charset="-120"/>
              </a:rPr>
              <a:t>failure classes</a:t>
            </a:r>
            <a:endParaRPr lang="en-US" sz="1300" dirty="0"/>
          </a:p>
        </p:txBody>
      </p:sp>
      <p:sp>
        <p:nvSpPr>
          <p:cNvPr id="9" name="Text 7"/>
          <p:cNvSpPr txBox="1"/>
          <p:nvPr/>
        </p:nvSpPr>
        <p:spPr>
          <a:xfrm>
            <a:off x="3538728" y="3328416"/>
            <a:ext cx="2377440" cy="512064"/>
          </a:xfrm>
          <a:prstGeom prst="rect">
            <a:avLst/>
          </a:prstGeom>
          <a:noFill/>
          <a:ln/>
        </p:spPr>
        <p:txBody>
          <a:bodyPr wrap="square" lIns="0" tIns="0" rIns="0" bIns="0" rtlCol="0" anchor="ctr"/>
          <a:lstStyle/>
          <a:p>
            <a:pPr indent="0" marL="0">
              <a:buNone/>
            </a:pPr>
            <a:r>
              <a:rPr lang="en-US" sz="1100" dirty="0">
                <a:solidFill>
                  <a:srgbClr val="787F87"/>
                </a:solidFill>
                <a:latin typeface="Calibri" pitchFamily="34" charset="0"/>
                <a:ea typeface="Calibri" pitchFamily="34" charset="-122"/>
                <a:cs typeface="Calibri" pitchFamily="34" charset="-120"/>
              </a:rPr>
              <a:t>Each one a rule in a JSON file.</a:t>
            </a:r>
            <a:endParaRPr lang="en-US" sz="1100" dirty="0"/>
          </a:p>
        </p:txBody>
      </p:sp>
      <p:sp>
        <p:nvSpPr>
          <p:cNvPr id="10" name="Text 8"/>
          <p:cNvSpPr txBox="1"/>
          <p:nvPr/>
        </p:nvSpPr>
        <p:spPr>
          <a:xfrm>
            <a:off x="6163056" y="2249424"/>
            <a:ext cx="2377440" cy="786384"/>
          </a:xfrm>
          <a:prstGeom prst="rect">
            <a:avLst/>
          </a:prstGeom>
          <a:noFill/>
          <a:ln/>
        </p:spPr>
        <p:txBody>
          <a:bodyPr wrap="square" lIns="0" tIns="0" rIns="0" bIns="0" rtlCol="0" anchor="ctr"/>
          <a:lstStyle/>
          <a:p>
            <a:pPr indent="0" marL="0">
              <a:buNone/>
            </a:pPr>
            <a:r>
              <a:rPr lang="en-US" sz="4800" dirty="0">
                <a:solidFill>
                  <a:srgbClr val="FFFFFF"/>
                </a:solidFill>
                <a:latin typeface="Courier New" pitchFamily="34" charset="0"/>
                <a:ea typeface="Courier New" pitchFamily="34" charset="-122"/>
                <a:cs typeface="Courier New" pitchFamily="34" charset="-120"/>
              </a:rPr>
              <a:t>4</a:t>
            </a:r>
            <a:endParaRPr lang="en-US" sz="4800" dirty="0"/>
          </a:p>
        </p:txBody>
      </p:sp>
      <p:sp>
        <p:nvSpPr>
          <p:cNvPr id="11" name="Text 9"/>
          <p:cNvSpPr txBox="1"/>
          <p:nvPr/>
        </p:nvSpPr>
        <p:spPr>
          <a:xfrm>
            <a:off x="6163056" y="3054096"/>
            <a:ext cx="2377440" cy="256032"/>
          </a:xfrm>
          <a:prstGeom prst="rect">
            <a:avLst/>
          </a:prstGeom>
          <a:noFill/>
          <a:ln/>
        </p:spPr>
        <p:txBody>
          <a:bodyPr wrap="square" lIns="0" tIns="0" rIns="0" bIns="0" rtlCol="0" anchor="ctr"/>
          <a:lstStyle/>
          <a:p>
            <a:pPr indent="0" marL="0">
              <a:buNone/>
            </a:pPr>
            <a:r>
              <a:rPr lang="en-US" sz="1300" b="1" dirty="0">
                <a:solidFill>
                  <a:srgbClr val="C7CACE"/>
                </a:solidFill>
                <a:latin typeface="Calibri" pitchFamily="34" charset="0"/>
                <a:ea typeface="Calibri" pitchFamily="34" charset="-122"/>
                <a:cs typeface="Calibri" pitchFamily="34" charset="-120"/>
              </a:rPr>
              <a:t>config files</a:t>
            </a:r>
            <a:endParaRPr lang="en-US" sz="1300" dirty="0"/>
          </a:p>
        </p:txBody>
      </p:sp>
      <p:sp>
        <p:nvSpPr>
          <p:cNvPr id="12" name="Text 10"/>
          <p:cNvSpPr txBox="1"/>
          <p:nvPr/>
        </p:nvSpPr>
        <p:spPr>
          <a:xfrm>
            <a:off x="6163056" y="3328416"/>
            <a:ext cx="2377440" cy="512064"/>
          </a:xfrm>
          <a:prstGeom prst="rect">
            <a:avLst/>
          </a:prstGeom>
          <a:noFill/>
          <a:ln/>
        </p:spPr>
        <p:txBody>
          <a:bodyPr wrap="square" lIns="0" tIns="0" rIns="0" bIns="0" rtlCol="0" anchor="ctr"/>
          <a:lstStyle/>
          <a:p>
            <a:pPr indent="0" marL="0">
              <a:buNone/>
            </a:pPr>
            <a:r>
              <a:rPr lang="en-US" sz="1100" dirty="0">
                <a:solidFill>
                  <a:srgbClr val="787F87"/>
                </a:solidFill>
                <a:latin typeface="Calibri" pitchFamily="34" charset="0"/>
                <a:ea typeface="Calibri" pitchFamily="34" charset="-122"/>
                <a:cs typeface="Calibri" pitchFamily="34" charset="-120"/>
              </a:rPr>
              <a:t>Another team adapts it without writing code.</a:t>
            </a:r>
            <a:endParaRPr lang="en-US" sz="1100" dirty="0"/>
          </a:p>
        </p:txBody>
      </p:sp>
      <p:sp>
        <p:nvSpPr>
          <p:cNvPr id="13" name="Text 11"/>
          <p:cNvSpPr txBox="1"/>
          <p:nvPr/>
        </p:nvSpPr>
        <p:spPr>
          <a:xfrm>
            <a:off x="8787384" y="2249424"/>
            <a:ext cx="2377440" cy="786384"/>
          </a:xfrm>
          <a:prstGeom prst="rect">
            <a:avLst/>
          </a:prstGeom>
          <a:noFill/>
          <a:ln/>
        </p:spPr>
        <p:txBody>
          <a:bodyPr wrap="square" lIns="0" tIns="0" rIns="0" bIns="0" rtlCol="0" anchor="ctr"/>
          <a:lstStyle/>
          <a:p>
            <a:pPr indent="0" marL="0">
              <a:buNone/>
            </a:pPr>
            <a:r>
              <a:rPr lang="en-US" sz="4800" dirty="0">
                <a:solidFill>
                  <a:srgbClr val="FFFFFF"/>
                </a:solidFill>
                <a:latin typeface="Courier New" pitchFamily="34" charset="0"/>
                <a:ea typeface="Courier New" pitchFamily="34" charset="-122"/>
                <a:cs typeface="Courier New" pitchFamily="34" charset="-120"/>
              </a:rPr>
              <a:t>2 s</a:t>
            </a:r>
            <a:endParaRPr lang="en-US" sz="4800" dirty="0"/>
          </a:p>
        </p:txBody>
      </p:sp>
      <p:sp>
        <p:nvSpPr>
          <p:cNvPr id="14" name="Text 12"/>
          <p:cNvSpPr txBox="1"/>
          <p:nvPr/>
        </p:nvSpPr>
        <p:spPr>
          <a:xfrm>
            <a:off x="8787384" y="3054096"/>
            <a:ext cx="2377440" cy="256032"/>
          </a:xfrm>
          <a:prstGeom prst="rect">
            <a:avLst/>
          </a:prstGeom>
          <a:noFill/>
          <a:ln/>
        </p:spPr>
        <p:txBody>
          <a:bodyPr wrap="square" lIns="0" tIns="0" rIns="0" bIns="0" rtlCol="0" anchor="ctr"/>
          <a:lstStyle/>
          <a:p>
            <a:pPr indent="0" marL="0">
              <a:buNone/>
            </a:pPr>
            <a:r>
              <a:rPr lang="en-US" sz="1300" b="1" dirty="0">
                <a:solidFill>
                  <a:srgbClr val="C7CACE"/>
                </a:solidFill>
                <a:latin typeface="Calibri" pitchFamily="34" charset="0"/>
                <a:ea typeface="Calibri" pitchFamily="34" charset="-122"/>
                <a:cs typeface="Calibri" pitchFamily="34" charset="-120"/>
              </a:rPr>
              <a:t>to an answer</a:t>
            </a:r>
            <a:endParaRPr lang="en-US" sz="1300" dirty="0"/>
          </a:p>
        </p:txBody>
      </p:sp>
      <p:sp>
        <p:nvSpPr>
          <p:cNvPr id="15" name="Text 13"/>
          <p:cNvSpPr txBox="1"/>
          <p:nvPr/>
        </p:nvSpPr>
        <p:spPr>
          <a:xfrm>
            <a:off x="8787384" y="3328416"/>
            <a:ext cx="2377440" cy="512064"/>
          </a:xfrm>
          <a:prstGeom prst="rect">
            <a:avLst/>
          </a:prstGeom>
          <a:noFill/>
          <a:ln/>
        </p:spPr>
        <p:txBody>
          <a:bodyPr wrap="square" lIns="0" tIns="0" rIns="0" bIns="0" rtlCol="0" anchor="ctr"/>
          <a:lstStyle/>
          <a:p>
            <a:pPr indent="0" marL="0">
              <a:buNone/>
            </a:pPr>
            <a:r>
              <a:rPr lang="en-US" sz="1100" dirty="0">
                <a:solidFill>
                  <a:srgbClr val="787F87"/>
                </a:solidFill>
                <a:latin typeface="Calibri" pitchFamily="34" charset="0"/>
                <a:ea typeface="Calibri" pitchFamily="34" charset="-122"/>
                <a:cs typeface="Calibri" pitchFamily="34" charset="-120"/>
              </a:rPr>
              <a:t>Against days of manual checking.</a:t>
            </a:r>
            <a:endParaRPr lang="en-US" sz="1100" dirty="0"/>
          </a:p>
        </p:txBody>
      </p:sp>
      <p:sp>
        <p:nvSpPr>
          <p:cNvPr id="16" name="Shape 14"/>
          <p:cNvSpPr/>
          <p:nvPr/>
        </p:nvSpPr>
        <p:spPr>
          <a:xfrm>
            <a:off x="914400" y="4160520"/>
            <a:ext cx="10362895" cy="9144"/>
          </a:xfrm>
          <a:prstGeom prst="rect">
            <a:avLst/>
          </a:prstGeom>
          <a:solidFill>
            <a:srgbClr val="34393F"/>
          </a:solidFill>
          <a:ln w="12700">
            <a:solidFill>
              <a:srgbClr val="333333"/>
            </a:solidFill>
            <a:prstDash val="solid"/>
          </a:ln>
        </p:spPr>
      </p:sp>
      <p:sp>
        <p:nvSpPr>
          <p:cNvPr id="17" name="Text 15"/>
          <p:cNvSpPr txBox="1"/>
          <p:nvPr/>
        </p:nvSpPr>
        <p:spPr>
          <a:xfrm>
            <a:off x="914400" y="4389120"/>
            <a:ext cx="4937760" cy="219456"/>
          </a:xfrm>
          <a:prstGeom prst="rect">
            <a:avLst/>
          </a:prstGeom>
          <a:noFill/>
          <a:ln/>
        </p:spPr>
        <p:txBody>
          <a:bodyPr wrap="square" lIns="0" tIns="0" rIns="0" bIns="0" rtlCol="0" anchor="ctr"/>
          <a:lstStyle/>
          <a:p>
            <a:pPr indent="0" marL="0">
              <a:buNone/>
            </a:pPr>
            <a:r>
              <a:rPr lang="en-US" sz="950" b="1" spc="160" kern="0" dirty="0">
                <a:solidFill>
                  <a:srgbClr val="B4472E"/>
                </a:solidFill>
                <a:latin typeface="Calibri" pitchFamily="34" charset="0"/>
                <a:ea typeface="Calibri" pitchFamily="34" charset="-122"/>
                <a:cs typeface="Calibri" pitchFamily="34" charset="-120"/>
              </a:rPr>
              <a:t>BEYOND THE FIX</a:t>
            </a:r>
            <a:endParaRPr lang="en-US" sz="950" dirty="0"/>
          </a:p>
        </p:txBody>
      </p:sp>
      <p:sp>
        <p:nvSpPr>
          <p:cNvPr id="18" name="Text 16"/>
          <p:cNvSpPr txBox="1"/>
          <p:nvPr/>
        </p:nvSpPr>
        <p:spPr>
          <a:xfrm>
            <a:off x="914400" y="4645152"/>
            <a:ext cx="4937760" cy="786384"/>
          </a:xfrm>
          <a:prstGeom prst="rect">
            <a:avLst/>
          </a:prstGeom>
          <a:noFill/>
          <a:ln/>
        </p:spPr>
        <p:txBody>
          <a:bodyPr wrap="square" lIns="0" tIns="0" rIns="0" bIns="0" rtlCol="0" anchor="ctr"/>
          <a:lstStyle/>
          <a:p>
            <a:pPr indent="0" marL="0">
              <a:buNone/>
            </a:pPr>
            <a:r>
              <a:rPr lang="en-US" sz="1250" dirty="0">
                <a:solidFill>
                  <a:srgbClr val="A8AEB5"/>
                </a:solidFill>
                <a:latin typeface="Calibri" pitchFamily="34" charset="0"/>
                <a:ea typeface="Calibri" pitchFamily="34" charset="-122"/>
                <a:cs typeface="Calibri" pitchFamily="34" charset="-120"/>
              </a:rPr>
              <a:t>It also says how to stop the failure recurring, and scores our own logging — we score 5 of 10, and the gaps explain why this took days to find.</a:t>
            </a:r>
            <a:endParaRPr lang="en-US" sz="1250" dirty="0"/>
          </a:p>
        </p:txBody>
      </p:sp>
      <p:sp>
        <p:nvSpPr>
          <p:cNvPr id="19" name="Text 17"/>
          <p:cNvSpPr txBox="1"/>
          <p:nvPr/>
        </p:nvSpPr>
        <p:spPr>
          <a:xfrm>
            <a:off x="6309360" y="4389120"/>
            <a:ext cx="4965192" cy="219456"/>
          </a:xfrm>
          <a:prstGeom prst="rect">
            <a:avLst/>
          </a:prstGeom>
          <a:noFill/>
          <a:ln/>
        </p:spPr>
        <p:txBody>
          <a:bodyPr wrap="square" lIns="0" tIns="0" rIns="0" bIns="0" rtlCol="0" anchor="ctr"/>
          <a:lstStyle/>
          <a:p>
            <a:pPr indent="0" marL="0">
              <a:buNone/>
            </a:pPr>
            <a:r>
              <a:rPr lang="en-US" sz="950" b="1" spc="160" kern="0" dirty="0">
                <a:solidFill>
                  <a:srgbClr val="B4472E"/>
                </a:solidFill>
                <a:latin typeface="Calibri" pitchFamily="34" charset="0"/>
                <a:ea typeface="Calibri" pitchFamily="34" charset="-122"/>
                <a:cs typeface="Calibri" pitchFamily="34" charset="-120"/>
              </a:rPr>
              <a:t>NEXT</a:t>
            </a:r>
            <a:endParaRPr lang="en-US" sz="950" dirty="0"/>
          </a:p>
        </p:txBody>
      </p:sp>
      <p:sp>
        <p:nvSpPr>
          <p:cNvPr id="20" name="Text 18"/>
          <p:cNvSpPr txBox="1"/>
          <p:nvPr/>
        </p:nvSpPr>
        <p:spPr>
          <a:xfrm>
            <a:off x="6309360" y="4645152"/>
            <a:ext cx="4965192" cy="786384"/>
          </a:xfrm>
          <a:prstGeom prst="rect">
            <a:avLst/>
          </a:prstGeom>
          <a:noFill/>
          <a:ln/>
        </p:spPr>
        <p:txBody>
          <a:bodyPr wrap="square" lIns="0" tIns="0" rIns="0" bIns="0" rtlCol="0" anchor="ctr"/>
          <a:lstStyle/>
          <a:p>
            <a:pPr indent="0" marL="0">
              <a:buNone/>
            </a:pPr>
            <a:r>
              <a:rPr lang="en-US" sz="1250" dirty="0">
                <a:solidFill>
                  <a:srgbClr val="A8AEB5"/>
                </a:solidFill>
                <a:latin typeface="Calibri" pitchFamily="34" charset="0"/>
                <a:ea typeface="Calibri" pitchFamily="34" charset="-122"/>
                <a:cs typeface="Calibri" pitchFamily="34" charset="-120"/>
              </a:rPr>
              <a:t>Swap Gemini for the bank's approved Azure OpenAI endpoint — one file changes. Port the engine to .NET to sit beside the worker it watches.</a:t>
            </a:r>
            <a:endParaRPr lang="en-US" sz="1250" dirty="0"/>
          </a:p>
        </p:txBody>
      </p:sp>
      <p:sp>
        <p:nvSpPr>
          <p:cNvPr id="21" name="Text 19"/>
          <p:cNvSpPr txBox="1"/>
          <p:nvPr/>
        </p:nvSpPr>
        <p:spPr>
          <a:xfrm>
            <a:off x="914400" y="5797296"/>
            <a:ext cx="7315200" cy="384048"/>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Code decides what happened. The model only explains it.</a:t>
            </a:r>
            <a:endParaRPr lang="en-US" sz="2000" dirty="0"/>
          </a:p>
        </p:txBody>
      </p:sp>
      <p:sp>
        <p:nvSpPr>
          <p:cNvPr id="22" name="Text 20"/>
          <p:cNvSpPr txBox="1"/>
          <p:nvPr/>
        </p:nvSpPr>
        <p:spPr>
          <a:xfrm>
            <a:off x="8534095" y="5888736"/>
            <a:ext cx="2743200" cy="256032"/>
          </a:xfrm>
          <a:prstGeom prst="rect">
            <a:avLst/>
          </a:prstGeom>
          <a:noFill/>
          <a:ln/>
        </p:spPr>
        <p:txBody>
          <a:bodyPr wrap="square" lIns="0" tIns="0" rIns="0" bIns="0" rtlCol="0" anchor="ctr"/>
          <a:lstStyle/>
          <a:p>
            <a:pPr algn="r" indent="0" marL="0">
              <a:buNone/>
            </a:pPr>
            <a:r>
              <a:rPr lang="en-US" sz="1150" b="1" spc="260" kern="0" dirty="0">
                <a:solidFill>
                  <a:srgbClr val="B4472E"/>
                </a:solidFill>
                <a:latin typeface="Calibri" pitchFamily="34" charset="0"/>
                <a:ea typeface="Calibri" pitchFamily="34" charset="-122"/>
                <a:cs typeface="Calibri" pitchFamily="34" charset="-120"/>
              </a:rPr>
              <a:t>TEAM POTENTIAL</a:t>
            </a:r>
            <a:endParaRPr lang="en-US" sz="1150" dirty="0"/>
          </a:p>
        </p:txBody>
      </p:sp>
    </p:spTree>
  </p:cSld>
  <p:clrMapOvr>
    <a:masterClrMapping/>
  </p:clrMapOvr>
</p:sld>
</file>

<file path=ppt/theme/theme1.xml><?xml version="1.0" encoding="utf-8"?>
<a:theme xmlns:a="http://schemas.openxmlformats.org/drawingml/2006/main" name="Potential">
  <a:themeElements>
    <a:clrScheme name="Potential">
      <a:dk1>
        <a:srgbClr val="14171B"/>
      </a:dk1>
      <a:lt1>
        <a:srgbClr val="FFFFFF"/>
      </a:lt1>
      <a:dk2>
        <a:srgbClr val="70777F"/>
      </a:dk2>
      <a:lt2>
        <a:srgbClr val="F5F5F3"/>
      </a:lt2>
      <a:accent1>
        <a:srgbClr val="B4472E"/>
      </a:accent1>
      <a:accent2>
        <a:srgbClr val="2E6A4F"/>
      </a:accent2>
      <a:accent3>
        <a:srgbClr val="14171B"/>
      </a:accent3>
      <a:accent4>
        <a:srgbClr val="70777F"/>
      </a:accent4>
      <a:accent5>
        <a:srgbClr val="D7D9DD"/>
      </a:accent5>
      <a:accent6>
        <a:srgbClr val="F5F5F3"/>
      </a:accent6>
      <a:hlink>
        <a:srgbClr val="B4472E"/>
      </a:hlink>
      <a:folHlink>
        <a:srgbClr val="70777F"/>
      </a:folHlink>
    </a:clrScheme>
    <a:fontScheme name="Potent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Team Potential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Investigation Assistant</dc:title>
  <dc:subject>PptxGenJS Presentation</dc:subject>
  <dc:creator>Team Potential</dc:creator>
  <cp:lastModifiedBy>Team Potential</cp:lastModifiedBy>
  <cp:revision>1</cp:revision>
  <dcterms:created xsi:type="dcterms:W3CDTF">2026-10-13T18:48:07Z</dcterms:created>
  <dcterms:modified xsi:type="dcterms:W3CDTF">2026-10-13T18:48:07Z</dcterms:modified>
</cp:coreProperties>
</file>